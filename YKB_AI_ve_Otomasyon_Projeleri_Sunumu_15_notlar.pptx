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88" r:id="rId3"/>
    <p:sldId id="259" r:id="rId4"/>
    <p:sldId id="260" r:id="rId5"/>
    <p:sldId id="287" r:id="rId6"/>
    <p:sldId id="279" r:id="rId7"/>
    <p:sldId id="271" r:id="rId8"/>
    <p:sldId id="272" r:id="rId9"/>
    <p:sldId id="289" r:id="rId10"/>
    <p:sldId id="264" r:id="rId11"/>
    <p:sldId id="265" r:id="rId12"/>
    <p:sldId id="283" r:id="rId13"/>
    <p:sldId id="266" r:id="rId14"/>
    <p:sldId id="281" r:id="rId15"/>
    <p:sldId id="268" r:id="rId16"/>
    <p:sldId id="273" r:id="rId17"/>
    <p:sldId id="290" r:id="rId18"/>
    <p:sldId id="269"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B29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1848"/>
    <p:restoredTop sz="27684" autoAdjust="0"/>
  </p:normalViewPr>
  <p:slideViewPr>
    <p:cSldViewPr snapToGrid="0" snapToObjects="1">
      <p:cViewPr varScale="1">
        <p:scale>
          <a:sx n="26" d="100"/>
          <a:sy n="26" d="100"/>
        </p:scale>
        <p:origin x="3336" y="29"/>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en Dalkürek" userId="ff7741e5a4e41436" providerId="LiveId" clId="{DC882A58-2C51-401B-8F46-5ED017EB24EA}"/>
    <pc:docChg chg="custSel delSld modSld">
      <pc:chgData name="Eren Dalkürek" userId="ff7741e5a4e41436" providerId="LiveId" clId="{DC882A58-2C51-401B-8F46-5ED017EB24EA}" dt="2026-10-18T21:19:59.486" v="766" actId="20577"/>
      <pc:docMkLst>
        <pc:docMk/>
      </pc:docMkLst>
      <pc:sldChg chg="modNotesTx">
        <pc:chgData name="Eren Dalkürek" userId="ff7741e5a4e41436" providerId="LiveId" clId="{DC882A58-2C51-401B-8F46-5ED017EB24EA}" dt="2026-10-18T13:56:57.956" v="437" actId="20577"/>
        <pc:sldMkLst>
          <pc:docMk/>
          <pc:sldMk cId="0" sldId="263"/>
        </pc:sldMkLst>
      </pc:sldChg>
      <pc:sldChg chg="modSp mod modNotesTx">
        <pc:chgData name="Eren Dalkürek" userId="ff7741e5a4e41436" providerId="LiveId" clId="{DC882A58-2C51-401B-8F46-5ED017EB24EA}" dt="2026-10-18T14:00:08.094" v="497" actId="20577"/>
        <pc:sldMkLst>
          <pc:docMk/>
          <pc:sldMk cId="0" sldId="264"/>
        </pc:sldMkLst>
        <pc:spChg chg="mod">
          <ac:chgData name="Eren Dalkürek" userId="ff7741e5a4e41436" providerId="LiveId" clId="{DC882A58-2C51-401B-8F46-5ED017EB24EA}" dt="2026-10-18T13:58:57.262" v="446" actId="20577"/>
          <ac:spMkLst>
            <pc:docMk/>
            <pc:sldMk cId="0" sldId="264"/>
            <ac:spMk id="3" creationId="{00000000-0000-0000-0000-000000000000}"/>
          </ac:spMkLst>
        </pc:spChg>
        <pc:spChg chg="mod">
          <ac:chgData name="Eren Dalkürek" userId="ff7741e5a4e41436" providerId="LiveId" clId="{DC882A58-2C51-401B-8F46-5ED017EB24EA}" dt="2026-10-18T13:59:16.508" v="462" actId="20577"/>
          <ac:spMkLst>
            <pc:docMk/>
            <pc:sldMk cId="0" sldId="264"/>
            <ac:spMk id="11" creationId="{00000000-0000-0000-0000-000000000000}"/>
          </ac:spMkLst>
        </pc:spChg>
      </pc:sldChg>
      <pc:sldChg chg="modNotesTx">
        <pc:chgData name="Eren Dalkürek" userId="ff7741e5a4e41436" providerId="LiveId" clId="{DC882A58-2C51-401B-8F46-5ED017EB24EA}" dt="2026-10-18T21:19:59.486" v="766" actId="20577"/>
        <pc:sldMkLst>
          <pc:docMk/>
          <pc:sldMk cId="0" sldId="266"/>
        </pc:sldMkLst>
      </pc:sldChg>
      <pc:sldChg chg="modNotesTx">
        <pc:chgData name="Eren Dalkürek" userId="ff7741e5a4e41436" providerId="LiveId" clId="{DC882A58-2C51-401B-8F46-5ED017EB24EA}" dt="2026-10-18T14:03:14.418" v="502" actId="20577"/>
        <pc:sldMkLst>
          <pc:docMk/>
          <pc:sldMk cId="0" sldId="269"/>
        </pc:sldMkLst>
      </pc:sldChg>
      <pc:sldChg chg="modNotesTx">
        <pc:chgData name="Eren Dalkürek" userId="ff7741e5a4e41436" providerId="LiveId" clId="{DC882A58-2C51-401B-8F46-5ED017EB24EA}" dt="2026-10-18T14:02:06.839" v="501" actId="20577"/>
        <pc:sldMkLst>
          <pc:docMk/>
          <pc:sldMk cId="0" sldId="270"/>
        </pc:sldMkLst>
      </pc:sldChg>
      <pc:sldChg chg="modNotesTx">
        <pc:chgData name="Eren Dalkürek" userId="ff7741e5a4e41436" providerId="LiveId" clId="{DC882A58-2C51-401B-8F46-5ED017EB24EA}" dt="2026-10-18T13:45:38.779" v="106" actId="20577"/>
        <pc:sldMkLst>
          <pc:docMk/>
          <pc:sldMk cId="0" sldId="271"/>
        </pc:sldMkLst>
      </pc:sldChg>
      <pc:sldChg chg="modNotesTx">
        <pc:chgData name="Eren Dalkürek" userId="ff7741e5a4e41436" providerId="LiveId" clId="{DC882A58-2C51-401B-8F46-5ED017EB24EA}" dt="2026-10-18T13:49:50.685" v="182" actId="20577"/>
        <pc:sldMkLst>
          <pc:docMk/>
          <pc:sldMk cId="0" sldId="272"/>
        </pc:sldMkLst>
      </pc:sldChg>
      <pc:sldChg chg="del">
        <pc:chgData name="Eren Dalkürek" userId="ff7741e5a4e41436" providerId="LiveId" clId="{DC882A58-2C51-401B-8F46-5ED017EB24EA}" dt="2026-10-18T14:04:02.994" v="503" actId="2696"/>
        <pc:sldMkLst>
          <pc:docMk/>
          <pc:sldMk cId="993472852" sldId="274"/>
        </pc:sldMkLst>
      </pc:sldChg>
      <pc:sldChg chg="modNotesTx">
        <pc:chgData name="Eren Dalkürek" userId="ff7741e5a4e41436" providerId="LiveId" clId="{DC882A58-2C51-401B-8F46-5ED017EB24EA}" dt="2026-10-18T13:39:20.277" v="0" actId="20577"/>
        <pc:sldMkLst>
          <pc:docMk/>
          <pc:sldMk cId="3849993589" sldId="278"/>
        </pc:sldMkLst>
      </pc:sldChg>
      <pc:sldChg chg="modNotesTx">
        <pc:chgData name="Eren Dalkürek" userId="ff7741e5a4e41436" providerId="LiveId" clId="{DC882A58-2C51-401B-8F46-5ED017EB24EA}" dt="2026-10-18T13:43:46.405" v="44" actId="20577"/>
        <pc:sldMkLst>
          <pc:docMk/>
          <pc:sldMk cId="1940540245" sldId="279"/>
        </pc:sldMkLst>
      </pc:sldChg>
      <pc:sldChg chg="modNotesTx">
        <pc:chgData name="Eren Dalkürek" userId="ff7741e5a4e41436" providerId="LiveId" clId="{DC882A58-2C51-401B-8F46-5ED017EB24EA}" dt="2026-10-18T13:56:11.826" v="428" actId="20577"/>
        <pc:sldMkLst>
          <pc:docMk/>
          <pc:sldMk cId="3412191652" sldId="280"/>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40169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err="1"/>
              <a:t>Herkese</a:t>
            </a:r>
            <a:r>
              <a:rPr sz="1200" dirty="0"/>
              <a:t> </a:t>
            </a:r>
            <a:r>
              <a:rPr sz="1200" dirty="0" err="1"/>
              <a:t>merhaba</a:t>
            </a:r>
            <a:r>
              <a:rPr sz="1200" dirty="0"/>
              <a:t>, ben </a:t>
            </a:r>
            <a:r>
              <a:rPr sz="1200" dirty="0" err="1"/>
              <a:t>Maaş</a:t>
            </a:r>
            <a:r>
              <a:rPr sz="1200" dirty="0"/>
              <a:t> </a:t>
            </a:r>
            <a:r>
              <a:rPr sz="1200" dirty="0" err="1"/>
              <a:t>ve</a:t>
            </a:r>
            <a:r>
              <a:rPr sz="1200" dirty="0"/>
              <a:t> </a:t>
            </a:r>
            <a:r>
              <a:rPr sz="1200" dirty="0" err="1"/>
              <a:t>Nakit</a:t>
            </a:r>
            <a:r>
              <a:rPr sz="1200" dirty="0"/>
              <a:t> </a:t>
            </a:r>
            <a:r>
              <a:rPr sz="1200" dirty="0" err="1"/>
              <a:t>Yönetimi</a:t>
            </a:r>
            <a:r>
              <a:rPr sz="1200" dirty="0"/>
              <a:t> </a:t>
            </a:r>
            <a:r>
              <a:rPr sz="1200" dirty="0" err="1"/>
              <a:t>ekibinden</a:t>
            </a:r>
            <a:r>
              <a:rPr sz="1200" dirty="0"/>
              <a:t> Eren Dalkürek.</a:t>
            </a:r>
            <a:endParaRPr lang="tr-TR" sz="1200" dirty="0"/>
          </a:p>
          <a:p>
            <a:pPr>
              <a:spcAft>
                <a:spcPts val="600"/>
              </a:spcAft>
            </a:pPr>
            <a:endParaRPr lang="tr-TR" sz="1200" dirty="0"/>
          </a:p>
          <a:p>
            <a:pPr>
              <a:spcAft>
                <a:spcPts val="600"/>
              </a:spcAft>
            </a:pPr>
            <a:r>
              <a:rPr sz="1200" dirty="0" err="1"/>
              <a:t>Bugün</a:t>
            </a:r>
            <a:r>
              <a:rPr sz="1200" dirty="0"/>
              <a:t> </a:t>
            </a:r>
            <a:r>
              <a:rPr sz="1200" dirty="0" err="1"/>
              <a:t>sizlere</a:t>
            </a:r>
            <a:r>
              <a:rPr sz="1200" dirty="0"/>
              <a:t> </a:t>
            </a:r>
            <a:r>
              <a:rPr sz="1200" dirty="0" err="1"/>
              <a:t>yaptığımız</a:t>
            </a:r>
            <a:r>
              <a:rPr sz="1200" dirty="0"/>
              <a:t> </a:t>
            </a:r>
            <a:r>
              <a:rPr sz="1200" dirty="0" err="1"/>
              <a:t>üç</a:t>
            </a:r>
            <a:r>
              <a:rPr sz="1200" dirty="0"/>
              <a:t> </a:t>
            </a:r>
            <a:r>
              <a:rPr sz="1200" dirty="0" err="1"/>
              <a:t>çalışmadan</a:t>
            </a:r>
            <a:r>
              <a:rPr sz="1200" dirty="0"/>
              <a:t> </a:t>
            </a:r>
            <a:r>
              <a:rPr sz="1200" dirty="0" err="1"/>
              <a:t>bahsedeceğim</a:t>
            </a:r>
            <a:endParaRPr sz="1200" dirty="0"/>
          </a:p>
        </p:txBody>
      </p:sp>
      <p:sp>
        <p:nvSpPr>
          <p:cNvPr id="4" name="Slide Number Placeholder 3"/>
          <p:cNvSpPr>
            <a:spLocks noGrp="1"/>
          </p:cNvSpPr>
          <p:nvPr>
            <p:ph type="sldNum" sz="quarter" idx="10"/>
          </p:nvPr>
        </p:nvSpPr>
        <p:spPr/>
        <p:txBody>
          <a:bodyPr/>
          <a:lstStyle/>
          <a:p>
            <a:fld id="{F7021451-1387-4CA6-816F-3879F97B5CBC}" type="slidenum">
              <a:rPr lang="tr-TR"/>
              <a:t>1</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err="1"/>
              <a:t>Çalışmalarımızdan</a:t>
            </a:r>
            <a:r>
              <a:rPr sz="1200" dirty="0"/>
              <a:t> </a:t>
            </a:r>
            <a:r>
              <a:rPr sz="1200" dirty="0" err="1"/>
              <a:t>ilki</a:t>
            </a:r>
            <a:r>
              <a:rPr sz="1200" dirty="0"/>
              <a:t> AI </a:t>
            </a:r>
            <a:r>
              <a:rPr sz="1200" dirty="0" err="1"/>
              <a:t>sohbet</a:t>
            </a:r>
            <a:r>
              <a:rPr sz="1200" dirty="0"/>
              <a:t> </a:t>
            </a:r>
            <a:r>
              <a:rPr sz="1200" dirty="0" err="1"/>
              <a:t>arayüzü</a:t>
            </a:r>
            <a:r>
              <a:rPr sz="1200" dirty="0"/>
              <a:t>.</a:t>
            </a:r>
            <a:br>
              <a:rPr lang="tr-TR" sz="1200" dirty="0"/>
            </a:br>
            <a:br>
              <a:rPr lang="tr-TR" sz="1200" dirty="0"/>
            </a:br>
            <a:r>
              <a:rPr sz="1200" dirty="0"/>
              <a:t>Bu </a:t>
            </a:r>
            <a:r>
              <a:rPr sz="1200" dirty="0" err="1"/>
              <a:t>projenin</a:t>
            </a:r>
            <a:r>
              <a:rPr sz="1200" dirty="0"/>
              <a:t> </a:t>
            </a:r>
            <a:r>
              <a:rPr sz="1200" dirty="0" err="1"/>
              <a:t>çıkış</a:t>
            </a:r>
            <a:r>
              <a:rPr sz="1200" dirty="0"/>
              <a:t> </a:t>
            </a:r>
            <a:r>
              <a:rPr sz="1200" dirty="0" err="1"/>
              <a:t>noktası</a:t>
            </a:r>
            <a:r>
              <a:rPr sz="1200" dirty="0"/>
              <a:t> </a:t>
            </a:r>
            <a:r>
              <a:rPr sz="1200" dirty="0" err="1"/>
              <a:t>şuydu</a:t>
            </a:r>
            <a:r>
              <a:rPr sz="1200" dirty="0"/>
              <a:t>: </a:t>
            </a:r>
            <a:endParaRPr lang="tr-TR" sz="1200" dirty="0"/>
          </a:p>
          <a:p>
            <a:pPr>
              <a:spcAft>
                <a:spcPts val="600"/>
              </a:spcAft>
            </a:pPr>
            <a:endParaRPr lang="tr-TR" sz="1200" dirty="0"/>
          </a:p>
          <a:p>
            <a:pPr>
              <a:spcAft>
                <a:spcPts val="600"/>
              </a:spcAft>
            </a:pPr>
            <a:r>
              <a:rPr lang="tr-TR" sz="1200" dirty="0"/>
              <a:t>Copilot şu anda yalnızca sınırlı bir kullanıcı grubuna açık ve bu grup için de kullanım limitimiz kısıtlı.</a:t>
            </a:r>
          </a:p>
          <a:p>
            <a:pPr>
              <a:spcAft>
                <a:spcPts val="600"/>
              </a:spcAft>
            </a:pPr>
            <a:endParaRPr lang="tr-TR" sz="1200" dirty="0"/>
          </a:p>
          <a:p>
            <a:pPr>
              <a:spcAft>
                <a:spcPts val="600"/>
              </a:spcAft>
            </a:pPr>
            <a:r>
              <a:rPr sz="1200" dirty="0" err="1"/>
              <a:t>Şirket</a:t>
            </a:r>
            <a:r>
              <a:rPr sz="1200" dirty="0"/>
              <a:t> </a:t>
            </a:r>
            <a:r>
              <a:rPr sz="1200" dirty="0" err="1"/>
              <a:t>içindeki</a:t>
            </a:r>
            <a:r>
              <a:rPr sz="1200" dirty="0"/>
              <a:t> </a:t>
            </a:r>
            <a:r>
              <a:rPr sz="1200" dirty="0" err="1"/>
              <a:t>yerel</a:t>
            </a:r>
            <a:r>
              <a:rPr sz="1200" dirty="0"/>
              <a:t> LLM </a:t>
            </a:r>
            <a:r>
              <a:rPr sz="1200" dirty="0" err="1"/>
              <a:t>modellerine</a:t>
            </a:r>
            <a:r>
              <a:rPr sz="1200" dirty="0"/>
              <a:t> </a:t>
            </a:r>
            <a:r>
              <a:rPr sz="1200" dirty="0" err="1"/>
              <a:t>nasıl</a:t>
            </a:r>
            <a:r>
              <a:rPr sz="1200" dirty="0"/>
              <a:t> </a:t>
            </a:r>
            <a:r>
              <a:rPr sz="1200" dirty="0" err="1"/>
              <a:t>erişileceği</a:t>
            </a:r>
            <a:r>
              <a:rPr sz="1200" dirty="0"/>
              <a:t> </a:t>
            </a:r>
            <a:r>
              <a:rPr sz="1200" dirty="0" err="1"/>
              <a:t>ve</a:t>
            </a:r>
            <a:r>
              <a:rPr sz="1200" dirty="0"/>
              <a:t> </a:t>
            </a:r>
            <a:r>
              <a:rPr sz="1200" dirty="0" err="1"/>
              <a:t>nasıl</a:t>
            </a:r>
            <a:r>
              <a:rPr sz="1200" dirty="0"/>
              <a:t> </a:t>
            </a:r>
            <a:r>
              <a:rPr sz="1200" dirty="0" err="1"/>
              <a:t>kullanılacağı</a:t>
            </a:r>
            <a:r>
              <a:rPr sz="1200" dirty="0"/>
              <a:t> </a:t>
            </a:r>
            <a:r>
              <a:rPr sz="1200" dirty="0" err="1"/>
              <a:t>direktörlük</a:t>
            </a:r>
            <a:r>
              <a:rPr sz="1200" dirty="0"/>
              <a:t> </a:t>
            </a:r>
            <a:r>
              <a:rPr sz="1200" dirty="0" err="1"/>
              <a:t>içinde</a:t>
            </a:r>
            <a:r>
              <a:rPr sz="1200" dirty="0"/>
              <a:t> </a:t>
            </a:r>
            <a:r>
              <a:rPr sz="1200" dirty="0" err="1"/>
              <a:t>pek</a:t>
            </a:r>
            <a:r>
              <a:rPr sz="1200" dirty="0"/>
              <a:t> </a:t>
            </a:r>
            <a:r>
              <a:rPr sz="1200" dirty="0" err="1"/>
              <a:t>bilinmiyordu</a:t>
            </a:r>
            <a:r>
              <a:rPr sz="1200" dirty="0"/>
              <a:t>.</a:t>
            </a:r>
            <a:endParaRPr lang="tr-TR" sz="1200" dirty="0"/>
          </a:p>
          <a:p>
            <a:pPr>
              <a:spcAft>
                <a:spcPts val="600"/>
              </a:spcAft>
            </a:pPr>
            <a:endParaRPr sz="1200" dirty="0"/>
          </a:p>
          <a:p>
            <a:pPr>
              <a:spcAft>
                <a:spcPts val="600"/>
              </a:spcAft>
            </a:pPr>
            <a:r>
              <a:rPr sz="1200" dirty="0" err="1"/>
              <a:t>Önce</a:t>
            </a:r>
            <a:r>
              <a:rPr sz="1200" dirty="0"/>
              <a:t> </a:t>
            </a:r>
            <a:r>
              <a:rPr sz="1200" dirty="0" err="1"/>
              <a:t>ekipleri</a:t>
            </a:r>
            <a:r>
              <a:rPr sz="1200" dirty="0"/>
              <a:t> model </a:t>
            </a:r>
            <a:r>
              <a:rPr sz="1200" dirty="0" err="1"/>
              <a:t>erişimi</a:t>
            </a:r>
            <a:r>
              <a:rPr sz="1200" dirty="0"/>
              <a:t> </a:t>
            </a:r>
            <a:r>
              <a:rPr sz="1200" dirty="0" err="1"/>
              <a:t>için</a:t>
            </a:r>
            <a:r>
              <a:rPr sz="1200" dirty="0"/>
              <a:t> </a:t>
            </a:r>
            <a:r>
              <a:rPr sz="1200" dirty="0" err="1"/>
              <a:t>doğru</a:t>
            </a:r>
            <a:r>
              <a:rPr sz="1200" dirty="0"/>
              <a:t> </a:t>
            </a:r>
            <a:r>
              <a:rPr sz="1200" dirty="0" err="1"/>
              <a:t>kanala</a:t>
            </a:r>
            <a:r>
              <a:rPr sz="1200" dirty="0"/>
              <a:t> </a:t>
            </a:r>
            <a:r>
              <a:rPr sz="1200" dirty="0" err="1"/>
              <a:t>yönlendirdik</a:t>
            </a:r>
            <a:r>
              <a:rPr sz="1200" dirty="0"/>
              <a:t> </a:t>
            </a:r>
            <a:r>
              <a:rPr sz="1200" dirty="0" err="1"/>
              <a:t>ve</a:t>
            </a:r>
            <a:r>
              <a:rPr sz="1200" dirty="0"/>
              <a:t> </a:t>
            </a:r>
            <a:r>
              <a:rPr sz="1200" dirty="0" err="1"/>
              <a:t>bilinirliği</a:t>
            </a:r>
            <a:r>
              <a:rPr sz="1200" dirty="0"/>
              <a:t> </a:t>
            </a:r>
            <a:r>
              <a:rPr sz="1200" dirty="0" err="1"/>
              <a:t>artırdık</a:t>
            </a:r>
            <a:r>
              <a:rPr sz="1200" dirty="0"/>
              <a:t>. </a:t>
            </a:r>
            <a:r>
              <a:rPr sz="1200" dirty="0" err="1"/>
              <a:t>Ardından</a:t>
            </a:r>
            <a:r>
              <a:rPr sz="1200" dirty="0"/>
              <a:t> </a:t>
            </a:r>
            <a:r>
              <a:rPr sz="1200" dirty="0" err="1"/>
              <a:t>kullanımı</a:t>
            </a:r>
            <a:r>
              <a:rPr sz="1200" dirty="0"/>
              <a:t> </a:t>
            </a:r>
            <a:r>
              <a:rPr sz="1200" dirty="0" err="1"/>
              <a:t>kolaylaştırmak</a:t>
            </a:r>
            <a:r>
              <a:rPr sz="1200" dirty="0"/>
              <a:t> </a:t>
            </a:r>
            <a:r>
              <a:rPr sz="1200" dirty="0" err="1"/>
              <a:t>için</a:t>
            </a:r>
            <a:r>
              <a:rPr sz="1200" dirty="0"/>
              <a:t> </a:t>
            </a:r>
            <a:r>
              <a:rPr sz="1200" dirty="0" err="1"/>
              <a:t>bu</a:t>
            </a:r>
            <a:r>
              <a:rPr sz="1200" dirty="0"/>
              <a:t> </a:t>
            </a:r>
            <a:r>
              <a:rPr sz="1200" dirty="0" err="1"/>
              <a:t>arayüzü</a:t>
            </a:r>
            <a:r>
              <a:rPr sz="1200" dirty="0"/>
              <a:t> </a:t>
            </a:r>
            <a:r>
              <a:rPr sz="1200" dirty="0" err="1"/>
              <a:t>geliştirdik</a:t>
            </a:r>
            <a:r>
              <a:rPr sz="1200" dirty="0"/>
              <a:t>.</a:t>
            </a:r>
            <a:endParaRPr lang="tr-TR" sz="1200" dirty="0"/>
          </a:p>
          <a:p>
            <a:pPr>
              <a:spcAft>
                <a:spcPts val="600"/>
              </a:spcAft>
            </a:pPr>
            <a:endParaRPr sz="1200" dirty="0"/>
          </a:p>
          <a:p>
            <a:pPr>
              <a:spcAft>
                <a:spcPts val="600"/>
              </a:spcAft>
            </a:pPr>
            <a:r>
              <a:rPr sz="1200" dirty="0" err="1"/>
              <a:t>Arayüz</a:t>
            </a:r>
            <a:r>
              <a:rPr sz="1200" dirty="0"/>
              <a:t> </a:t>
            </a:r>
            <a:r>
              <a:rPr sz="1200" dirty="0" err="1"/>
              <a:t>tek</a:t>
            </a:r>
            <a:r>
              <a:rPr sz="1200" dirty="0"/>
              <a:t> </a:t>
            </a:r>
            <a:r>
              <a:rPr sz="1200" dirty="0" err="1"/>
              <a:t>bir</a:t>
            </a:r>
            <a:r>
              <a:rPr sz="1200" dirty="0"/>
              <a:t> HTML </a:t>
            </a:r>
            <a:r>
              <a:rPr sz="1200" dirty="0" err="1"/>
              <a:t>dosyasından</a:t>
            </a:r>
            <a:r>
              <a:rPr sz="1200" dirty="0"/>
              <a:t> </a:t>
            </a:r>
            <a:r>
              <a:rPr sz="1200" dirty="0" err="1"/>
              <a:t>oluşuyor</a:t>
            </a:r>
            <a:r>
              <a:rPr sz="1200" dirty="0"/>
              <a:t>. </a:t>
            </a:r>
            <a:r>
              <a:rPr sz="1200" dirty="0" err="1"/>
              <a:t>Sunucu</a:t>
            </a:r>
            <a:r>
              <a:rPr sz="1200" dirty="0"/>
              <a:t> yada </a:t>
            </a:r>
            <a:r>
              <a:rPr sz="1200" dirty="0" err="1"/>
              <a:t>kurulum</a:t>
            </a:r>
            <a:r>
              <a:rPr sz="1200" dirty="0"/>
              <a:t> </a:t>
            </a:r>
            <a:r>
              <a:rPr sz="1200" dirty="0" err="1"/>
              <a:t>gerektirmiyor</a:t>
            </a:r>
            <a:r>
              <a:rPr sz="1200" dirty="0"/>
              <a:t>. </a:t>
            </a:r>
            <a:r>
              <a:rPr sz="1200" dirty="0" err="1"/>
              <a:t>Tarayıcıda</a:t>
            </a:r>
            <a:r>
              <a:rPr sz="1200" dirty="0"/>
              <a:t> </a:t>
            </a:r>
            <a:r>
              <a:rPr sz="1200" dirty="0" err="1"/>
              <a:t>açılıyor</a:t>
            </a:r>
            <a:r>
              <a:rPr sz="1200" dirty="0"/>
              <a:t> </a:t>
            </a:r>
            <a:r>
              <a:rPr sz="1200" dirty="0" err="1"/>
              <a:t>ve</a:t>
            </a:r>
            <a:r>
              <a:rPr sz="1200" dirty="0"/>
              <a:t> </a:t>
            </a:r>
            <a:r>
              <a:rPr sz="1200" dirty="0" err="1"/>
              <a:t>sohbet</a:t>
            </a:r>
            <a:r>
              <a:rPr sz="1200" dirty="0"/>
              <a:t> </a:t>
            </a:r>
            <a:r>
              <a:rPr sz="1200" dirty="0" err="1"/>
              <a:t>geçmişi</a:t>
            </a:r>
            <a:r>
              <a:rPr sz="1200" dirty="0"/>
              <a:t> </a:t>
            </a:r>
            <a:r>
              <a:rPr sz="1200" dirty="0" err="1"/>
              <a:t>cihazda</a:t>
            </a:r>
            <a:r>
              <a:rPr sz="1200" dirty="0"/>
              <a:t> </a:t>
            </a:r>
            <a:r>
              <a:rPr sz="1200" dirty="0" err="1"/>
              <a:t>tutuluyor</a:t>
            </a:r>
            <a:r>
              <a:rPr sz="1200" dirty="0"/>
              <a:t>.</a:t>
            </a:r>
            <a:endParaRPr lang="tr-TR" sz="1200" dirty="0"/>
          </a:p>
          <a:p>
            <a:pPr>
              <a:spcAft>
                <a:spcPts val="600"/>
              </a:spcAft>
            </a:pPr>
            <a:endParaRPr sz="1200" dirty="0"/>
          </a:p>
          <a:p>
            <a:pPr>
              <a:spcAft>
                <a:spcPts val="600"/>
              </a:spcAft>
            </a:pPr>
            <a:r>
              <a:rPr sz="1200" dirty="0" err="1"/>
              <a:t>Arayüz</a:t>
            </a:r>
            <a:r>
              <a:rPr lang="tr-TR" sz="1200" dirty="0"/>
              <a:t>de belirli tasarımsal özelliklerde var</a:t>
            </a:r>
            <a:r>
              <a:rPr sz="1200" dirty="0"/>
              <a:t>. </a:t>
            </a:r>
            <a:endParaRPr lang="tr-TR" sz="1200" dirty="0"/>
          </a:p>
          <a:p>
            <a:pPr>
              <a:spcAft>
                <a:spcPts val="600"/>
              </a:spcAft>
            </a:pPr>
            <a:endParaRPr lang="tr-TR" sz="1200" dirty="0"/>
          </a:p>
          <a:p>
            <a:pPr>
              <a:spcAft>
                <a:spcPts val="600"/>
              </a:spcAft>
            </a:pPr>
            <a:r>
              <a:rPr sz="1200" dirty="0"/>
              <a:t>Açık </a:t>
            </a:r>
            <a:r>
              <a:rPr sz="1200" dirty="0" err="1"/>
              <a:t>ve</a:t>
            </a:r>
            <a:r>
              <a:rPr sz="1200" dirty="0"/>
              <a:t> </a:t>
            </a:r>
            <a:r>
              <a:rPr sz="1200" dirty="0" err="1"/>
              <a:t>koyu</a:t>
            </a:r>
            <a:r>
              <a:rPr sz="1200" dirty="0"/>
              <a:t> </a:t>
            </a:r>
            <a:r>
              <a:rPr sz="1200" dirty="0" err="1"/>
              <a:t>temanın</a:t>
            </a:r>
            <a:r>
              <a:rPr sz="1200" dirty="0"/>
              <a:t> </a:t>
            </a:r>
            <a:r>
              <a:rPr sz="1200" dirty="0" err="1"/>
              <a:t>yanında</a:t>
            </a:r>
            <a:r>
              <a:rPr sz="1200" dirty="0"/>
              <a:t> </a:t>
            </a:r>
            <a:r>
              <a:rPr sz="1200" dirty="0" err="1"/>
              <a:t>farklı</a:t>
            </a:r>
            <a:r>
              <a:rPr sz="1200" dirty="0"/>
              <a:t> </a:t>
            </a:r>
            <a:r>
              <a:rPr sz="1200" dirty="0" err="1"/>
              <a:t>tema</a:t>
            </a:r>
            <a:r>
              <a:rPr sz="1200" dirty="0"/>
              <a:t> </a:t>
            </a:r>
            <a:r>
              <a:rPr sz="1200" dirty="0" err="1"/>
              <a:t>renkleri</a:t>
            </a:r>
            <a:r>
              <a:rPr sz="1200" dirty="0"/>
              <a:t> </a:t>
            </a:r>
            <a:r>
              <a:rPr sz="1200" dirty="0" err="1"/>
              <a:t>seçilebiliyor</a:t>
            </a:r>
            <a:r>
              <a:rPr sz="1200" dirty="0"/>
              <a:t>; </a:t>
            </a:r>
            <a:r>
              <a:rPr sz="1200" dirty="0" err="1"/>
              <a:t>yanıtlardaki</a:t>
            </a:r>
            <a:r>
              <a:rPr sz="1200" dirty="0"/>
              <a:t> </a:t>
            </a:r>
            <a:r>
              <a:rPr sz="1200" dirty="0" err="1"/>
              <a:t>kodlar</a:t>
            </a:r>
            <a:r>
              <a:rPr sz="1200" dirty="0"/>
              <a:t> </a:t>
            </a:r>
            <a:r>
              <a:rPr sz="1200" dirty="0" err="1"/>
              <a:t>renklendirilerek</a:t>
            </a:r>
            <a:r>
              <a:rPr sz="1200" dirty="0"/>
              <a:t> </a:t>
            </a:r>
            <a:r>
              <a:rPr sz="1200" dirty="0" err="1"/>
              <a:t>gösteriliyor</a:t>
            </a:r>
            <a:r>
              <a:rPr sz="1200" dirty="0"/>
              <a:t>, </a:t>
            </a:r>
            <a:r>
              <a:rPr sz="1200" dirty="0" err="1"/>
              <a:t>tablolar</a:t>
            </a:r>
            <a:r>
              <a:rPr sz="1200" dirty="0"/>
              <a:t> </a:t>
            </a:r>
            <a:r>
              <a:rPr sz="1200" dirty="0" err="1"/>
              <a:t>grafiğe</a:t>
            </a:r>
            <a:r>
              <a:rPr sz="1200" dirty="0"/>
              <a:t> </a:t>
            </a:r>
            <a:r>
              <a:rPr sz="1200" dirty="0" err="1"/>
              <a:t>dönüştürülüp</a:t>
            </a:r>
            <a:r>
              <a:rPr sz="1200" dirty="0"/>
              <a:t> </a:t>
            </a:r>
            <a:r>
              <a:rPr sz="1200" dirty="0" err="1"/>
              <a:t>Excel'e</a:t>
            </a:r>
            <a:r>
              <a:rPr sz="1200" dirty="0"/>
              <a:t> </a:t>
            </a:r>
            <a:r>
              <a:rPr sz="1200" dirty="0" err="1"/>
              <a:t>aktarılabiliyor</a:t>
            </a:r>
            <a:r>
              <a:rPr sz="1200" dirty="0"/>
              <a:t>, </a:t>
            </a:r>
            <a:r>
              <a:rPr sz="1200" dirty="0" err="1"/>
              <a:t>diyagramlar</a:t>
            </a:r>
            <a:r>
              <a:rPr sz="1200" dirty="0"/>
              <a:t> </a:t>
            </a:r>
            <a:r>
              <a:rPr sz="1200" dirty="0" err="1"/>
              <a:t>ve</a:t>
            </a:r>
            <a:r>
              <a:rPr sz="1200" dirty="0"/>
              <a:t> HTML </a:t>
            </a:r>
            <a:r>
              <a:rPr sz="1200" dirty="0" err="1"/>
              <a:t>çıktıları</a:t>
            </a:r>
            <a:r>
              <a:rPr sz="1200" dirty="0"/>
              <a:t> da </a:t>
            </a:r>
            <a:r>
              <a:rPr sz="1200" dirty="0" err="1"/>
              <a:t>canlı</a:t>
            </a:r>
            <a:r>
              <a:rPr sz="1200" dirty="0"/>
              <a:t> </a:t>
            </a:r>
            <a:r>
              <a:rPr sz="1200" dirty="0" err="1"/>
              <a:t>olarak</a:t>
            </a:r>
            <a:r>
              <a:rPr sz="1200" dirty="0"/>
              <a:t> </a:t>
            </a:r>
            <a:r>
              <a:rPr sz="1200" dirty="0" err="1"/>
              <a:t>önizlenebiliyor</a:t>
            </a:r>
            <a:r>
              <a:rPr sz="1200" dirty="0"/>
              <a:t>.</a:t>
            </a:r>
          </a:p>
          <a:p>
            <a:pPr>
              <a:spcAft>
                <a:spcPts val="600"/>
              </a:spcAft>
            </a:pPr>
            <a:endParaRPr sz="1200" dirty="0" err="1"/>
          </a:p>
          <a:p>
            <a:pPr>
              <a:spcAft>
                <a:spcPts val="600"/>
              </a:spcAft>
            </a:pPr>
            <a:r>
              <a:rPr sz="1200" dirty="0" err="1"/>
              <a:t>Şimdi</a:t>
            </a:r>
            <a:r>
              <a:rPr sz="1200" dirty="0"/>
              <a:t> </a:t>
            </a:r>
            <a:r>
              <a:rPr sz="1200" dirty="0" err="1"/>
              <a:t>arayüzün</a:t>
            </a:r>
            <a:r>
              <a:rPr sz="1200" dirty="0"/>
              <a:t> </a:t>
            </a:r>
            <a:r>
              <a:rPr sz="1200" dirty="0" err="1"/>
              <a:t>ekranlarına</a:t>
            </a:r>
            <a:r>
              <a:rPr sz="1200" dirty="0"/>
              <a:t> </a:t>
            </a:r>
            <a:r>
              <a:rPr sz="1200" dirty="0" err="1"/>
              <a:t>birlikte</a:t>
            </a:r>
            <a:r>
              <a:rPr sz="1200" dirty="0"/>
              <a:t> </a:t>
            </a:r>
            <a:r>
              <a:rPr sz="1200" dirty="0" err="1"/>
              <a:t>bakalım</a:t>
            </a:r>
            <a:r>
              <a:rPr sz="1200" dirty="0"/>
              <a:t>.</a:t>
            </a:r>
          </a:p>
        </p:txBody>
      </p:sp>
      <p:sp>
        <p:nvSpPr>
          <p:cNvPr id="4" name="Slide Number Placeholder 3"/>
          <p:cNvSpPr>
            <a:spLocks noGrp="1"/>
          </p:cNvSpPr>
          <p:nvPr>
            <p:ph type="sldNum" sz="quarter" idx="10"/>
          </p:nvPr>
        </p:nvSpPr>
        <p:spPr/>
        <p:txBody>
          <a:bodyPr/>
          <a:lstStyle/>
          <a:p>
            <a:fld id="{F7021451-1387-4CA6-816F-3879F97B5CBC}" type="slidenum">
              <a:rPr lang="tr-TR"/>
              <a:t>2</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err="1"/>
              <a:t>Arayüzü</a:t>
            </a:r>
            <a:r>
              <a:rPr sz="1200" dirty="0"/>
              <a:t> </a:t>
            </a:r>
            <a:r>
              <a:rPr sz="1200" dirty="0" err="1"/>
              <a:t>kullanıma</a:t>
            </a:r>
            <a:r>
              <a:rPr sz="1200" dirty="0"/>
              <a:t> </a:t>
            </a:r>
            <a:r>
              <a:rPr sz="1200" dirty="0" err="1"/>
              <a:t>sunduktan</a:t>
            </a:r>
            <a:r>
              <a:rPr sz="1200" dirty="0"/>
              <a:t> </a:t>
            </a:r>
            <a:r>
              <a:rPr sz="1200" dirty="0" err="1"/>
              <a:t>sonra</a:t>
            </a:r>
            <a:r>
              <a:rPr sz="1200" dirty="0"/>
              <a:t> hem </a:t>
            </a:r>
            <a:r>
              <a:rPr sz="1200" dirty="0" err="1"/>
              <a:t>ekiplerden</a:t>
            </a:r>
            <a:r>
              <a:rPr sz="1200" dirty="0"/>
              <a:t> hem de </a:t>
            </a:r>
            <a:r>
              <a:rPr sz="1200" dirty="0" err="1"/>
              <a:t>farklı</a:t>
            </a:r>
            <a:r>
              <a:rPr sz="1200" dirty="0"/>
              <a:t> </a:t>
            </a:r>
            <a:r>
              <a:rPr sz="1200" dirty="0" err="1"/>
              <a:t>direktörlüklerden</a:t>
            </a:r>
            <a:r>
              <a:rPr sz="1200" dirty="0"/>
              <a:t> </a:t>
            </a:r>
            <a:r>
              <a:rPr sz="1200" dirty="0" err="1"/>
              <a:t>yoğun</a:t>
            </a:r>
            <a:r>
              <a:rPr sz="1200" dirty="0"/>
              <a:t> </a:t>
            </a:r>
            <a:r>
              <a:rPr sz="1200" dirty="0" err="1"/>
              <a:t>ilgi</a:t>
            </a:r>
            <a:r>
              <a:rPr sz="1200" dirty="0"/>
              <a:t> </a:t>
            </a:r>
            <a:r>
              <a:rPr sz="1200" dirty="0" err="1"/>
              <a:t>gördü</a:t>
            </a:r>
            <a:r>
              <a:rPr sz="1200" dirty="0"/>
              <a:t>.</a:t>
            </a:r>
            <a:endParaRPr lang="tr-TR" sz="1200" dirty="0"/>
          </a:p>
          <a:p>
            <a:pPr>
              <a:spcAft>
                <a:spcPts val="600"/>
              </a:spcAft>
            </a:pPr>
            <a:endParaRPr lang="tr-TR" sz="1200" dirty="0"/>
          </a:p>
          <a:p>
            <a:pPr>
              <a:spcAft>
                <a:spcPts val="600"/>
              </a:spcAft>
            </a:pPr>
            <a:r>
              <a:rPr sz="1200" dirty="0"/>
              <a:t>En </a:t>
            </a:r>
            <a:r>
              <a:rPr sz="1200" dirty="0" err="1"/>
              <a:t>çok</a:t>
            </a:r>
            <a:r>
              <a:rPr sz="1200" dirty="0"/>
              <a:t> </a:t>
            </a:r>
            <a:r>
              <a:rPr sz="1200" dirty="0" err="1"/>
              <a:t>gelen</a:t>
            </a:r>
            <a:r>
              <a:rPr sz="1200" dirty="0"/>
              <a:t> </a:t>
            </a:r>
            <a:r>
              <a:rPr sz="1200" dirty="0" err="1"/>
              <a:t>talep</a:t>
            </a:r>
            <a:r>
              <a:rPr sz="1200" dirty="0"/>
              <a:t> </a:t>
            </a:r>
            <a:r>
              <a:rPr sz="1200" dirty="0" err="1"/>
              <a:t>ise</a:t>
            </a:r>
            <a:r>
              <a:rPr sz="1200" dirty="0"/>
              <a:t> </a:t>
            </a:r>
            <a:r>
              <a:rPr sz="1200" dirty="0" err="1"/>
              <a:t>dosya</a:t>
            </a:r>
            <a:r>
              <a:rPr sz="1200" dirty="0"/>
              <a:t> </a:t>
            </a:r>
            <a:r>
              <a:rPr sz="1200" dirty="0" err="1"/>
              <a:t>yükleme</a:t>
            </a:r>
            <a:r>
              <a:rPr sz="1200" dirty="0"/>
              <a:t> </a:t>
            </a:r>
            <a:r>
              <a:rPr sz="1200" dirty="0" err="1"/>
              <a:t>oldu</a:t>
            </a:r>
            <a:r>
              <a:rPr sz="1200" dirty="0"/>
              <a:t>.</a:t>
            </a:r>
          </a:p>
          <a:p>
            <a:pPr>
              <a:spcAft>
                <a:spcPts val="600"/>
              </a:spcAft>
            </a:pPr>
            <a:endParaRPr lang="tr-TR" sz="1200" dirty="0"/>
          </a:p>
          <a:p>
            <a:pPr>
              <a:spcAft>
                <a:spcPts val="600"/>
              </a:spcAft>
            </a:pPr>
            <a:r>
              <a:rPr sz="1200" dirty="0"/>
              <a:t>5 </a:t>
            </a:r>
            <a:r>
              <a:rPr lang="tr-TR" sz="1200" dirty="0"/>
              <a:t>MB</a:t>
            </a:r>
            <a:r>
              <a:rPr sz="1200" dirty="0"/>
              <a:t> </a:t>
            </a:r>
            <a:r>
              <a:rPr sz="1200" dirty="0" err="1"/>
              <a:t>kadar</a:t>
            </a:r>
            <a:r>
              <a:rPr sz="1200" dirty="0"/>
              <a:t> </a:t>
            </a:r>
            <a:r>
              <a:rPr sz="1200" dirty="0" err="1"/>
              <a:t>olan</a:t>
            </a:r>
            <a:r>
              <a:rPr sz="1200" dirty="0"/>
              <a:t> </a:t>
            </a:r>
            <a:r>
              <a:rPr sz="1200" dirty="0" err="1"/>
              <a:t>dosyaları</a:t>
            </a:r>
            <a:r>
              <a:rPr sz="1200" dirty="0"/>
              <a:t> </a:t>
            </a:r>
            <a:r>
              <a:rPr sz="1200" dirty="0" err="1"/>
              <a:t>okuyup</a:t>
            </a:r>
            <a:r>
              <a:rPr sz="1200" dirty="0"/>
              <a:t> </a:t>
            </a:r>
            <a:r>
              <a:rPr sz="1200" dirty="0" err="1"/>
              <a:t>doğrudan</a:t>
            </a:r>
            <a:r>
              <a:rPr sz="1200" dirty="0"/>
              <a:t> </a:t>
            </a:r>
            <a:r>
              <a:rPr sz="1200" dirty="0" err="1"/>
              <a:t>modele</a:t>
            </a:r>
            <a:r>
              <a:rPr sz="1200" dirty="0"/>
              <a:t> </a:t>
            </a:r>
            <a:r>
              <a:rPr sz="1200" dirty="0" err="1"/>
              <a:t>gönderdik</a:t>
            </a:r>
            <a:r>
              <a:rPr sz="1200" dirty="0"/>
              <a:t>. 10 </a:t>
            </a:r>
            <a:r>
              <a:rPr lang="tr-TR" sz="1200" dirty="0"/>
              <a:t>MB</a:t>
            </a:r>
            <a:r>
              <a:rPr sz="1200" dirty="0"/>
              <a:t> </a:t>
            </a:r>
            <a:r>
              <a:rPr sz="1200" dirty="0" err="1"/>
              <a:t>kadar</a:t>
            </a:r>
            <a:r>
              <a:rPr sz="1200" dirty="0"/>
              <a:t> </a:t>
            </a:r>
            <a:r>
              <a:rPr sz="1200" dirty="0" err="1"/>
              <a:t>olan</a:t>
            </a:r>
            <a:r>
              <a:rPr sz="1200" dirty="0"/>
              <a:t> </a:t>
            </a:r>
            <a:r>
              <a:rPr sz="1200" dirty="0" err="1"/>
              <a:t>dosyalar</a:t>
            </a:r>
            <a:r>
              <a:rPr sz="1200" dirty="0"/>
              <a:t> </a:t>
            </a:r>
            <a:r>
              <a:rPr sz="1200" dirty="0" err="1"/>
              <a:t>için</a:t>
            </a:r>
            <a:r>
              <a:rPr sz="1200" dirty="0"/>
              <a:t> de RAG </a:t>
            </a:r>
            <a:r>
              <a:rPr sz="1200" dirty="0" err="1"/>
              <a:t>mimarisini</a:t>
            </a:r>
            <a:r>
              <a:rPr sz="1200" dirty="0"/>
              <a:t> </a:t>
            </a:r>
            <a:r>
              <a:rPr sz="1200" dirty="0" err="1"/>
              <a:t>kullanan</a:t>
            </a:r>
            <a:r>
              <a:rPr sz="1200" dirty="0"/>
              <a:t> </a:t>
            </a:r>
            <a:r>
              <a:rPr sz="1200" dirty="0" err="1"/>
              <a:t>bir</a:t>
            </a:r>
            <a:r>
              <a:rPr sz="1200" dirty="0"/>
              <a:t> </a:t>
            </a:r>
            <a:r>
              <a:rPr sz="1200" dirty="0" err="1"/>
              <a:t>geliştirme</a:t>
            </a:r>
            <a:r>
              <a:rPr sz="1200" dirty="0"/>
              <a:t> </a:t>
            </a:r>
            <a:r>
              <a:rPr sz="1200" dirty="0" err="1"/>
              <a:t>yaptık</a:t>
            </a:r>
            <a:r>
              <a:rPr sz="1200" dirty="0"/>
              <a:t>.</a:t>
            </a:r>
            <a:endParaRPr lang="tr-TR" sz="1200" dirty="0"/>
          </a:p>
          <a:p>
            <a:pPr>
              <a:spcAft>
                <a:spcPts val="600"/>
              </a:spcAft>
            </a:pPr>
            <a:endParaRPr sz="1200" dirty="0"/>
          </a:p>
          <a:p>
            <a:pPr>
              <a:spcAft>
                <a:spcPts val="600"/>
              </a:spcAft>
            </a:pPr>
            <a:r>
              <a:rPr sz="1200" dirty="0"/>
              <a:t>Solda, </a:t>
            </a:r>
            <a:r>
              <a:rPr sz="1200" dirty="0" err="1"/>
              <a:t>yüklediğimiz</a:t>
            </a:r>
            <a:r>
              <a:rPr sz="1200" dirty="0"/>
              <a:t> ÖFS </a:t>
            </a:r>
            <a:r>
              <a:rPr sz="1200" dirty="0" err="1"/>
              <a:t>analiz</a:t>
            </a:r>
            <a:r>
              <a:rPr sz="1200" dirty="0"/>
              <a:t> </a:t>
            </a:r>
            <a:r>
              <a:rPr sz="1200" dirty="0" err="1"/>
              <a:t>dokümanından</a:t>
            </a:r>
            <a:r>
              <a:rPr sz="1200" dirty="0"/>
              <a:t> </a:t>
            </a:r>
            <a:r>
              <a:rPr sz="1200" dirty="0" err="1"/>
              <a:t>canlı</a:t>
            </a:r>
            <a:r>
              <a:rPr sz="1200" dirty="0"/>
              <a:t> </a:t>
            </a:r>
            <a:r>
              <a:rPr sz="1200" dirty="0" err="1"/>
              <a:t>olarak</a:t>
            </a:r>
            <a:r>
              <a:rPr sz="1200" dirty="0"/>
              <a:t> </a:t>
            </a:r>
            <a:r>
              <a:rPr sz="1200" dirty="0" err="1"/>
              <a:t>çizilen</a:t>
            </a:r>
            <a:r>
              <a:rPr sz="1200" dirty="0"/>
              <a:t> </a:t>
            </a:r>
            <a:r>
              <a:rPr sz="1200" dirty="0" err="1"/>
              <a:t>bir</a:t>
            </a:r>
            <a:r>
              <a:rPr sz="1200" dirty="0"/>
              <a:t> </a:t>
            </a:r>
            <a:r>
              <a:rPr sz="1200" dirty="0" err="1"/>
              <a:t>akış</a:t>
            </a:r>
            <a:r>
              <a:rPr sz="1200" dirty="0"/>
              <a:t> </a:t>
            </a:r>
            <a:r>
              <a:rPr sz="1200" dirty="0" err="1"/>
              <a:t>diyagramı</a:t>
            </a:r>
            <a:r>
              <a:rPr sz="1200" dirty="0"/>
              <a:t> </a:t>
            </a:r>
            <a:r>
              <a:rPr sz="1200" dirty="0" err="1"/>
              <a:t>görüyorsunuz</a:t>
            </a:r>
            <a:r>
              <a:rPr sz="1200" dirty="0"/>
              <a:t>. Bu </a:t>
            </a:r>
            <a:r>
              <a:rPr sz="1200" dirty="0" err="1"/>
              <a:t>diyagram</a:t>
            </a:r>
            <a:r>
              <a:rPr sz="1200" dirty="0"/>
              <a:t> tam </a:t>
            </a:r>
            <a:r>
              <a:rPr sz="1200" dirty="0" err="1"/>
              <a:t>ekran</a:t>
            </a:r>
            <a:r>
              <a:rPr sz="1200" dirty="0"/>
              <a:t> </a:t>
            </a:r>
            <a:r>
              <a:rPr sz="1200" dirty="0" err="1"/>
              <a:t>açılabiliyor</a:t>
            </a:r>
            <a:r>
              <a:rPr sz="1200" dirty="0"/>
              <a:t>, </a:t>
            </a:r>
            <a:r>
              <a:rPr sz="1200" dirty="0" err="1"/>
              <a:t>yakınlaştırılabiliyor</a:t>
            </a:r>
            <a:r>
              <a:rPr sz="1200" dirty="0"/>
              <a:t> </a:t>
            </a:r>
            <a:r>
              <a:rPr sz="1200" dirty="0" err="1"/>
              <a:t>ve</a:t>
            </a:r>
            <a:r>
              <a:rPr sz="1200" dirty="0"/>
              <a:t> </a:t>
            </a:r>
            <a:r>
              <a:rPr sz="1200" dirty="0" err="1"/>
              <a:t>görsel</a:t>
            </a:r>
            <a:r>
              <a:rPr sz="1200" dirty="0"/>
              <a:t> </a:t>
            </a:r>
            <a:r>
              <a:rPr sz="1200" dirty="0" err="1"/>
              <a:t>olarak</a:t>
            </a:r>
            <a:r>
              <a:rPr sz="1200" dirty="0"/>
              <a:t> </a:t>
            </a:r>
            <a:r>
              <a:rPr sz="1200" dirty="0" err="1"/>
              <a:t>indirilebiliyor</a:t>
            </a:r>
            <a:r>
              <a:rPr sz="1200" dirty="0"/>
              <a:t>.</a:t>
            </a:r>
            <a:endParaRPr lang="tr-TR" sz="1200" dirty="0"/>
          </a:p>
          <a:p>
            <a:pPr>
              <a:spcAft>
                <a:spcPts val="600"/>
              </a:spcAft>
            </a:pPr>
            <a:endParaRPr sz="1200" dirty="0"/>
          </a:p>
          <a:p>
            <a:pPr>
              <a:spcAft>
                <a:spcPts val="600"/>
              </a:spcAft>
            </a:pPr>
            <a:r>
              <a:rPr sz="1200" dirty="0" err="1"/>
              <a:t>Sağda</a:t>
            </a:r>
            <a:r>
              <a:rPr sz="1200" dirty="0"/>
              <a:t> </a:t>
            </a:r>
            <a:r>
              <a:rPr sz="1200" dirty="0" err="1"/>
              <a:t>ise</a:t>
            </a:r>
            <a:r>
              <a:rPr sz="1200" dirty="0"/>
              <a:t> </a:t>
            </a:r>
            <a:r>
              <a:rPr sz="1200" dirty="0" err="1"/>
              <a:t>aynı</a:t>
            </a:r>
            <a:r>
              <a:rPr sz="1200" dirty="0"/>
              <a:t> </a:t>
            </a:r>
            <a:r>
              <a:rPr sz="1200" dirty="0" err="1"/>
              <a:t>dokümandan</a:t>
            </a:r>
            <a:r>
              <a:rPr lang="tr-TR" sz="1200" dirty="0"/>
              <a:t>dan </a:t>
            </a:r>
            <a:r>
              <a:rPr sz="1200" dirty="0"/>
              <a:t>test </a:t>
            </a:r>
            <a:r>
              <a:rPr sz="1200" dirty="0" err="1"/>
              <a:t>case'lerin</a:t>
            </a:r>
            <a:r>
              <a:rPr sz="1200" dirty="0"/>
              <a:t> </a:t>
            </a:r>
            <a:r>
              <a:rPr sz="1200" dirty="0" err="1"/>
              <a:t>tablo</a:t>
            </a:r>
            <a:r>
              <a:rPr sz="1200" dirty="0"/>
              <a:t> </a:t>
            </a:r>
            <a:r>
              <a:rPr sz="1200" dirty="0" err="1"/>
              <a:t>halinde</a:t>
            </a:r>
            <a:r>
              <a:rPr sz="1200" dirty="0"/>
              <a:t> </a:t>
            </a:r>
            <a:r>
              <a:rPr sz="1200" dirty="0" err="1"/>
              <a:t>çıkarıldığını</a:t>
            </a:r>
            <a:r>
              <a:rPr sz="1200" dirty="0"/>
              <a:t> </a:t>
            </a:r>
            <a:r>
              <a:rPr sz="1200" dirty="0" err="1"/>
              <a:t>görüyoruz</a:t>
            </a:r>
            <a:r>
              <a:rPr sz="1200" dirty="0"/>
              <a:t>.</a:t>
            </a:r>
          </a:p>
        </p:txBody>
      </p:sp>
      <p:sp>
        <p:nvSpPr>
          <p:cNvPr id="4" name="Slide Number Placeholder 3"/>
          <p:cNvSpPr>
            <a:spLocks noGrp="1"/>
          </p:cNvSpPr>
          <p:nvPr>
            <p:ph type="sldNum" sz="quarter" idx="10"/>
          </p:nvPr>
        </p:nvSpPr>
        <p:spPr/>
        <p:txBody>
          <a:bodyPr/>
          <a:lstStyle/>
          <a:p>
            <a:fld id="{F7021451-1387-4CA6-816F-3879F97B5CBC}" type="slidenum">
              <a:rPr lang="tr-TR"/>
              <a:t>3</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err="1"/>
              <a:t>Soldaki</a:t>
            </a:r>
            <a:r>
              <a:rPr sz="1200" dirty="0"/>
              <a:t> </a:t>
            </a:r>
            <a:r>
              <a:rPr sz="1200" dirty="0" err="1"/>
              <a:t>ekran</a:t>
            </a:r>
            <a:r>
              <a:rPr sz="1200" dirty="0"/>
              <a:t> Bilgi </a:t>
            </a:r>
            <a:r>
              <a:rPr sz="1200" dirty="0" err="1"/>
              <a:t>Tabanı</a:t>
            </a:r>
            <a:r>
              <a:rPr sz="1200" dirty="0"/>
              <a:t> </a:t>
            </a:r>
            <a:r>
              <a:rPr sz="1200" dirty="0" err="1"/>
              <a:t>penceresi</a:t>
            </a:r>
            <a:r>
              <a:rPr sz="1200" dirty="0"/>
              <a:t>. </a:t>
            </a:r>
            <a:r>
              <a:rPr sz="1200" dirty="0" err="1"/>
              <a:t>Belgeler</a:t>
            </a:r>
            <a:r>
              <a:rPr sz="1200" dirty="0"/>
              <a:t> </a:t>
            </a:r>
            <a:r>
              <a:rPr sz="1200" dirty="0" err="1"/>
              <a:t>buraya</a:t>
            </a:r>
            <a:r>
              <a:rPr sz="1200" dirty="0"/>
              <a:t> </a:t>
            </a:r>
            <a:r>
              <a:rPr sz="1200" dirty="0" err="1"/>
              <a:t>sürükleniyor</a:t>
            </a:r>
            <a:r>
              <a:rPr sz="1200" dirty="0"/>
              <a:t>. </a:t>
            </a:r>
            <a:r>
              <a:rPr sz="1200" dirty="0" err="1"/>
              <a:t>Dış</a:t>
            </a:r>
            <a:r>
              <a:rPr sz="1200" dirty="0"/>
              <a:t> </a:t>
            </a:r>
            <a:r>
              <a:rPr sz="1200" dirty="0" err="1"/>
              <a:t>bir</a:t>
            </a:r>
            <a:r>
              <a:rPr sz="1200" dirty="0"/>
              <a:t> </a:t>
            </a:r>
            <a:r>
              <a:rPr sz="1200" dirty="0" err="1"/>
              <a:t>sunucuya</a:t>
            </a:r>
            <a:r>
              <a:rPr sz="1200" dirty="0"/>
              <a:t> </a:t>
            </a:r>
            <a:r>
              <a:rPr sz="1200" dirty="0" err="1"/>
              <a:t>gönderilmeden</a:t>
            </a:r>
            <a:r>
              <a:rPr sz="1200" dirty="0"/>
              <a:t>, </a:t>
            </a:r>
            <a:r>
              <a:rPr sz="1200" dirty="0" err="1"/>
              <a:t>tarayıcının</a:t>
            </a:r>
            <a:r>
              <a:rPr sz="1200" dirty="0"/>
              <a:t> </a:t>
            </a:r>
            <a:r>
              <a:rPr sz="1200" dirty="0" err="1"/>
              <a:t>içinde</a:t>
            </a:r>
            <a:r>
              <a:rPr sz="1200" dirty="0"/>
              <a:t> </a:t>
            </a:r>
            <a:r>
              <a:rPr sz="1200" dirty="0" err="1"/>
              <a:t>parçalanıp</a:t>
            </a:r>
            <a:r>
              <a:rPr sz="1200" dirty="0"/>
              <a:t> </a:t>
            </a:r>
            <a:r>
              <a:rPr sz="1200" dirty="0" err="1"/>
              <a:t>indeksleniyor</a:t>
            </a:r>
            <a:r>
              <a:rPr sz="1200" dirty="0"/>
              <a:t>. </a:t>
            </a:r>
            <a:endParaRPr lang="tr-TR" sz="1200" dirty="0"/>
          </a:p>
          <a:p>
            <a:pPr>
              <a:spcAft>
                <a:spcPts val="600"/>
              </a:spcAft>
            </a:pPr>
            <a:endParaRPr lang="tr-TR" sz="1200" dirty="0"/>
          </a:p>
          <a:p>
            <a:pPr>
              <a:spcAft>
                <a:spcPts val="600"/>
              </a:spcAft>
            </a:pPr>
            <a:r>
              <a:rPr sz="1200" dirty="0" err="1"/>
              <a:t>Örnekteki</a:t>
            </a:r>
            <a:r>
              <a:rPr sz="1200" dirty="0"/>
              <a:t> ÖFS </a:t>
            </a:r>
            <a:r>
              <a:rPr sz="1200" dirty="0" err="1"/>
              <a:t>analiz</a:t>
            </a:r>
            <a:r>
              <a:rPr sz="1200" dirty="0"/>
              <a:t> </a:t>
            </a:r>
            <a:r>
              <a:rPr sz="1200" dirty="0" err="1"/>
              <a:t>dokümanı</a:t>
            </a:r>
            <a:r>
              <a:rPr sz="1200" dirty="0"/>
              <a:t> </a:t>
            </a:r>
            <a:r>
              <a:rPr sz="1200" dirty="0" err="1"/>
              <a:t>yaklaşık</a:t>
            </a:r>
            <a:r>
              <a:rPr sz="1200" dirty="0"/>
              <a:t> 7 </a:t>
            </a:r>
            <a:r>
              <a:rPr sz="1200" dirty="0" err="1"/>
              <a:t>megabayt</a:t>
            </a:r>
            <a:r>
              <a:rPr sz="1200" dirty="0"/>
              <a:t> </a:t>
            </a:r>
            <a:r>
              <a:rPr sz="1200" dirty="0" err="1"/>
              <a:t>ve</a:t>
            </a:r>
            <a:r>
              <a:rPr sz="1200" dirty="0"/>
              <a:t> 270 </a:t>
            </a:r>
            <a:r>
              <a:rPr sz="1200" dirty="0" err="1"/>
              <a:t>parçaya</a:t>
            </a:r>
            <a:r>
              <a:rPr sz="1200" dirty="0"/>
              <a:t> </a:t>
            </a:r>
            <a:r>
              <a:rPr sz="1200" dirty="0" err="1"/>
              <a:t>bölünmüş</a:t>
            </a:r>
            <a:r>
              <a:rPr sz="1200" dirty="0"/>
              <a:t> </a:t>
            </a:r>
            <a:r>
              <a:rPr sz="1200" dirty="0" err="1"/>
              <a:t>durumda</a:t>
            </a:r>
            <a:r>
              <a:rPr sz="1200" dirty="0"/>
              <a:t>.</a:t>
            </a:r>
            <a:endParaRPr lang="tr-TR" sz="1200" dirty="0"/>
          </a:p>
          <a:p>
            <a:pPr>
              <a:spcAft>
                <a:spcPts val="600"/>
              </a:spcAft>
            </a:pPr>
            <a:endParaRPr sz="1200" dirty="0"/>
          </a:p>
          <a:p>
            <a:pPr>
              <a:spcAft>
                <a:spcPts val="600"/>
              </a:spcAft>
            </a:pPr>
            <a:r>
              <a:rPr sz="1200" dirty="0" err="1"/>
              <a:t>Sağda</a:t>
            </a:r>
            <a:r>
              <a:rPr sz="1200" dirty="0"/>
              <a:t> </a:t>
            </a:r>
            <a:r>
              <a:rPr sz="1200" dirty="0" err="1"/>
              <a:t>ise</a:t>
            </a:r>
            <a:r>
              <a:rPr sz="1200" dirty="0"/>
              <a:t> </a:t>
            </a:r>
            <a:r>
              <a:rPr sz="1200" dirty="0" err="1"/>
              <a:t>hata</a:t>
            </a:r>
            <a:r>
              <a:rPr sz="1200" dirty="0"/>
              <a:t> </a:t>
            </a:r>
            <a:r>
              <a:rPr sz="1200" dirty="0" err="1"/>
              <a:t>analizi</a:t>
            </a:r>
            <a:r>
              <a:rPr sz="1200" dirty="0"/>
              <a:t> var. </a:t>
            </a:r>
            <a:r>
              <a:rPr sz="1200" dirty="0" err="1"/>
              <a:t>Aldığımız</a:t>
            </a:r>
            <a:r>
              <a:rPr sz="1200" dirty="0"/>
              <a:t> </a:t>
            </a:r>
            <a:r>
              <a:rPr sz="1200" dirty="0" err="1"/>
              <a:t>bir</a:t>
            </a:r>
            <a:r>
              <a:rPr sz="1200" dirty="0"/>
              <a:t> </a:t>
            </a:r>
            <a:r>
              <a:rPr sz="1200" dirty="0" err="1"/>
              <a:t>hatayı</a:t>
            </a:r>
            <a:r>
              <a:rPr sz="1200" dirty="0"/>
              <a:t> </a:t>
            </a:r>
            <a:r>
              <a:rPr sz="1200" dirty="0" err="1"/>
              <a:t>paylaştığımızda</a:t>
            </a:r>
            <a:r>
              <a:rPr sz="1200" dirty="0"/>
              <a:t> model, </a:t>
            </a:r>
            <a:r>
              <a:rPr sz="1200" dirty="0" err="1"/>
              <a:t>sorunun</a:t>
            </a:r>
            <a:r>
              <a:rPr sz="1200" dirty="0"/>
              <a:t> backend </a:t>
            </a:r>
            <a:r>
              <a:rPr sz="1200" dirty="0" err="1"/>
              <a:t>tarafında</a:t>
            </a:r>
            <a:r>
              <a:rPr sz="1200" dirty="0"/>
              <a:t> </a:t>
            </a:r>
            <a:r>
              <a:rPr sz="1200" dirty="0" err="1"/>
              <a:t>oluştuğunu</a:t>
            </a:r>
            <a:r>
              <a:rPr sz="1200" dirty="0"/>
              <a:t> </a:t>
            </a:r>
            <a:r>
              <a:rPr sz="1200" dirty="0" err="1"/>
              <a:t>tespit</a:t>
            </a:r>
            <a:r>
              <a:rPr sz="1200" dirty="0"/>
              <a:t> </a:t>
            </a:r>
            <a:r>
              <a:rPr sz="1200" dirty="0" err="1"/>
              <a:t>ediyor</a:t>
            </a:r>
            <a:r>
              <a:rPr sz="1200" dirty="0"/>
              <a:t>. </a:t>
            </a:r>
            <a:r>
              <a:rPr sz="1200" dirty="0" err="1"/>
              <a:t>Nerede</a:t>
            </a:r>
            <a:r>
              <a:rPr sz="1200" dirty="0"/>
              <a:t> debug </a:t>
            </a:r>
            <a:r>
              <a:rPr sz="1200" dirty="0" err="1"/>
              <a:t>yapılması</a:t>
            </a:r>
            <a:r>
              <a:rPr sz="1200" dirty="0"/>
              <a:t> </a:t>
            </a:r>
            <a:r>
              <a:rPr sz="1200" dirty="0" err="1"/>
              <a:t>gerektiğini</a:t>
            </a:r>
            <a:r>
              <a:rPr sz="1200" dirty="0"/>
              <a:t> </a:t>
            </a:r>
            <a:r>
              <a:rPr sz="1200" dirty="0" err="1"/>
              <a:t>gösteriyor</a:t>
            </a:r>
            <a:r>
              <a:rPr sz="1200" dirty="0"/>
              <a:t> </a:t>
            </a:r>
            <a:r>
              <a:rPr sz="1200" dirty="0" err="1"/>
              <a:t>ve</a:t>
            </a:r>
            <a:r>
              <a:rPr sz="1200" dirty="0"/>
              <a:t> </a:t>
            </a:r>
            <a:r>
              <a:rPr sz="1200" dirty="0" err="1"/>
              <a:t>örnek</a:t>
            </a:r>
            <a:r>
              <a:rPr sz="1200" dirty="0"/>
              <a:t> </a:t>
            </a:r>
            <a:r>
              <a:rPr sz="1200" dirty="0" err="1"/>
              <a:t>bir</a:t>
            </a:r>
            <a:r>
              <a:rPr sz="1200" dirty="0"/>
              <a:t> </a:t>
            </a:r>
            <a:r>
              <a:rPr sz="1200" dirty="0" err="1"/>
              <a:t>kod</a:t>
            </a:r>
            <a:r>
              <a:rPr sz="1200" dirty="0"/>
              <a:t> </a:t>
            </a:r>
            <a:r>
              <a:rPr sz="1200" dirty="0" err="1"/>
              <a:t>düzeltmesi</a:t>
            </a:r>
            <a:r>
              <a:rPr sz="1200" dirty="0"/>
              <a:t> </a:t>
            </a:r>
            <a:r>
              <a:rPr sz="1200" dirty="0" err="1"/>
              <a:t>öneriyor</a:t>
            </a:r>
            <a:r>
              <a:rPr sz="1200" dirty="0"/>
              <a:t>.</a:t>
            </a:r>
            <a:endParaRPr lang="tr-TR" sz="1200" dirty="0"/>
          </a:p>
          <a:p>
            <a:pPr>
              <a:spcAft>
                <a:spcPts val="600"/>
              </a:spcAft>
            </a:pPr>
            <a:endParaRPr sz="1200" dirty="0"/>
          </a:p>
          <a:p>
            <a:pPr>
              <a:spcAft>
                <a:spcPts val="600"/>
              </a:spcAft>
            </a:pPr>
            <a:r>
              <a:rPr sz="1200" dirty="0" err="1"/>
              <a:t>Kod</a:t>
            </a:r>
            <a:r>
              <a:rPr sz="1200" dirty="0"/>
              <a:t> </a:t>
            </a:r>
            <a:r>
              <a:rPr sz="1200" dirty="0" err="1"/>
              <a:t>inceleme</a:t>
            </a:r>
            <a:r>
              <a:rPr sz="1200" dirty="0"/>
              <a:t>, </a:t>
            </a:r>
            <a:r>
              <a:rPr sz="1200" dirty="0" err="1"/>
              <a:t>analiz</a:t>
            </a:r>
            <a:r>
              <a:rPr sz="1200" dirty="0"/>
              <a:t>, test </a:t>
            </a:r>
            <a:r>
              <a:rPr sz="1200" dirty="0" err="1"/>
              <a:t>senaryosu</a:t>
            </a:r>
            <a:r>
              <a:rPr sz="1200" dirty="0"/>
              <a:t>, log </a:t>
            </a:r>
            <a:r>
              <a:rPr sz="1200" dirty="0" err="1"/>
              <a:t>analizi</a:t>
            </a:r>
            <a:r>
              <a:rPr sz="1200" dirty="0"/>
              <a:t> </a:t>
            </a:r>
            <a:r>
              <a:rPr sz="1200" dirty="0" err="1"/>
              <a:t>ve</a:t>
            </a:r>
            <a:r>
              <a:rPr sz="1200" dirty="0"/>
              <a:t> </a:t>
            </a:r>
            <a:r>
              <a:rPr sz="1200" dirty="0" err="1"/>
              <a:t>diyagram</a:t>
            </a:r>
            <a:r>
              <a:rPr sz="1200" dirty="0"/>
              <a:t> </a:t>
            </a:r>
            <a:r>
              <a:rPr sz="1200" dirty="0" err="1"/>
              <a:t>için</a:t>
            </a:r>
            <a:r>
              <a:rPr sz="1200" dirty="0"/>
              <a:t> </a:t>
            </a:r>
            <a:r>
              <a:rPr sz="1200" dirty="0" err="1"/>
              <a:t>hazır</a:t>
            </a:r>
            <a:r>
              <a:rPr sz="1200" dirty="0"/>
              <a:t> </a:t>
            </a:r>
            <a:r>
              <a:rPr sz="1200" dirty="0" err="1"/>
              <a:t>rol</a:t>
            </a:r>
            <a:r>
              <a:rPr sz="1200" dirty="0"/>
              <a:t> </a:t>
            </a:r>
            <a:r>
              <a:rPr sz="1200" dirty="0" err="1"/>
              <a:t>şablonları</a:t>
            </a:r>
            <a:r>
              <a:rPr sz="1200" dirty="0"/>
              <a:t> da var. </a:t>
            </a:r>
            <a:r>
              <a:rPr sz="1200" dirty="0" err="1"/>
              <a:t>Böylece</a:t>
            </a:r>
            <a:r>
              <a:rPr sz="1200" dirty="0"/>
              <a:t> </a:t>
            </a:r>
            <a:r>
              <a:rPr sz="1200" dirty="0" err="1"/>
              <a:t>kullanıcı</a:t>
            </a:r>
            <a:r>
              <a:rPr sz="1200" dirty="0"/>
              <a:t> </a:t>
            </a:r>
            <a:r>
              <a:rPr sz="1200" dirty="0" err="1"/>
              <a:t>boş</a:t>
            </a:r>
            <a:r>
              <a:rPr sz="1200" dirty="0"/>
              <a:t> </a:t>
            </a:r>
            <a:r>
              <a:rPr sz="1200" dirty="0" err="1"/>
              <a:t>bir</a:t>
            </a:r>
            <a:r>
              <a:rPr sz="1200" dirty="0"/>
              <a:t> </a:t>
            </a:r>
            <a:r>
              <a:rPr sz="1200" dirty="0" err="1"/>
              <a:t>sayfayla</a:t>
            </a:r>
            <a:r>
              <a:rPr sz="1200" dirty="0"/>
              <a:t> </a:t>
            </a:r>
            <a:r>
              <a:rPr sz="1200" dirty="0" err="1"/>
              <a:t>başlamak</a:t>
            </a:r>
            <a:r>
              <a:rPr sz="1200" dirty="0"/>
              <a:t> </a:t>
            </a:r>
            <a:r>
              <a:rPr sz="1200" dirty="0" err="1"/>
              <a:t>yerine</a:t>
            </a:r>
            <a:r>
              <a:rPr sz="1200" dirty="0"/>
              <a:t> </a:t>
            </a:r>
            <a:r>
              <a:rPr sz="1200" dirty="0" err="1"/>
              <a:t>hazır</a:t>
            </a:r>
            <a:r>
              <a:rPr sz="1200" dirty="0"/>
              <a:t> </a:t>
            </a:r>
            <a:r>
              <a:rPr sz="1200" dirty="0" err="1"/>
              <a:t>bir</a:t>
            </a:r>
            <a:r>
              <a:rPr sz="1200" dirty="0"/>
              <a:t> </a:t>
            </a:r>
            <a:r>
              <a:rPr sz="1200" dirty="0" err="1"/>
              <a:t>rolle</a:t>
            </a:r>
            <a:r>
              <a:rPr sz="1200" dirty="0"/>
              <a:t> </a:t>
            </a:r>
            <a:r>
              <a:rPr sz="1200" dirty="0" err="1"/>
              <a:t>başlayabiliyor</a:t>
            </a:r>
            <a:r>
              <a:rPr sz="1200" dirty="0"/>
              <a:t>.</a:t>
            </a:r>
          </a:p>
          <a:p>
            <a:pPr>
              <a:spcAft>
                <a:spcPts val="600"/>
              </a:spcAft>
            </a:pPr>
            <a:endParaRPr lang="tr-TR" sz="1200" dirty="0"/>
          </a:p>
          <a:p>
            <a:pPr>
              <a:spcAft>
                <a:spcPts val="600"/>
              </a:spcAft>
            </a:pPr>
            <a:r>
              <a:rPr sz="1200" dirty="0" err="1"/>
              <a:t>Şimdi bu arayüzün analistler ve yazılımcılar tarafından nasıl kullanılabileceğine bakalım.</a:t>
            </a:r>
          </a:p>
        </p:txBody>
      </p:sp>
      <p:sp>
        <p:nvSpPr>
          <p:cNvPr id="4" name="Slide Number Placeholder 3"/>
          <p:cNvSpPr>
            <a:spLocks noGrp="1"/>
          </p:cNvSpPr>
          <p:nvPr>
            <p:ph type="sldNum" sz="quarter" idx="10"/>
          </p:nvPr>
        </p:nvSpPr>
        <p:spPr/>
        <p:txBody>
          <a:bodyPr/>
          <a:lstStyle/>
          <a:p>
            <a:fld id="{F7021451-1387-4CA6-816F-3879F97B5CBC}" type="slidenum">
              <a:rPr lang="tr-TR"/>
              <a:t>4</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spcAft>
                <a:spcPts val="600"/>
              </a:spcAft>
              <a:buFont typeface="Arial"/>
              <a:buChar char="•"/>
            </a:pPr>
            <a:r>
              <a:rPr lang="tr-TR" sz="1200" dirty="0"/>
              <a:t>Ürünlerimizin Confluence sayfaları için akış diyagramlarının çıkarılması.</a:t>
            </a:r>
            <a:br>
              <a:rPr lang="tr-TR" sz="1200" dirty="0"/>
            </a:br>
            <a:endParaRPr lang="tr-TR" sz="1200" dirty="0"/>
          </a:p>
          <a:p>
            <a:pPr marL="228600" indent="-228600">
              <a:spcAft>
                <a:spcPts val="600"/>
              </a:spcAft>
              <a:buFont typeface="Arial"/>
              <a:buChar char="•"/>
            </a:pPr>
            <a:r>
              <a:rPr lang="tr-TR" sz="1200" dirty="0"/>
              <a:t>Analistlerin hata loglarını incelerken yazılımcıya ihtiyaç duymadan hatayı hızlıca tespit edebilmesi.</a:t>
            </a:r>
            <a:br>
              <a:rPr lang="tr-TR" sz="1200" dirty="0"/>
            </a:br>
            <a:endParaRPr lang="tr-TR" sz="1200" dirty="0"/>
          </a:p>
          <a:p>
            <a:pPr marL="228600" indent="-228600">
              <a:spcAft>
                <a:spcPts val="600"/>
              </a:spcAft>
              <a:buFont typeface="Arial"/>
              <a:buChar char="•"/>
            </a:pPr>
            <a:r>
              <a:rPr lang="tr-TR" sz="1200" dirty="0"/>
              <a:t>Analiz dokümanı yüklenerek test case'lerin hızlıca oluşturulması.</a:t>
            </a:r>
            <a:br>
              <a:rPr lang="tr-TR" sz="1200" dirty="0"/>
            </a:br>
            <a:endParaRPr lang="tr-TR" sz="1200" dirty="0"/>
          </a:p>
          <a:p>
            <a:pPr marL="228600" indent="-228600">
              <a:spcAft>
                <a:spcPts val="600"/>
              </a:spcAft>
              <a:buFont typeface="Arial"/>
              <a:buChar char="•"/>
            </a:pPr>
            <a:r>
              <a:rPr lang="tr-TR" sz="1200" dirty="0"/>
              <a:t>Uzun analiz dokümanlarında bir iş kuralını elle aramak yerine soruyu sorup cevabı dokümandaki kaynağıyla birlikte almak.</a:t>
            </a:r>
            <a:br>
              <a:rPr lang="tr-TR" sz="1200" dirty="0"/>
            </a:br>
            <a:endParaRPr lang="tr-TR" sz="1200" dirty="0"/>
          </a:p>
          <a:p>
            <a:pPr marL="228600" indent="-228600">
              <a:spcAft>
                <a:spcPts val="600"/>
              </a:spcAft>
              <a:buFont typeface="Arial"/>
              <a:buChar char="•"/>
            </a:pPr>
            <a:r>
              <a:rPr lang="tr-TR" sz="1200" dirty="0"/>
              <a:t>Analiz dosyası yüklenerek eksik ve çelişkili noktaların tespit edilmesi.</a:t>
            </a:r>
            <a:br>
              <a:rPr lang="tr-TR" sz="1200" dirty="0"/>
            </a:br>
            <a:endParaRPr lang="tr-TR"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tr-TR" sz="1200" dirty="0"/>
              <a:t>Klasik RAG yapılarında arama embedding modelleriyle yapılır. Embedding modeli her metin parçasını, anlamını temsil eden sayılardan oluşan bir vektöre çevirir. Soru da aynı şekilde vektöre çevrilir ve anlamca en yakın parçalar bulunur. Bu sayede 'kredi' ile 'borçlanma' gibi farklı kelimelerle yazılmış ama aynı şeyi anlatan metinler de eşleşebilir.</a:t>
            </a:r>
          </a:p>
          <a:p>
            <a:pPr>
              <a:spcAft>
                <a:spcPts val="600"/>
              </a:spcAft>
            </a:pPr>
            <a:r>
              <a:rPr lang="tr-TR" sz="1200" dirty="0"/>
              <a:t>Bizim kurum içinde erişebildiğimiz bir embedding modeli yoktu. Bu yüzden aramayı embedding yerine, tamamen tarayıcıda çalışan ve kelime eşleşmesine dayanan bir algoritmayla kurduk.</a:t>
            </a:r>
          </a:p>
          <a:p>
            <a:pPr>
              <a:spcAft>
                <a:spcPts val="600"/>
              </a:spcAft>
            </a:pPr>
            <a:endParaRPr lang="tr-TR" sz="1200" dirty="0"/>
          </a:p>
          <a:p>
            <a:pPr>
              <a:spcAft>
                <a:spcPts val="600"/>
              </a:spcAft>
            </a:pPr>
            <a:r>
              <a:rPr lang="tr-TR" sz="1200" dirty="0"/>
              <a:t>Belge yüklendiğinde metin 800 karakterlik, 100 karakter örtüşmeli parçalara bölünüyor ve tarayıcının IndexedDB alanına kaydediliyor. Örtüşme sayesinde bir cümle iki parçanın sınırına denk gelse bile kaybolmuyor.</a:t>
            </a:r>
          </a:p>
          <a:p>
            <a:pPr>
              <a:spcAft>
                <a:spcPts val="600"/>
              </a:spcAft>
            </a:pPr>
            <a:endParaRPr lang="tr-TR" sz="1200" dirty="0"/>
          </a:p>
          <a:p>
            <a:pPr>
              <a:spcAft>
                <a:spcPts val="600"/>
              </a:spcAft>
            </a:pPr>
            <a:r>
              <a:rPr lang="tr-TR" sz="1200" dirty="0"/>
              <a:t>Türkçe çekim ekleri eşleşmeyi bozmasın diye her kelimenin ilk 4 harfi alınıyor. Örneğin 'Kredilerde vade sınırı nedir?' sorusu 'kred', 'vade' ve 'sını' köklerine dönüşüyor; böylece arama yaparken 'kredi', 'krediler' ve 'kredilerde' aynı kök üzerinden eşleşiyor.</a:t>
            </a:r>
            <a:br>
              <a:rPr lang="tr-TR" sz="1200" dirty="0"/>
            </a:br>
            <a:endParaRPr lang="tr-TR" sz="1200" dirty="0"/>
          </a:p>
          <a:p>
            <a:pPr>
              <a:spcAft>
                <a:spcPts val="600"/>
              </a:spcAft>
            </a:pPr>
            <a:r>
              <a:rPr lang="tr-TR" sz="1200" dirty="0"/>
              <a:t>Ardından Okapi BM25 algoritmasıyla her parçaya bir skor veriliyor. BM25 üç şeye bakıyor: Az geçen, ayırt edici kelimeler daha değerli sayılıyor; bir kelimenin parçada geçme sayısı skoru artırıyor ama belli bir noktadan sonra etkisi azalıyor; uzun parçalar da sırf uzun oldukları için öne geçemiyor. En yüksek skorlu 8 parça bağlam olarak modele gönderiliyor.</a:t>
            </a:r>
          </a:p>
          <a:p>
            <a:pPr>
              <a:spcAft>
                <a:spcPts val="600"/>
              </a:spcAft>
            </a:pPr>
            <a:endParaRPr lang="tr-TR" sz="1200" dirty="0"/>
          </a:p>
          <a:p>
            <a:pPr>
              <a:spcAft>
                <a:spcPts val="600"/>
              </a:spcAft>
            </a:pPr>
            <a:r>
              <a:rPr lang="tr-TR" sz="1200" dirty="0"/>
              <a:t>Eşanlamlı kelimeleri embedding kadar iyi yakalayamıyor. Buna karşılık ek bir model ya da sunucu gerektirmiyor, maliyeti yok ve veri cihazdan çıkmıyor. Kurum içinde bir embedding modeli erişime açıldığında arama katmanı buna geçirilebilir.</a:t>
            </a:r>
          </a:p>
          <a:p>
            <a:pPr>
              <a:spcAft>
                <a:spcPts val="600"/>
              </a:spcAft>
            </a:pPr>
            <a:endParaRPr lang="tr-TR" sz="1200" dirty="0"/>
          </a:p>
          <a:p>
            <a:pPr>
              <a:spcAft>
                <a:spcPts val="600"/>
              </a:spcAft>
            </a:pPr>
            <a:r>
              <a:rPr lang="tr-TR" sz="1200" dirty="0"/>
              <a:t>Şimdi bu akışın uygulamadaki karşılığını gösteriyorum.</a:t>
            </a:r>
          </a:p>
          <a:p>
            <a:pPr>
              <a:spcAft>
                <a:spcPts val="600"/>
              </a:spcAft>
            </a:pPr>
            <a:endParaRPr lang="tr-TR" sz="1200" dirty="0"/>
          </a:p>
        </p:txBody>
      </p:sp>
      <p:sp>
        <p:nvSpPr>
          <p:cNvPr id="4" name="Slide Number Placeholder 3"/>
          <p:cNvSpPr>
            <a:spLocks noGrp="1"/>
          </p:cNvSpPr>
          <p:nvPr>
            <p:ph type="sldNum" sz="quarter" idx="10"/>
          </p:nvPr>
        </p:nvSpPr>
        <p:spPr/>
        <p:txBody>
          <a:bodyPr/>
          <a:lstStyle/>
          <a:p>
            <a:fld id="{F7021451-1387-4CA6-816F-3879F97B5CBC}" type="slidenum">
              <a:rPr lang="tr-TR"/>
              <a:t>6</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a:t>Bir </a:t>
            </a:r>
            <a:r>
              <a:rPr sz="1200" dirty="0" err="1"/>
              <a:t>önceki</a:t>
            </a:r>
            <a:r>
              <a:rPr sz="1200" dirty="0"/>
              <a:t> </a:t>
            </a:r>
            <a:r>
              <a:rPr sz="1200" dirty="0" err="1"/>
              <a:t>diyagramdaki</a:t>
            </a:r>
            <a:r>
              <a:rPr sz="1200" dirty="0"/>
              <a:t> </a:t>
            </a:r>
            <a:r>
              <a:rPr sz="1200" dirty="0" err="1"/>
              <a:t>iki</a:t>
            </a:r>
            <a:r>
              <a:rPr sz="1200" dirty="0"/>
              <a:t> </a:t>
            </a:r>
            <a:r>
              <a:rPr sz="1200" dirty="0" err="1"/>
              <a:t>adımı</a:t>
            </a:r>
            <a:r>
              <a:rPr sz="1200" dirty="0"/>
              <a:t> </a:t>
            </a:r>
            <a:r>
              <a:rPr sz="1200" dirty="0" err="1"/>
              <a:t>burada</a:t>
            </a:r>
            <a:r>
              <a:rPr sz="1200" dirty="0"/>
              <a:t> </a:t>
            </a:r>
            <a:r>
              <a:rPr sz="1200" dirty="0" err="1"/>
              <a:t>uygulama</a:t>
            </a:r>
            <a:r>
              <a:rPr sz="1200" dirty="0"/>
              <a:t> </a:t>
            </a:r>
            <a:r>
              <a:rPr sz="1200" dirty="0" err="1"/>
              <a:t>üzerinde</a:t>
            </a:r>
            <a:r>
              <a:rPr sz="1200" dirty="0"/>
              <a:t> </a:t>
            </a:r>
            <a:r>
              <a:rPr sz="1200" dirty="0" err="1"/>
              <a:t>görüyoruz</a:t>
            </a:r>
            <a:r>
              <a:rPr sz="1200" dirty="0"/>
              <a:t>.</a:t>
            </a:r>
          </a:p>
          <a:p>
            <a:pPr>
              <a:spcAft>
                <a:spcPts val="600"/>
              </a:spcAft>
            </a:pPr>
            <a:r>
              <a:rPr sz="1200" dirty="0"/>
              <a:t>Solda </a:t>
            </a:r>
            <a:r>
              <a:rPr sz="1200" dirty="0" err="1"/>
              <a:t>indeksleme</a:t>
            </a:r>
            <a:r>
              <a:rPr sz="1200" dirty="0"/>
              <a:t> </a:t>
            </a:r>
            <a:r>
              <a:rPr sz="1200" dirty="0" err="1"/>
              <a:t>adımı</a:t>
            </a:r>
            <a:r>
              <a:rPr sz="1200" dirty="0"/>
              <a:t> var. Bilgi </a:t>
            </a:r>
            <a:r>
              <a:rPr sz="1200" dirty="0" err="1"/>
              <a:t>tabanına</a:t>
            </a:r>
            <a:r>
              <a:rPr sz="1200" dirty="0"/>
              <a:t> </a:t>
            </a:r>
            <a:r>
              <a:rPr sz="1200" dirty="0" err="1"/>
              <a:t>yüklenen</a:t>
            </a:r>
            <a:r>
              <a:rPr sz="1200" dirty="0"/>
              <a:t> ÖFS </a:t>
            </a:r>
            <a:r>
              <a:rPr sz="1200" dirty="0" err="1"/>
              <a:t>analiz</a:t>
            </a:r>
            <a:r>
              <a:rPr sz="1200" dirty="0"/>
              <a:t> </a:t>
            </a:r>
            <a:r>
              <a:rPr sz="1200" dirty="0" err="1"/>
              <a:t>dokümanı</a:t>
            </a:r>
            <a:r>
              <a:rPr sz="1200" dirty="0"/>
              <a:t> 270 </a:t>
            </a:r>
            <a:r>
              <a:rPr sz="1200" dirty="0" err="1"/>
              <a:t>parçaya</a:t>
            </a:r>
            <a:r>
              <a:rPr sz="1200" dirty="0"/>
              <a:t> </a:t>
            </a:r>
            <a:r>
              <a:rPr sz="1200" dirty="0" err="1"/>
              <a:t>bölünmüş</a:t>
            </a:r>
            <a:r>
              <a:rPr sz="1200" dirty="0"/>
              <a:t>.</a:t>
            </a:r>
            <a:endParaRPr lang="tr-TR" sz="1200" dirty="0"/>
          </a:p>
          <a:p>
            <a:pPr>
              <a:spcAft>
                <a:spcPts val="600"/>
              </a:spcAft>
            </a:pPr>
            <a:endParaRPr sz="1200" dirty="0"/>
          </a:p>
          <a:p>
            <a:pPr>
              <a:spcAft>
                <a:spcPts val="600"/>
              </a:spcAft>
            </a:pPr>
            <a:r>
              <a:rPr sz="1200" dirty="0" err="1"/>
              <a:t>Sağda</a:t>
            </a:r>
            <a:r>
              <a:rPr sz="1200" dirty="0"/>
              <a:t> </a:t>
            </a:r>
            <a:r>
              <a:rPr sz="1200" dirty="0" err="1"/>
              <a:t>sorgu</a:t>
            </a:r>
            <a:r>
              <a:rPr sz="1200" dirty="0"/>
              <a:t> </a:t>
            </a:r>
            <a:r>
              <a:rPr sz="1200" dirty="0" err="1"/>
              <a:t>adımı</a:t>
            </a:r>
            <a:r>
              <a:rPr sz="1200" dirty="0"/>
              <a:t> var. '</a:t>
            </a:r>
            <a:r>
              <a:rPr sz="1200" dirty="0" err="1"/>
              <a:t>Rapor</a:t>
            </a:r>
            <a:r>
              <a:rPr sz="1200" dirty="0"/>
              <a:t> </a:t>
            </a:r>
            <a:r>
              <a:rPr sz="1200" dirty="0" err="1"/>
              <a:t>oluşturmada</a:t>
            </a:r>
            <a:r>
              <a:rPr sz="1200" dirty="0"/>
              <a:t> </a:t>
            </a:r>
            <a:r>
              <a:rPr sz="1200" dirty="0" err="1"/>
              <a:t>maksimum</a:t>
            </a:r>
            <a:r>
              <a:rPr sz="1200" dirty="0"/>
              <a:t> </a:t>
            </a:r>
            <a:r>
              <a:rPr sz="1200" dirty="0" err="1"/>
              <a:t>tarih</a:t>
            </a:r>
            <a:r>
              <a:rPr sz="1200" dirty="0"/>
              <a:t> </a:t>
            </a:r>
            <a:r>
              <a:rPr sz="1200" dirty="0" err="1"/>
              <a:t>aralığı</a:t>
            </a:r>
            <a:r>
              <a:rPr sz="1200" dirty="0"/>
              <a:t> ne </a:t>
            </a:r>
            <a:r>
              <a:rPr sz="1200" dirty="0" err="1"/>
              <a:t>kadar</a:t>
            </a:r>
            <a:r>
              <a:rPr sz="1200" dirty="0"/>
              <a:t>?' </a:t>
            </a:r>
            <a:r>
              <a:rPr sz="1200" dirty="0" err="1"/>
              <a:t>diye</a:t>
            </a:r>
            <a:r>
              <a:rPr sz="1200" dirty="0"/>
              <a:t> </a:t>
            </a:r>
            <a:r>
              <a:rPr sz="1200" dirty="0" err="1"/>
              <a:t>sorduk</a:t>
            </a:r>
            <a:r>
              <a:rPr sz="1200" dirty="0"/>
              <a:t>. </a:t>
            </a:r>
            <a:r>
              <a:rPr sz="1200" dirty="0" err="1"/>
              <a:t>Algoritma</a:t>
            </a:r>
            <a:r>
              <a:rPr sz="1200" dirty="0"/>
              <a:t> </a:t>
            </a:r>
            <a:r>
              <a:rPr sz="1200" dirty="0" err="1"/>
              <a:t>en</a:t>
            </a:r>
            <a:r>
              <a:rPr sz="1200" dirty="0"/>
              <a:t> </a:t>
            </a:r>
            <a:r>
              <a:rPr sz="1200" dirty="0" err="1"/>
              <a:t>alakalı</a:t>
            </a:r>
            <a:r>
              <a:rPr sz="1200" dirty="0"/>
              <a:t> </a:t>
            </a:r>
            <a:r>
              <a:rPr sz="1200" dirty="0" err="1"/>
              <a:t>parçaları</a:t>
            </a:r>
            <a:r>
              <a:rPr sz="1200" dirty="0"/>
              <a:t> </a:t>
            </a:r>
            <a:r>
              <a:rPr sz="1200" dirty="0" err="1"/>
              <a:t>seçiyor</a:t>
            </a:r>
            <a:r>
              <a:rPr sz="1200" dirty="0"/>
              <a:t> </a:t>
            </a:r>
            <a:r>
              <a:rPr sz="1200" dirty="0" err="1"/>
              <a:t>ve</a:t>
            </a:r>
            <a:r>
              <a:rPr sz="1200" dirty="0"/>
              <a:t> model </a:t>
            </a:r>
            <a:r>
              <a:rPr sz="1200" dirty="0" err="1"/>
              <a:t>yanıtını</a:t>
            </a:r>
            <a:r>
              <a:rPr sz="1200" dirty="0"/>
              <a:t> </a:t>
            </a:r>
            <a:r>
              <a:rPr sz="1200" dirty="0" err="1"/>
              <a:t>bu</a:t>
            </a:r>
            <a:r>
              <a:rPr sz="1200" dirty="0"/>
              <a:t> </a:t>
            </a:r>
            <a:r>
              <a:rPr sz="1200" dirty="0" err="1"/>
              <a:t>parçalara</a:t>
            </a:r>
            <a:r>
              <a:rPr sz="1200" dirty="0"/>
              <a:t> </a:t>
            </a:r>
            <a:r>
              <a:rPr sz="1200" dirty="0" err="1"/>
              <a:t>dayandırıyor</a:t>
            </a:r>
            <a:r>
              <a:rPr sz="1200" dirty="0"/>
              <a:t>.</a:t>
            </a:r>
          </a:p>
          <a:p>
            <a:pPr>
              <a:spcAft>
                <a:spcPts val="600"/>
              </a:spcAft>
            </a:pPr>
            <a:endParaRPr lang="tr-TR" sz="1200" dirty="0"/>
          </a:p>
          <a:p>
            <a:pPr>
              <a:spcAft>
                <a:spcPts val="600"/>
              </a:spcAft>
            </a:pPr>
            <a:r>
              <a:rPr sz="1200" dirty="0" err="1"/>
              <a:t>Yanıtta</a:t>
            </a:r>
            <a:r>
              <a:rPr sz="1200" dirty="0"/>
              <a:t> </a:t>
            </a:r>
            <a:r>
              <a:rPr sz="1200" dirty="0" err="1"/>
              <a:t>borçlu</a:t>
            </a:r>
            <a:r>
              <a:rPr sz="1200" dirty="0"/>
              <a:t> </a:t>
            </a:r>
            <a:r>
              <a:rPr sz="1200" dirty="0" err="1"/>
              <a:t>raporları</a:t>
            </a:r>
            <a:r>
              <a:rPr sz="1200" dirty="0"/>
              <a:t> </a:t>
            </a:r>
            <a:r>
              <a:rPr sz="1200" dirty="0" err="1"/>
              <a:t>için</a:t>
            </a:r>
            <a:r>
              <a:rPr sz="1200" dirty="0"/>
              <a:t> </a:t>
            </a:r>
            <a:r>
              <a:rPr sz="1200" dirty="0" err="1"/>
              <a:t>en</a:t>
            </a:r>
            <a:r>
              <a:rPr sz="1200" dirty="0"/>
              <a:t> </a:t>
            </a:r>
            <a:r>
              <a:rPr sz="1200" dirty="0" err="1"/>
              <a:t>fazla</a:t>
            </a:r>
            <a:r>
              <a:rPr sz="1200" dirty="0"/>
              <a:t> </a:t>
            </a:r>
            <a:r>
              <a:rPr sz="1200" dirty="0" err="1"/>
              <a:t>bir</a:t>
            </a:r>
            <a:r>
              <a:rPr sz="1200" dirty="0"/>
              <a:t> ay, </a:t>
            </a:r>
            <a:r>
              <a:rPr sz="1200" dirty="0" err="1"/>
              <a:t>alacaklı</a:t>
            </a:r>
            <a:r>
              <a:rPr sz="1200" dirty="0"/>
              <a:t> </a:t>
            </a:r>
            <a:r>
              <a:rPr sz="1200" dirty="0" err="1"/>
              <a:t>raporları</a:t>
            </a:r>
            <a:r>
              <a:rPr sz="1200" dirty="0"/>
              <a:t> </a:t>
            </a:r>
            <a:r>
              <a:rPr sz="1200" dirty="0" err="1"/>
              <a:t>için</a:t>
            </a:r>
            <a:r>
              <a:rPr sz="1200" dirty="0"/>
              <a:t> </a:t>
            </a:r>
            <a:r>
              <a:rPr sz="1200" dirty="0" err="1"/>
              <a:t>en</a:t>
            </a:r>
            <a:r>
              <a:rPr sz="1200" dirty="0"/>
              <a:t> </a:t>
            </a:r>
            <a:r>
              <a:rPr sz="1200" dirty="0" err="1"/>
              <a:t>fazla</a:t>
            </a:r>
            <a:r>
              <a:rPr sz="1200" dirty="0"/>
              <a:t> </a:t>
            </a:r>
            <a:r>
              <a:rPr sz="1200" dirty="0" err="1"/>
              <a:t>bir</a:t>
            </a:r>
            <a:r>
              <a:rPr sz="1200" dirty="0"/>
              <a:t> </a:t>
            </a:r>
            <a:r>
              <a:rPr sz="1200" dirty="0" err="1"/>
              <a:t>yıl</a:t>
            </a:r>
            <a:r>
              <a:rPr sz="1200" dirty="0"/>
              <a:t> </a:t>
            </a:r>
            <a:r>
              <a:rPr sz="1200" dirty="0" err="1"/>
              <a:t>sınırı</a:t>
            </a:r>
            <a:r>
              <a:rPr sz="1200" dirty="0"/>
              <a:t> </a:t>
            </a:r>
            <a:r>
              <a:rPr sz="1200" dirty="0" err="1"/>
              <a:t>geliyor</a:t>
            </a:r>
            <a:r>
              <a:rPr sz="1200" dirty="0"/>
              <a:t>. Bu </a:t>
            </a:r>
            <a:r>
              <a:rPr sz="1200" dirty="0" err="1"/>
              <a:t>bilgiler</a:t>
            </a:r>
            <a:r>
              <a:rPr sz="1200" dirty="0"/>
              <a:t> </a:t>
            </a:r>
            <a:r>
              <a:rPr sz="1200" dirty="0" err="1"/>
              <a:t>doğrudan</a:t>
            </a:r>
            <a:r>
              <a:rPr sz="1200" dirty="0"/>
              <a:t> </a:t>
            </a:r>
            <a:r>
              <a:rPr sz="1200" dirty="0" err="1"/>
              <a:t>dokümandaki</a:t>
            </a:r>
            <a:r>
              <a:rPr sz="1200" dirty="0"/>
              <a:t> </a:t>
            </a:r>
            <a:r>
              <a:rPr sz="1200" dirty="0" err="1"/>
              <a:t>kurallardan</a:t>
            </a:r>
            <a:r>
              <a:rPr sz="1200" dirty="0"/>
              <a:t> </a:t>
            </a:r>
            <a:r>
              <a:rPr sz="1200" dirty="0" err="1"/>
              <a:t>alınıyor</a:t>
            </a:r>
            <a:r>
              <a:rPr sz="1200" dirty="0"/>
              <a:t>.</a:t>
            </a:r>
          </a:p>
        </p:txBody>
      </p:sp>
      <p:sp>
        <p:nvSpPr>
          <p:cNvPr id="4" name="Slide Number Placeholder 3"/>
          <p:cNvSpPr>
            <a:spLocks noGrp="1"/>
          </p:cNvSpPr>
          <p:nvPr>
            <p:ph type="sldNum" sz="quarter" idx="10"/>
          </p:nvPr>
        </p:nvSpPr>
        <p:spPr/>
        <p:txBody>
          <a:bodyPr/>
          <a:lstStyle/>
          <a:p>
            <a:fld id="{F7021451-1387-4CA6-816F-3879F97B5CBC}" type="slidenum">
              <a:rPr lang="tr-TR"/>
              <a:t>7</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err="1"/>
              <a:t>Verilerin</a:t>
            </a:r>
            <a:r>
              <a:rPr sz="1200" dirty="0"/>
              <a:t> </a:t>
            </a:r>
            <a:r>
              <a:rPr sz="1200" dirty="0" err="1"/>
              <a:t>nerede</a:t>
            </a:r>
            <a:r>
              <a:rPr sz="1200" dirty="0"/>
              <a:t> </a:t>
            </a:r>
            <a:r>
              <a:rPr sz="1200" dirty="0" err="1"/>
              <a:t>tutulduğunu</a:t>
            </a:r>
            <a:r>
              <a:rPr sz="1200" dirty="0"/>
              <a:t> da </a:t>
            </a:r>
            <a:r>
              <a:rPr sz="1200" dirty="0" err="1"/>
              <a:t>göstermek</a:t>
            </a:r>
            <a:r>
              <a:rPr sz="1200" dirty="0"/>
              <a:t> </a:t>
            </a:r>
            <a:r>
              <a:rPr sz="1200" dirty="0" err="1"/>
              <a:t>istedim</a:t>
            </a:r>
            <a:r>
              <a:rPr sz="1200" dirty="0"/>
              <a:t>.</a:t>
            </a:r>
          </a:p>
          <a:p>
            <a:pPr>
              <a:spcAft>
                <a:spcPts val="600"/>
              </a:spcAft>
            </a:pPr>
            <a:r>
              <a:rPr sz="1200" dirty="0"/>
              <a:t>Solda </a:t>
            </a:r>
            <a:r>
              <a:rPr sz="1200" dirty="0" err="1"/>
              <a:t>sohbet</a:t>
            </a:r>
            <a:r>
              <a:rPr sz="1200" dirty="0"/>
              <a:t>, </a:t>
            </a:r>
            <a:r>
              <a:rPr sz="1200" dirty="0" err="1"/>
              <a:t>sağda</a:t>
            </a:r>
            <a:r>
              <a:rPr sz="1200" dirty="0"/>
              <a:t> </a:t>
            </a:r>
            <a:r>
              <a:rPr sz="1200" dirty="0" err="1"/>
              <a:t>tarayıcının</a:t>
            </a:r>
            <a:r>
              <a:rPr sz="1200" dirty="0"/>
              <a:t> </a:t>
            </a:r>
            <a:r>
              <a:rPr sz="1200" dirty="0" err="1"/>
              <a:t>geliştirici</a:t>
            </a:r>
            <a:r>
              <a:rPr sz="1200" dirty="0"/>
              <a:t> </a:t>
            </a:r>
            <a:r>
              <a:rPr sz="1200" dirty="0" err="1"/>
              <a:t>araçları</a:t>
            </a:r>
            <a:r>
              <a:rPr sz="1200" dirty="0"/>
              <a:t> </a:t>
            </a:r>
            <a:r>
              <a:rPr sz="1200" dirty="0" err="1"/>
              <a:t>açık</a:t>
            </a:r>
            <a:r>
              <a:rPr sz="1200" dirty="0"/>
              <a:t>. </a:t>
            </a:r>
            <a:r>
              <a:rPr sz="1200" dirty="0" err="1"/>
              <a:t>Tarayıcıdaki</a:t>
            </a:r>
            <a:r>
              <a:rPr sz="1200" dirty="0"/>
              <a:t> </a:t>
            </a:r>
            <a:r>
              <a:rPr sz="1200" dirty="0" err="1"/>
              <a:t>veritabanının</a:t>
            </a:r>
            <a:r>
              <a:rPr sz="1200" dirty="0"/>
              <a:t> </a:t>
            </a:r>
            <a:r>
              <a:rPr sz="1200" dirty="0" err="1"/>
              <a:t>parçalar</a:t>
            </a:r>
            <a:r>
              <a:rPr sz="1200" dirty="0"/>
              <a:t> </a:t>
            </a:r>
            <a:r>
              <a:rPr sz="1200" dirty="0" err="1"/>
              <a:t>tablosunda</a:t>
            </a:r>
            <a:r>
              <a:rPr sz="1200" dirty="0"/>
              <a:t>, ÖFS </a:t>
            </a:r>
            <a:r>
              <a:rPr sz="1200" dirty="0" err="1"/>
              <a:t>dokümanının</a:t>
            </a:r>
            <a:r>
              <a:rPr sz="1200" dirty="0"/>
              <a:t> 270 </a:t>
            </a:r>
            <a:r>
              <a:rPr sz="1200" dirty="0" err="1"/>
              <a:t>parçası</a:t>
            </a:r>
            <a:r>
              <a:rPr sz="1200" dirty="0"/>
              <a:t> </a:t>
            </a:r>
            <a:r>
              <a:rPr sz="1200" dirty="0" err="1"/>
              <a:t>sırayla</a:t>
            </a:r>
            <a:r>
              <a:rPr sz="1200" dirty="0"/>
              <a:t> </a:t>
            </a:r>
            <a:r>
              <a:rPr sz="1200" dirty="0" err="1"/>
              <a:t>duruyor</a:t>
            </a:r>
            <a:r>
              <a:rPr sz="1200" dirty="0"/>
              <a:t>.</a:t>
            </a:r>
            <a:endParaRPr lang="tr-TR" sz="1200" dirty="0"/>
          </a:p>
          <a:p>
            <a:pPr>
              <a:spcAft>
                <a:spcPts val="600"/>
              </a:spcAft>
            </a:pPr>
            <a:endParaRPr sz="1200" dirty="0"/>
          </a:p>
          <a:p>
            <a:pPr>
              <a:spcAft>
                <a:spcPts val="600"/>
              </a:spcAft>
            </a:pPr>
            <a:r>
              <a:rPr sz="1200" dirty="0"/>
              <a:t>Her </a:t>
            </a:r>
            <a:r>
              <a:rPr sz="1200" dirty="0" err="1"/>
              <a:t>kayıtta</a:t>
            </a:r>
            <a:r>
              <a:rPr sz="1200" dirty="0"/>
              <a:t> </a:t>
            </a:r>
            <a:r>
              <a:rPr sz="1200" dirty="0" err="1"/>
              <a:t>yalnızca</a:t>
            </a:r>
            <a:r>
              <a:rPr sz="1200" dirty="0"/>
              <a:t> </a:t>
            </a:r>
            <a:r>
              <a:rPr sz="1200" dirty="0" err="1"/>
              <a:t>kimlik</a:t>
            </a:r>
            <a:r>
              <a:rPr sz="1200" dirty="0"/>
              <a:t> </a:t>
            </a:r>
            <a:r>
              <a:rPr sz="1200" dirty="0" err="1"/>
              <a:t>bilgileri</a:t>
            </a:r>
            <a:r>
              <a:rPr sz="1200" dirty="0"/>
              <a:t>, </a:t>
            </a:r>
            <a:r>
              <a:rPr sz="1200" dirty="0" err="1"/>
              <a:t>sıra</a:t>
            </a:r>
            <a:r>
              <a:rPr sz="1200" dirty="0"/>
              <a:t> </a:t>
            </a:r>
            <a:r>
              <a:rPr sz="1200" dirty="0" err="1"/>
              <a:t>numarası</a:t>
            </a:r>
            <a:r>
              <a:rPr sz="1200" dirty="0"/>
              <a:t> </a:t>
            </a:r>
            <a:r>
              <a:rPr sz="1200" dirty="0" err="1"/>
              <a:t>ve</a:t>
            </a:r>
            <a:r>
              <a:rPr sz="1200" dirty="0"/>
              <a:t> </a:t>
            </a:r>
            <a:r>
              <a:rPr sz="1200" dirty="0" err="1"/>
              <a:t>metin</a:t>
            </a:r>
            <a:r>
              <a:rPr sz="1200" dirty="0"/>
              <a:t> var. Embedding </a:t>
            </a:r>
            <a:r>
              <a:rPr sz="1200" dirty="0" err="1"/>
              <a:t>ya</a:t>
            </a:r>
            <a:r>
              <a:rPr sz="1200" dirty="0"/>
              <a:t> da </a:t>
            </a:r>
            <a:r>
              <a:rPr sz="1200" dirty="0" err="1"/>
              <a:t>vektör</a:t>
            </a:r>
            <a:r>
              <a:rPr sz="1200" dirty="0"/>
              <a:t> yok.</a:t>
            </a:r>
            <a:endParaRPr lang="tr-TR" sz="1200" dirty="0"/>
          </a:p>
          <a:p>
            <a:pPr>
              <a:spcAft>
                <a:spcPts val="600"/>
              </a:spcAft>
            </a:pPr>
            <a:endParaRPr sz="1200" dirty="0"/>
          </a:p>
          <a:p>
            <a:pPr>
              <a:spcAft>
                <a:spcPts val="600"/>
              </a:spcAft>
            </a:pPr>
            <a:r>
              <a:rPr sz="1200" dirty="0"/>
              <a:t>Bu </a:t>
            </a:r>
            <a:r>
              <a:rPr sz="1200" dirty="0" err="1"/>
              <a:t>veri</a:t>
            </a:r>
            <a:r>
              <a:rPr sz="1200" dirty="0"/>
              <a:t> </a:t>
            </a:r>
            <a:r>
              <a:rPr sz="1200" dirty="0" err="1"/>
              <a:t>sunucuya</a:t>
            </a:r>
            <a:r>
              <a:rPr sz="1200" dirty="0"/>
              <a:t> </a:t>
            </a:r>
            <a:r>
              <a:rPr sz="1200" dirty="0" err="1"/>
              <a:t>gitmiyor</a:t>
            </a:r>
            <a:r>
              <a:rPr sz="1200" dirty="0"/>
              <a:t>, </a:t>
            </a:r>
            <a:r>
              <a:rPr sz="1200" dirty="0" err="1"/>
              <a:t>bu</a:t>
            </a:r>
            <a:r>
              <a:rPr sz="1200" dirty="0"/>
              <a:t> </a:t>
            </a:r>
            <a:r>
              <a:rPr sz="1200" dirty="0" err="1"/>
              <a:t>cihazın</a:t>
            </a:r>
            <a:r>
              <a:rPr sz="1200" dirty="0"/>
              <a:t> </a:t>
            </a:r>
            <a:r>
              <a:rPr sz="1200" dirty="0" err="1"/>
              <a:t>tarayıcısında</a:t>
            </a:r>
            <a:r>
              <a:rPr sz="1200" dirty="0"/>
              <a:t> </a:t>
            </a:r>
            <a:r>
              <a:rPr sz="1200" dirty="0" err="1"/>
              <a:t>kalıyor</a:t>
            </a:r>
            <a:r>
              <a:rPr sz="1200" dirty="0"/>
              <a:t>.</a:t>
            </a:r>
            <a:endParaRPr lang="tr-TR" sz="1200" dirty="0"/>
          </a:p>
          <a:p>
            <a:pPr>
              <a:spcAft>
                <a:spcPts val="600"/>
              </a:spcAft>
            </a:pPr>
            <a:endParaRPr sz="1200" dirty="0"/>
          </a:p>
          <a:p>
            <a:pPr>
              <a:spcAft>
                <a:spcPts val="600"/>
              </a:spcAft>
            </a:pPr>
            <a:r>
              <a:rPr sz="1200" dirty="0" err="1"/>
              <a:t>Şimdi</a:t>
            </a:r>
            <a:r>
              <a:rPr sz="1200" dirty="0"/>
              <a:t> </a:t>
            </a:r>
            <a:r>
              <a:rPr sz="1200" dirty="0" err="1"/>
              <a:t>ikinci</a:t>
            </a:r>
            <a:r>
              <a:rPr sz="1200" dirty="0"/>
              <a:t> </a:t>
            </a:r>
            <a:r>
              <a:rPr sz="1200" dirty="0" err="1"/>
              <a:t>proje</a:t>
            </a:r>
            <a:r>
              <a:rPr sz="1200" dirty="0"/>
              <a:t> </a:t>
            </a:r>
            <a:r>
              <a:rPr sz="1200" dirty="0" err="1"/>
              <a:t>olan</a:t>
            </a:r>
            <a:r>
              <a:rPr sz="1200" dirty="0"/>
              <a:t> Swagger </a:t>
            </a:r>
            <a:r>
              <a:rPr sz="1200" dirty="0" err="1"/>
              <a:t>Generator'a</a:t>
            </a:r>
            <a:r>
              <a:rPr sz="1200" dirty="0"/>
              <a:t> </a:t>
            </a:r>
            <a:r>
              <a:rPr sz="1200" dirty="0" err="1"/>
              <a:t>geçiyorum</a:t>
            </a:r>
            <a:r>
              <a:rPr sz="1200" dirty="0"/>
              <a:t>.</a:t>
            </a:r>
          </a:p>
        </p:txBody>
      </p:sp>
      <p:sp>
        <p:nvSpPr>
          <p:cNvPr id="4" name="Slide Number Placeholder 3"/>
          <p:cNvSpPr>
            <a:spLocks noGrp="1"/>
          </p:cNvSpPr>
          <p:nvPr>
            <p:ph type="sldNum" sz="quarter" idx="10"/>
          </p:nvPr>
        </p:nvSpPr>
        <p:spPr/>
        <p:txBody>
          <a:bodyPr/>
          <a:lstStyle/>
          <a:p>
            <a:fld id="{F7021451-1387-4CA6-816F-3879F97B5CBC}" type="slidenum">
              <a:rPr lang="tr-TR"/>
              <a:t>8</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err="1"/>
              <a:t>İkinci</a:t>
            </a:r>
            <a:r>
              <a:rPr sz="1200" dirty="0"/>
              <a:t> </a:t>
            </a:r>
            <a:r>
              <a:rPr sz="1200" dirty="0" err="1"/>
              <a:t>çalışmamız</a:t>
            </a:r>
            <a:r>
              <a:rPr sz="1200" dirty="0"/>
              <a:t> Swagger Generator IntelliJ </a:t>
            </a:r>
            <a:r>
              <a:rPr sz="1200" dirty="0" err="1"/>
              <a:t>eklentisi</a:t>
            </a:r>
            <a:r>
              <a:rPr sz="1200" dirty="0"/>
              <a:t>. Servis </a:t>
            </a:r>
            <a:r>
              <a:rPr sz="1200" dirty="0" err="1"/>
              <a:t>entegrasyonu</a:t>
            </a:r>
            <a:r>
              <a:rPr sz="1200" dirty="0"/>
              <a:t> hem zaman </a:t>
            </a:r>
            <a:r>
              <a:rPr sz="1200" dirty="0" err="1"/>
              <a:t>alan</a:t>
            </a:r>
            <a:r>
              <a:rPr sz="1200" dirty="0"/>
              <a:t> hem de </a:t>
            </a:r>
            <a:r>
              <a:rPr sz="1200" dirty="0" err="1"/>
              <a:t>hataya</a:t>
            </a:r>
            <a:r>
              <a:rPr sz="1200" dirty="0"/>
              <a:t> </a:t>
            </a:r>
            <a:r>
              <a:rPr sz="1200" dirty="0" err="1"/>
              <a:t>açık</a:t>
            </a:r>
            <a:r>
              <a:rPr sz="1200" dirty="0"/>
              <a:t> </a:t>
            </a:r>
            <a:r>
              <a:rPr sz="1200" dirty="0" err="1"/>
              <a:t>bir</a:t>
            </a:r>
            <a:r>
              <a:rPr sz="1200" dirty="0"/>
              <a:t> </a:t>
            </a:r>
            <a:r>
              <a:rPr sz="1200" dirty="0" err="1"/>
              <a:t>adım</a:t>
            </a:r>
            <a:r>
              <a:rPr sz="1200" dirty="0"/>
              <a:t>.</a:t>
            </a:r>
            <a:endParaRPr lang="tr-TR" sz="1200" dirty="0"/>
          </a:p>
          <a:p>
            <a:pPr>
              <a:spcAft>
                <a:spcPts val="600"/>
              </a:spcAft>
            </a:pPr>
            <a:endParaRPr sz="1200" dirty="0"/>
          </a:p>
          <a:p>
            <a:pPr>
              <a:spcAft>
                <a:spcPts val="600"/>
              </a:spcAft>
            </a:pPr>
            <a:r>
              <a:rPr sz="1200" dirty="0" err="1"/>
              <a:t>Geliştirici</a:t>
            </a:r>
            <a:r>
              <a:rPr sz="1200" dirty="0"/>
              <a:t> Swagger </a:t>
            </a:r>
            <a:r>
              <a:rPr lang="tr-TR" sz="1200" dirty="0"/>
              <a:t>dosyasını</a:t>
            </a:r>
            <a:r>
              <a:rPr sz="1200" dirty="0"/>
              <a:t> </a:t>
            </a:r>
            <a:r>
              <a:rPr sz="1200" dirty="0" err="1"/>
              <a:t>veriyor</a:t>
            </a:r>
            <a:r>
              <a:rPr sz="1200" dirty="0"/>
              <a:t>, </a:t>
            </a:r>
            <a:r>
              <a:rPr sz="1200" dirty="0" err="1"/>
              <a:t>ihtiyaç</a:t>
            </a:r>
            <a:r>
              <a:rPr sz="1200" dirty="0"/>
              <a:t> </a:t>
            </a:r>
            <a:r>
              <a:rPr sz="1200" dirty="0" err="1"/>
              <a:t>duyduğu</a:t>
            </a:r>
            <a:r>
              <a:rPr sz="1200" dirty="0"/>
              <a:t> </a:t>
            </a:r>
            <a:r>
              <a:rPr sz="1200" dirty="0" err="1"/>
              <a:t>servisleri</a:t>
            </a:r>
            <a:r>
              <a:rPr sz="1200" dirty="0"/>
              <a:t> </a:t>
            </a:r>
            <a:r>
              <a:rPr sz="1200" dirty="0" err="1"/>
              <a:t>seçiyor</a:t>
            </a:r>
            <a:r>
              <a:rPr sz="1200" dirty="0"/>
              <a:t> </a:t>
            </a:r>
            <a:r>
              <a:rPr sz="1200" dirty="0" err="1"/>
              <a:t>ve</a:t>
            </a:r>
            <a:r>
              <a:rPr sz="1200" dirty="0"/>
              <a:t> </a:t>
            </a:r>
            <a:r>
              <a:rPr sz="1200" dirty="0" err="1"/>
              <a:t>hedef</a:t>
            </a:r>
            <a:r>
              <a:rPr sz="1200" dirty="0"/>
              <a:t> </a:t>
            </a:r>
            <a:r>
              <a:rPr sz="1200" dirty="0" err="1"/>
              <a:t>paketi</a:t>
            </a:r>
            <a:r>
              <a:rPr sz="1200" dirty="0"/>
              <a:t> </a:t>
            </a:r>
            <a:r>
              <a:rPr sz="1200" dirty="0" err="1"/>
              <a:t>belirliyor</a:t>
            </a:r>
            <a:r>
              <a:rPr sz="1200" dirty="0"/>
              <a:t>. </a:t>
            </a:r>
            <a:r>
              <a:rPr sz="1200" dirty="0" err="1"/>
              <a:t>Gerisini</a:t>
            </a:r>
            <a:r>
              <a:rPr sz="1200" dirty="0"/>
              <a:t> </a:t>
            </a:r>
            <a:r>
              <a:rPr sz="1200" dirty="0" err="1"/>
              <a:t>eklenti</a:t>
            </a:r>
            <a:r>
              <a:rPr sz="1200" dirty="0"/>
              <a:t> </a:t>
            </a:r>
            <a:r>
              <a:rPr sz="1200" dirty="0" err="1"/>
              <a:t>yapıyor</a:t>
            </a:r>
            <a:r>
              <a:rPr sz="1200" dirty="0"/>
              <a:t>.</a:t>
            </a:r>
            <a:endParaRPr lang="tr-TR" sz="1200" dirty="0"/>
          </a:p>
          <a:p>
            <a:pPr>
              <a:spcAft>
                <a:spcPts val="600"/>
              </a:spcAft>
            </a:pPr>
            <a:endParaRPr sz="1200" dirty="0"/>
          </a:p>
          <a:p>
            <a:pPr>
              <a:spcAft>
                <a:spcPts val="600"/>
              </a:spcAft>
            </a:pPr>
            <a:r>
              <a:rPr sz="1200" dirty="0" err="1"/>
              <a:t>Üretilen</a:t>
            </a:r>
            <a:r>
              <a:rPr sz="1200" dirty="0"/>
              <a:t> </a:t>
            </a:r>
            <a:r>
              <a:rPr sz="1200" dirty="0" err="1"/>
              <a:t>kod</a:t>
            </a:r>
            <a:r>
              <a:rPr sz="1200" dirty="0"/>
              <a:t> </a:t>
            </a:r>
            <a:r>
              <a:rPr lang="tr-TR" sz="1200" dirty="0"/>
              <a:t>proje</a:t>
            </a:r>
            <a:r>
              <a:rPr sz="1200" dirty="0"/>
              <a:t> </a:t>
            </a:r>
            <a:r>
              <a:rPr sz="1200" dirty="0" err="1"/>
              <a:t>standartlarına</a:t>
            </a:r>
            <a:r>
              <a:rPr sz="1200" dirty="0"/>
              <a:t> </a:t>
            </a:r>
            <a:r>
              <a:rPr sz="1200" dirty="0" err="1"/>
              <a:t>birebir</a:t>
            </a:r>
            <a:r>
              <a:rPr sz="1200" dirty="0"/>
              <a:t> </a:t>
            </a:r>
            <a:r>
              <a:rPr sz="1200" dirty="0" err="1"/>
              <a:t>uyuyor</a:t>
            </a:r>
            <a:r>
              <a:rPr sz="1200" dirty="0"/>
              <a:t>. </a:t>
            </a:r>
            <a:endParaRPr lang="tr-TR" sz="1200" dirty="0"/>
          </a:p>
          <a:p>
            <a:pPr>
              <a:spcAft>
                <a:spcPts val="600"/>
              </a:spcAft>
            </a:pPr>
            <a:endParaRPr lang="tr-TR" sz="1200" dirty="0"/>
          </a:p>
          <a:p>
            <a:pPr>
              <a:spcAft>
                <a:spcPts val="600"/>
              </a:spcAft>
            </a:pPr>
            <a:r>
              <a:rPr sz="1200" dirty="0"/>
              <a:t>Alan </a:t>
            </a:r>
            <a:r>
              <a:rPr sz="1200" dirty="0" err="1"/>
              <a:t>tipleri</a:t>
            </a:r>
            <a:r>
              <a:rPr sz="1200" dirty="0"/>
              <a:t> de </a:t>
            </a:r>
            <a:r>
              <a:rPr sz="1200" dirty="0" err="1"/>
              <a:t>doğrudan</a:t>
            </a:r>
            <a:r>
              <a:rPr sz="1200" dirty="0"/>
              <a:t> </a:t>
            </a:r>
            <a:r>
              <a:rPr sz="1200" dirty="0" err="1"/>
              <a:t>Swagger'dan</a:t>
            </a:r>
            <a:r>
              <a:rPr sz="1200" dirty="0"/>
              <a:t> </a:t>
            </a:r>
            <a:r>
              <a:rPr sz="1200" dirty="0" err="1"/>
              <a:t>alınıyor</a:t>
            </a:r>
            <a:r>
              <a:rPr sz="1200" dirty="0"/>
              <a:t>. Elle </a:t>
            </a:r>
            <a:r>
              <a:rPr sz="1200" dirty="0" err="1"/>
              <a:t>yazarken</a:t>
            </a:r>
            <a:r>
              <a:rPr sz="1200" dirty="0"/>
              <a:t> </a:t>
            </a:r>
            <a:r>
              <a:rPr sz="1200" dirty="0" err="1"/>
              <a:t>sık</a:t>
            </a:r>
            <a:r>
              <a:rPr sz="1200" dirty="0"/>
              <a:t> </a:t>
            </a:r>
            <a:r>
              <a:rPr sz="1200" dirty="0" err="1"/>
              <a:t>yaşadığımız</a:t>
            </a:r>
            <a:r>
              <a:rPr sz="1200" dirty="0"/>
              <a:t> </a:t>
            </a:r>
            <a:r>
              <a:rPr sz="1200" dirty="0" err="1"/>
              <a:t>bir</a:t>
            </a:r>
            <a:r>
              <a:rPr sz="1200" dirty="0"/>
              <a:t> </a:t>
            </a:r>
            <a:r>
              <a:rPr sz="1200" dirty="0" err="1"/>
              <a:t>hata</a:t>
            </a:r>
            <a:r>
              <a:rPr sz="1200" dirty="0"/>
              <a:t> var: </a:t>
            </a:r>
            <a:r>
              <a:rPr sz="1200" dirty="0" err="1"/>
              <a:t>Uzman</a:t>
            </a:r>
            <a:r>
              <a:rPr sz="1200" dirty="0"/>
              <a:t> </a:t>
            </a:r>
            <a:r>
              <a:rPr sz="1200" dirty="0" err="1"/>
              <a:t>tarafında</a:t>
            </a:r>
            <a:r>
              <a:rPr sz="1200" dirty="0"/>
              <a:t> long </a:t>
            </a:r>
            <a:r>
              <a:rPr sz="1200" dirty="0" err="1"/>
              <a:t>olan</a:t>
            </a:r>
            <a:r>
              <a:rPr sz="1200" dirty="0"/>
              <a:t> </a:t>
            </a:r>
            <a:r>
              <a:rPr sz="1200" dirty="0" err="1"/>
              <a:t>bir</a:t>
            </a:r>
            <a:r>
              <a:rPr sz="1200" dirty="0"/>
              <a:t> </a:t>
            </a:r>
            <a:r>
              <a:rPr sz="1200" dirty="0" err="1"/>
              <a:t>alanı</a:t>
            </a:r>
            <a:r>
              <a:rPr sz="1200" dirty="0"/>
              <a:t>, </a:t>
            </a:r>
            <a:r>
              <a:rPr sz="1200" dirty="0" err="1"/>
              <a:t>bizim</a:t>
            </a:r>
            <a:r>
              <a:rPr sz="1200" dirty="0"/>
              <a:t> </a:t>
            </a:r>
            <a:r>
              <a:rPr sz="1200" dirty="0" err="1"/>
              <a:t>tarafta</a:t>
            </a:r>
            <a:r>
              <a:rPr sz="1200" dirty="0"/>
              <a:t> int </a:t>
            </a:r>
            <a:r>
              <a:rPr sz="1200" dirty="0" err="1"/>
              <a:t>olarak</a:t>
            </a:r>
            <a:r>
              <a:rPr sz="1200" dirty="0"/>
              <a:t> </a:t>
            </a:r>
            <a:r>
              <a:rPr sz="1200" dirty="0" err="1"/>
              <a:t>tanımlayabiliyoruz</a:t>
            </a:r>
            <a:r>
              <a:rPr sz="1200" dirty="0"/>
              <a:t>. </a:t>
            </a:r>
            <a:r>
              <a:rPr sz="1200" dirty="0" err="1"/>
              <a:t>Eklenti</a:t>
            </a:r>
            <a:r>
              <a:rPr sz="1200" dirty="0"/>
              <a:t> </a:t>
            </a:r>
            <a:r>
              <a:rPr sz="1200" dirty="0" err="1"/>
              <a:t>bu</a:t>
            </a:r>
            <a:r>
              <a:rPr sz="1200" dirty="0"/>
              <a:t> </a:t>
            </a:r>
            <a:r>
              <a:rPr sz="1200" dirty="0" err="1"/>
              <a:t>riski</a:t>
            </a:r>
            <a:r>
              <a:rPr sz="1200" dirty="0"/>
              <a:t> </a:t>
            </a:r>
            <a:r>
              <a:rPr sz="1200" dirty="0" err="1"/>
              <a:t>ortadan</a:t>
            </a:r>
            <a:r>
              <a:rPr sz="1200" dirty="0"/>
              <a:t> </a:t>
            </a:r>
            <a:r>
              <a:rPr sz="1200" dirty="0" err="1"/>
              <a:t>kaldırıyor</a:t>
            </a:r>
            <a:r>
              <a:rPr sz="1200" dirty="0"/>
              <a:t>. </a:t>
            </a:r>
            <a:endParaRPr lang="tr-TR" sz="1200" dirty="0"/>
          </a:p>
          <a:p>
            <a:pPr>
              <a:spcAft>
                <a:spcPts val="600"/>
              </a:spcAft>
            </a:pPr>
            <a:endParaRPr lang="tr-TR" sz="1200" dirty="0"/>
          </a:p>
          <a:p>
            <a:pPr>
              <a:spcAft>
                <a:spcPts val="600"/>
              </a:spcAft>
            </a:pPr>
            <a:r>
              <a:rPr sz="1200" dirty="0" err="1"/>
              <a:t>Sonuç</a:t>
            </a:r>
            <a:r>
              <a:rPr sz="1200" dirty="0"/>
              <a:t> </a:t>
            </a:r>
            <a:r>
              <a:rPr sz="1200" dirty="0" err="1"/>
              <a:t>olarak</a:t>
            </a:r>
            <a:r>
              <a:rPr sz="1200" dirty="0"/>
              <a:t> </a:t>
            </a:r>
            <a:r>
              <a:rPr sz="1200" dirty="0" err="1"/>
              <a:t>elle</a:t>
            </a:r>
            <a:r>
              <a:rPr sz="1200" dirty="0"/>
              <a:t> 1 </a:t>
            </a:r>
            <a:r>
              <a:rPr sz="1200" dirty="0" err="1"/>
              <a:t>ile</a:t>
            </a:r>
            <a:r>
              <a:rPr sz="1200" dirty="0"/>
              <a:t> 1,5 </a:t>
            </a:r>
            <a:r>
              <a:rPr sz="1200" dirty="0" err="1"/>
              <a:t>gün</a:t>
            </a:r>
            <a:r>
              <a:rPr sz="1200" dirty="0"/>
              <a:t> </a:t>
            </a:r>
            <a:r>
              <a:rPr sz="1200" dirty="0" err="1"/>
              <a:t>süren</a:t>
            </a:r>
            <a:r>
              <a:rPr sz="1200" dirty="0"/>
              <a:t> </a:t>
            </a:r>
            <a:r>
              <a:rPr sz="1200" dirty="0" err="1"/>
              <a:t>entegrasyon</a:t>
            </a:r>
            <a:r>
              <a:rPr sz="1200" dirty="0"/>
              <a:t> 10 </a:t>
            </a:r>
            <a:r>
              <a:rPr sz="1200" dirty="0" err="1"/>
              <a:t>dakikaya</a:t>
            </a:r>
            <a:r>
              <a:rPr sz="1200" dirty="0"/>
              <a:t> </a:t>
            </a:r>
            <a:r>
              <a:rPr sz="1200" dirty="0" err="1"/>
              <a:t>iniyor</a:t>
            </a:r>
            <a:r>
              <a:rPr sz="1200" dirty="0"/>
              <a:t>.</a:t>
            </a:r>
            <a:endParaRPr lang="tr-TR" sz="1200" dirty="0"/>
          </a:p>
          <a:p>
            <a:pPr>
              <a:spcAft>
                <a:spcPts val="600"/>
              </a:spcAft>
            </a:pPr>
            <a:endParaRPr sz="1200" dirty="0"/>
          </a:p>
          <a:p>
            <a:pPr>
              <a:spcAft>
                <a:spcPts val="600"/>
              </a:spcAft>
            </a:pPr>
            <a:r>
              <a:rPr sz="1200" dirty="0"/>
              <a:t>Bu </a:t>
            </a:r>
            <a:r>
              <a:rPr sz="1200" dirty="0" err="1"/>
              <a:t>işi</a:t>
            </a:r>
            <a:r>
              <a:rPr sz="1200" dirty="0"/>
              <a:t> </a:t>
            </a:r>
            <a:r>
              <a:rPr sz="1200" dirty="0" err="1"/>
              <a:t>yapay</a:t>
            </a:r>
            <a:r>
              <a:rPr sz="1200" dirty="0"/>
              <a:t> </a:t>
            </a:r>
            <a:r>
              <a:rPr sz="1200" dirty="0" err="1"/>
              <a:t>zekayla</a:t>
            </a:r>
            <a:r>
              <a:rPr sz="1200" dirty="0"/>
              <a:t> da </a:t>
            </a:r>
            <a:r>
              <a:rPr sz="1200" dirty="0" err="1"/>
              <a:t>yapabilirdik</a:t>
            </a:r>
            <a:r>
              <a:rPr sz="1200" dirty="0"/>
              <a:t>. Ama her </a:t>
            </a:r>
            <a:r>
              <a:rPr sz="1200" dirty="0" err="1"/>
              <a:t>seferinde</a:t>
            </a:r>
            <a:r>
              <a:rPr sz="1200" dirty="0"/>
              <a:t> </a:t>
            </a:r>
            <a:r>
              <a:rPr sz="1200" dirty="0" err="1"/>
              <a:t>aynı</a:t>
            </a:r>
            <a:r>
              <a:rPr sz="1200" dirty="0"/>
              <a:t> </a:t>
            </a:r>
            <a:r>
              <a:rPr sz="1200" dirty="0" err="1"/>
              <a:t>kurala</a:t>
            </a:r>
            <a:r>
              <a:rPr sz="1200" dirty="0"/>
              <a:t> </a:t>
            </a:r>
            <a:r>
              <a:rPr sz="1200" dirty="0" err="1"/>
              <a:t>göre</a:t>
            </a:r>
            <a:r>
              <a:rPr sz="1200" dirty="0"/>
              <a:t> </a:t>
            </a:r>
            <a:r>
              <a:rPr sz="1200" dirty="0" err="1"/>
              <a:t>tekrarlanan</a:t>
            </a:r>
            <a:r>
              <a:rPr sz="1200" dirty="0"/>
              <a:t> </a:t>
            </a:r>
            <a:r>
              <a:rPr sz="1200" dirty="0" err="1"/>
              <a:t>bir</a:t>
            </a:r>
            <a:r>
              <a:rPr sz="1200" dirty="0"/>
              <a:t> </a:t>
            </a:r>
            <a:r>
              <a:rPr sz="1200" dirty="0" err="1"/>
              <a:t>işte</a:t>
            </a:r>
            <a:r>
              <a:rPr sz="1200" dirty="0"/>
              <a:t>, </a:t>
            </a:r>
            <a:r>
              <a:rPr sz="1200" dirty="0" err="1"/>
              <a:t>kural</a:t>
            </a:r>
            <a:r>
              <a:rPr sz="1200" dirty="0"/>
              <a:t> </a:t>
            </a:r>
            <a:r>
              <a:rPr sz="1200" dirty="0" err="1"/>
              <a:t>tabanlı</a:t>
            </a:r>
            <a:r>
              <a:rPr sz="1200" dirty="0"/>
              <a:t> </a:t>
            </a:r>
            <a:r>
              <a:rPr sz="1200" dirty="0" err="1"/>
              <a:t>bir</a:t>
            </a:r>
            <a:r>
              <a:rPr sz="1200" dirty="0"/>
              <a:t> </a:t>
            </a:r>
            <a:r>
              <a:rPr sz="1200" dirty="0" err="1"/>
              <a:t>araç</a:t>
            </a:r>
            <a:r>
              <a:rPr sz="1200" dirty="0"/>
              <a:t> </a:t>
            </a:r>
            <a:r>
              <a:rPr sz="1200" dirty="0" err="1"/>
              <a:t>daha</a:t>
            </a:r>
            <a:r>
              <a:rPr sz="1200" dirty="0"/>
              <a:t> </a:t>
            </a:r>
            <a:r>
              <a:rPr sz="1200" dirty="0" err="1"/>
              <a:t>doğru</a:t>
            </a:r>
            <a:r>
              <a:rPr sz="1200" dirty="0"/>
              <a:t> </a:t>
            </a:r>
            <a:r>
              <a:rPr sz="1200" dirty="0" err="1"/>
              <a:t>seçim</a:t>
            </a:r>
            <a:r>
              <a:rPr sz="1200" dirty="0"/>
              <a:t>. Her </a:t>
            </a:r>
            <a:r>
              <a:rPr sz="1200" dirty="0" err="1"/>
              <a:t>seferinde</a:t>
            </a:r>
            <a:r>
              <a:rPr sz="1200" dirty="0"/>
              <a:t> </a:t>
            </a:r>
            <a:r>
              <a:rPr sz="1200" dirty="0" err="1"/>
              <a:t>aynı</a:t>
            </a:r>
            <a:r>
              <a:rPr sz="1200" dirty="0"/>
              <a:t> </a:t>
            </a:r>
            <a:r>
              <a:rPr sz="1200" dirty="0" err="1"/>
              <a:t>sonucu</a:t>
            </a:r>
            <a:r>
              <a:rPr sz="1200" dirty="0"/>
              <a:t> </a:t>
            </a:r>
            <a:r>
              <a:rPr sz="1200" dirty="0" err="1"/>
              <a:t>veriyor</a:t>
            </a:r>
            <a:r>
              <a:rPr sz="1200" dirty="0"/>
              <a:t>, </a:t>
            </a:r>
            <a:r>
              <a:rPr sz="1200" dirty="0" err="1"/>
              <a:t>halüsinasyon</a:t>
            </a:r>
            <a:r>
              <a:rPr sz="1200" dirty="0"/>
              <a:t> </a:t>
            </a:r>
            <a:r>
              <a:rPr sz="1200" dirty="0" err="1"/>
              <a:t>riski</a:t>
            </a:r>
            <a:r>
              <a:rPr sz="1200" dirty="0"/>
              <a:t> yok </a:t>
            </a:r>
            <a:r>
              <a:rPr sz="1200" dirty="0" err="1"/>
              <a:t>ve</a:t>
            </a:r>
            <a:r>
              <a:rPr sz="1200" dirty="0"/>
              <a:t> ek </a:t>
            </a:r>
            <a:r>
              <a:rPr sz="1200" dirty="0" err="1"/>
              <a:t>maliyet</a:t>
            </a:r>
            <a:r>
              <a:rPr sz="1200" dirty="0"/>
              <a:t> </a:t>
            </a:r>
            <a:r>
              <a:rPr sz="1200" dirty="0" err="1"/>
              <a:t>çıkarmıyor</a:t>
            </a:r>
            <a:r>
              <a:rPr sz="1200" dirty="0"/>
              <a:t>. Yapay </a:t>
            </a:r>
            <a:r>
              <a:rPr sz="1200" dirty="0" err="1"/>
              <a:t>zeka</a:t>
            </a:r>
            <a:r>
              <a:rPr sz="1200" dirty="0"/>
              <a:t> </a:t>
            </a:r>
            <a:r>
              <a:rPr sz="1200" dirty="0" err="1"/>
              <a:t>verimli</a:t>
            </a:r>
            <a:r>
              <a:rPr sz="1200" dirty="0"/>
              <a:t> </a:t>
            </a:r>
            <a:r>
              <a:rPr sz="1200" dirty="0" err="1"/>
              <a:t>bir</a:t>
            </a:r>
            <a:r>
              <a:rPr sz="1200" dirty="0"/>
              <a:t> </a:t>
            </a:r>
            <a:r>
              <a:rPr sz="1200" dirty="0" err="1"/>
              <a:t>araç</a:t>
            </a:r>
            <a:r>
              <a:rPr sz="1200" dirty="0"/>
              <a:t>, ama </a:t>
            </a:r>
            <a:r>
              <a:rPr sz="1200" dirty="0" err="1"/>
              <a:t>maliyeti</a:t>
            </a:r>
            <a:r>
              <a:rPr sz="1200" dirty="0"/>
              <a:t> </a:t>
            </a:r>
            <a:r>
              <a:rPr sz="1200" dirty="0" err="1"/>
              <a:t>nedeniyle</a:t>
            </a:r>
            <a:r>
              <a:rPr sz="1200" dirty="0"/>
              <a:t> </a:t>
            </a:r>
            <a:r>
              <a:rPr sz="1200" dirty="0" err="1"/>
              <a:t>doğru</a:t>
            </a:r>
            <a:r>
              <a:rPr sz="1200" dirty="0"/>
              <a:t> </a:t>
            </a:r>
            <a:r>
              <a:rPr sz="1200" dirty="0" err="1"/>
              <a:t>yerde</a:t>
            </a:r>
            <a:r>
              <a:rPr sz="1200" dirty="0"/>
              <a:t> </a:t>
            </a:r>
            <a:r>
              <a:rPr sz="1200" dirty="0" err="1"/>
              <a:t>kullanılması</a:t>
            </a:r>
            <a:r>
              <a:rPr sz="1200" dirty="0"/>
              <a:t> </a:t>
            </a:r>
            <a:r>
              <a:rPr sz="1200" dirty="0" err="1"/>
              <a:t>gerekiyor</a:t>
            </a:r>
            <a:r>
              <a:rPr sz="1200" dirty="0"/>
              <a:t>.</a:t>
            </a:r>
          </a:p>
          <a:p>
            <a:pPr>
              <a:spcAft>
                <a:spcPts val="600"/>
              </a:spcAft>
            </a:pPr>
            <a:endParaRPr lang="tr-TR" sz="1200" dirty="0"/>
          </a:p>
          <a:p>
            <a:pPr>
              <a:spcAft>
                <a:spcPts val="600"/>
              </a:spcAft>
            </a:pPr>
            <a:r>
              <a:rPr sz="1200" dirty="0" err="1"/>
              <a:t>Şimdi</a:t>
            </a:r>
            <a:r>
              <a:rPr sz="1200" dirty="0"/>
              <a:t> </a:t>
            </a:r>
            <a:r>
              <a:rPr sz="1200" dirty="0" err="1"/>
              <a:t>eklentinin</a:t>
            </a:r>
            <a:r>
              <a:rPr sz="1200" dirty="0"/>
              <a:t> </a:t>
            </a:r>
            <a:r>
              <a:rPr sz="1200" dirty="0" err="1"/>
              <a:t>nasıl</a:t>
            </a:r>
            <a:r>
              <a:rPr sz="1200" dirty="0"/>
              <a:t> </a:t>
            </a:r>
            <a:r>
              <a:rPr sz="1200" dirty="0" err="1"/>
              <a:t>kullanıldığına</a:t>
            </a:r>
            <a:r>
              <a:rPr sz="1200" dirty="0"/>
              <a:t> </a:t>
            </a:r>
            <a:r>
              <a:rPr sz="1200" dirty="0" err="1"/>
              <a:t>bakalım</a:t>
            </a:r>
            <a:r>
              <a:rPr sz="1200" dirty="0"/>
              <a:t>.</a:t>
            </a:r>
          </a:p>
        </p:txBody>
      </p:sp>
      <p:sp>
        <p:nvSpPr>
          <p:cNvPr id="4" name="Slide Number Placeholder 3"/>
          <p:cNvSpPr>
            <a:spLocks noGrp="1"/>
          </p:cNvSpPr>
          <p:nvPr>
            <p:ph type="sldNum" sz="quarter" idx="10"/>
          </p:nvPr>
        </p:nvSpPr>
        <p:spPr/>
        <p:txBody>
          <a:bodyPr/>
          <a:lstStyle/>
          <a:p>
            <a:fld id="{F7021451-1387-4CA6-816F-3879F97B5CBC}" type="slidenum">
              <a:rPr lang="tr-TR"/>
              <a:t>9</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a:t>Solda </a:t>
            </a:r>
            <a:r>
              <a:rPr sz="1200" dirty="0" err="1"/>
              <a:t>eklentinin</a:t>
            </a:r>
            <a:r>
              <a:rPr sz="1200" dirty="0"/>
              <a:t> </a:t>
            </a:r>
            <a:r>
              <a:rPr sz="1200" dirty="0" err="1"/>
              <a:t>IntelliJ'de</a:t>
            </a:r>
            <a:r>
              <a:rPr sz="1200" dirty="0"/>
              <a:t> Tools </a:t>
            </a:r>
            <a:r>
              <a:rPr sz="1200" dirty="0" err="1"/>
              <a:t>menüsünden</a:t>
            </a:r>
            <a:r>
              <a:rPr sz="1200" dirty="0"/>
              <a:t> </a:t>
            </a:r>
            <a:r>
              <a:rPr sz="1200" dirty="0" err="1"/>
              <a:t>tek</a:t>
            </a:r>
            <a:r>
              <a:rPr sz="1200" dirty="0"/>
              <a:t> </a:t>
            </a:r>
            <a:r>
              <a:rPr sz="1200" dirty="0" err="1"/>
              <a:t>tıkla</a:t>
            </a:r>
            <a:r>
              <a:rPr sz="1200" dirty="0"/>
              <a:t> </a:t>
            </a:r>
            <a:r>
              <a:rPr sz="1200" dirty="0" err="1"/>
              <a:t>başlatıldığını</a:t>
            </a:r>
            <a:r>
              <a:rPr sz="1200" dirty="0"/>
              <a:t> </a:t>
            </a:r>
            <a:r>
              <a:rPr sz="1200" dirty="0" err="1"/>
              <a:t>görüyoruz</a:t>
            </a:r>
            <a:r>
              <a:rPr sz="1200" dirty="0"/>
              <a:t>.</a:t>
            </a:r>
            <a:endParaRPr lang="tr-TR" sz="1200" dirty="0"/>
          </a:p>
          <a:p>
            <a:pPr>
              <a:spcAft>
                <a:spcPts val="600"/>
              </a:spcAft>
            </a:pPr>
            <a:endParaRPr sz="1200" dirty="0"/>
          </a:p>
          <a:p>
            <a:pPr>
              <a:spcAft>
                <a:spcPts val="600"/>
              </a:spcAft>
            </a:pPr>
            <a:r>
              <a:rPr sz="1200" dirty="0" err="1"/>
              <a:t>Sağda</a:t>
            </a:r>
            <a:r>
              <a:rPr sz="1200" dirty="0"/>
              <a:t> </a:t>
            </a:r>
            <a:r>
              <a:rPr sz="1200" dirty="0" err="1"/>
              <a:t>üretim</a:t>
            </a:r>
            <a:r>
              <a:rPr sz="1200" dirty="0"/>
              <a:t> </a:t>
            </a:r>
            <a:r>
              <a:rPr sz="1200" dirty="0" err="1"/>
              <a:t>penceresi</a:t>
            </a:r>
            <a:r>
              <a:rPr sz="1200" dirty="0"/>
              <a:t> var. </a:t>
            </a:r>
            <a:r>
              <a:rPr sz="1200" dirty="0" err="1"/>
              <a:t>Geliştirici</a:t>
            </a:r>
            <a:r>
              <a:rPr sz="1200" dirty="0"/>
              <a:t> Swagger </a:t>
            </a:r>
            <a:r>
              <a:rPr sz="1200" dirty="0" err="1"/>
              <a:t>dosyasını</a:t>
            </a:r>
            <a:r>
              <a:rPr sz="1200" dirty="0"/>
              <a:t> </a:t>
            </a:r>
            <a:r>
              <a:rPr sz="1200" dirty="0" err="1"/>
              <a:t>yüklüyor</a:t>
            </a:r>
            <a:r>
              <a:rPr sz="1200" dirty="0"/>
              <a:t>. </a:t>
            </a:r>
            <a:endParaRPr lang="tr-TR" sz="1200" dirty="0"/>
          </a:p>
          <a:p>
            <a:pPr>
              <a:spcAft>
                <a:spcPts val="600"/>
              </a:spcAft>
            </a:pPr>
            <a:endParaRPr lang="tr-TR" sz="1200" dirty="0"/>
          </a:p>
          <a:p>
            <a:pPr>
              <a:spcAft>
                <a:spcPts val="600"/>
              </a:spcAft>
            </a:pPr>
            <a:r>
              <a:rPr sz="1200" dirty="0" err="1"/>
              <a:t>Ağaç</a:t>
            </a:r>
            <a:r>
              <a:rPr sz="1200" dirty="0"/>
              <a:t> </a:t>
            </a:r>
            <a:r>
              <a:rPr sz="1200" dirty="0" err="1"/>
              <a:t>listesinden</a:t>
            </a:r>
            <a:r>
              <a:rPr sz="1200" dirty="0"/>
              <a:t> </a:t>
            </a:r>
            <a:r>
              <a:rPr sz="1200" dirty="0" err="1"/>
              <a:t>yalnızca</a:t>
            </a:r>
            <a:r>
              <a:rPr sz="1200" dirty="0"/>
              <a:t> </a:t>
            </a:r>
            <a:r>
              <a:rPr sz="1200" dirty="0" err="1"/>
              <a:t>ihtiyacı</a:t>
            </a:r>
            <a:r>
              <a:rPr sz="1200" dirty="0"/>
              <a:t> </a:t>
            </a:r>
            <a:r>
              <a:rPr sz="1200" dirty="0" err="1"/>
              <a:t>olan</a:t>
            </a:r>
            <a:r>
              <a:rPr sz="1200" dirty="0"/>
              <a:t> </a:t>
            </a:r>
            <a:r>
              <a:rPr sz="1200" dirty="0" err="1"/>
              <a:t>servisleri</a:t>
            </a:r>
            <a:r>
              <a:rPr sz="1200" dirty="0"/>
              <a:t> </a:t>
            </a:r>
            <a:r>
              <a:rPr sz="1200" dirty="0" err="1"/>
              <a:t>ve</a:t>
            </a:r>
            <a:r>
              <a:rPr sz="1200" dirty="0"/>
              <a:t> </a:t>
            </a:r>
            <a:r>
              <a:rPr sz="1200" dirty="0" err="1"/>
              <a:t>hedef</a:t>
            </a:r>
            <a:r>
              <a:rPr sz="1200" dirty="0"/>
              <a:t> </a:t>
            </a:r>
            <a:r>
              <a:rPr sz="1200" dirty="0" err="1"/>
              <a:t>paketi</a:t>
            </a:r>
            <a:r>
              <a:rPr sz="1200" dirty="0"/>
              <a:t> </a:t>
            </a:r>
            <a:r>
              <a:rPr sz="1200" dirty="0" err="1"/>
              <a:t>seçip</a:t>
            </a:r>
            <a:r>
              <a:rPr sz="1200" dirty="0"/>
              <a:t> </a:t>
            </a:r>
            <a:r>
              <a:rPr sz="1200" dirty="0" err="1"/>
              <a:t>Oluştur'a</a:t>
            </a:r>
            <a:r>
              <a:rPr sz="1200" dirty="0"/>
              <a:t> </a:t>
            </a:r>
            <a:r>
              <a:rPr sz="1200" dirty="0" err="1"/>
              <a:t>basıyor</a:t>
            </a:r>
            <a:r>
              <a:rPr sz="1200" dirty="0"/>
              <a:t>.</a:t>
            </a:r>
          </a:p>
        </p:txBody>
      </p:sp>
      <p:sp>
        <p:nvSpPr>
          <p:cNvPr id="4" name="Slide Number Placeholder 3"/>
          <p:cNvSpPr>
            <a:spLocks noGrp="1"/>
          </p:cNvSpPr>
          <p:nvPr>
            <p:ph type="sldNum" sz="quarter" idx="10"/>
          </p:nvPr>
        </p:nvSpPr>
        <p:spPr/>
        <p:txBody>
          <a:bodyPr/>
          <a:lstStyle/>
          <a:p>
            <a:fld id="{F7021451-1387-4CA6-816F-3879F97B5CBC}" type="slidenum">
              <a:rPr lang="tr-TR"/>
              <a:t>10</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err="1"/>
              <a:t>Oluştur'a</a:t>
            </a:r>
            <a:r>
              <a:rPr sz="1200" dirty="0"/>
              <a:t> </a:t>
            </a:r>
            <a:r>
              <a:rPr sz="1200" dirty="0" err="1"/>
              <a:t>basıldığı</a:t>
            </a:r>
            <a:r>
              <a:rPr sz="1200" dirty="0"/>
              <a:t> </a:t>
            </a:r>
            <a:r>
              <a:rPr sz="1200" dirty="0" err="1"/>
              <a:t>anda</a:t>
            </a:r>
            <a:r>
              <a:rPr sz="1200" dirty="0"/>
              <a:t>, </a:t>
            </a:r>
            <a:r>
              <a:rPr sz="1200" dirty="0" err="1"/>
              <a:t>soldaki</a:t>
            </a:r>
            <a:r>
              <a:rPr sz="1200" dirty="0"/>
              <a:t> </a:t>
            </a:r>
            <a:r>
              <a:rPr sz="1200" dirty="0" err="1"/>
              <a:t>değişiklikler</a:t>
            </a:r>
            <a:r>
              <a:rPr sz="1200" dirty="0"/>
              <a:t> </a:t>
            </a:r>
            <a:r>
              <a:rPr sz="1200" dirty="0" err="1"/>
              <a:t>panelinde</a:t>
            </a:r>
            <a:r>
              <a:rPr sz="1200" dirty="0"/>
              <a:t> </a:t>
            </a:r>
            <a:r>
              <a:rPr sz="1200" dirty="0" err="1"/>
              <a:t>gördüğünüz</a:t>
            </a:r>
            <a:r>
              <a:rPr sz="1200" dirty="0"/>
              <a:t> 36 </a:t>
            </a:r>
            <a:r>
              <a:rPr sz="1200" dirty="0" err="1"/>
              <a:t>dosya</a:t>
            </a:r>
            <a:r>
              <a:rPr sz="1200" dirty="0"/>
              <a:t> </a:t>
            </a:r>
            <a:r>
              <a:rPr sz="1200" dirty="0" err="1"/>
              <a:t>saniyeler</a:t>
            </a:r>
            <a:r>
              <a:rPr sz="1200" dirty="0"/>
              <a:t> </a:t>
            </a:r>
            <a:r>
              <a:rPr sz="1200" dirty="0" err="1"/>
              <a:t>içinde</a:t>
            </a:r>
            <a:r>
              <a:rPr sz="1200" dirty="0"/>
              <a:t> </a:t>
            </a:r>
            <a:r>
              <a:rPr sz="1200" dirty="0" err="1"/>
              <a:t>üretiliyor</a:t>
            </a:r>
            <a:r>
              <a:rPr sz="1200" dirty="0"/>
              <a:t>.</a:t>
            </a:r>
            <a:endParaRPr lang="tr-TR" sz="1200" dirty="0"/>
          </a:p>
          <a:p>
            <a:pPr>
              <a:spcAft>
                <a:spcPts val="600"/>
              </a:spcAft>
            </a:pPr>
            <a:endParaRPr lang="tr-TR" sz="1200" dirty="0"/>
          </a:p>
          <a:p>
            <a:pPr>
              <a:spcAft>
                <a:spcPts val="600"/>
              </a:spcAft>
            </a:pPr>
            <a:r>
              <a:rPr sz="1200" dirty="0"/>
              <a:t> Backend </a:t>
            </a:r>
            <a:r>
              <a:rPr sz="1200" dirty="0" err="1"/>
              <a:t>ve</a:t>
            </a:r>
            <a:r>
              <a:rPr sz="1200" dirty="0"/>
              <a:t> remote </a:t>
            </a:r>
            <a:r>
              <a:rPr sz="1200" dirty="0" err="1"/>
              <a:t>katmanlarındaki</a:t>
            </a:r>
            <a:r>
              <a:rPr sz="1200" dirty="0"/>
              <a:t> </a:t>
            </a:r>
            <a:r>
              <a:rPr sz="1200" dirty="0" err="1"/>
              <a:t>sınıflar</a:t>
            </a:r>
            <a:r>
              <a:rPr sz="1200" dirty="0"/>
              <a:t>, </a:t>
            </a:r>
            <a:r>
              <a:rPr sz="1200" dirty="0" err="1"/>
              <a:t>servis</a:t>
            </a:r>
            <a:r>
              <a:rPr sz="1200" dirty="0"/>
              <a:t> </a:t>
            </a:r>
            <a:r>
              <a:rPr sz="1200" dirty="0" err="1"/>
              <a:t>ve</a:t>
            </a:r>
            <a:r>
              <a:rPr sz="1200" dirty="0"/>
              <a:t> mapper </a:t>
            </a:r>
            <a:r>
              <a:rPr sz="1200" dirty="0" err="1"/>
              <a:t>metotlarıyla</a:t>
            </a:r>
            <a:r>
              <a:rPr sz="1200" dirty="0"/>
              <a:t> </a:t>
            </a:r>
            <a:r>
              <a:rPr sz="1200" dirty="0" err="1"/>
              <a:t>birlikte</a:t>
            </a:r>
            <a:r>
              <a:rPr sz="1200" dirty="0"/>
              <a:t> </a:t>
            </a:r>
            <a:r>
              <a:rPr sz="1200" dirty="0" err="1"/>
              <a:t>hazır</a:t>
            </a:r>
            <a:r>
              <a:rPr sz="1200" dirty="0"/>
              <a:t> </a:t>
            </a:r>
            <a:r>
              <a:rPr sz="1200" dirty="0" err="1"/>
              <a:t>geliyor</a:t>
            </a:r>
            <a:r>
              <a:rPr sz="1200" dirty="0"/>
              <a:t>.</a:t>
            </a:r>
            <a:endParaRPr lang="tr-TR" sz="1200" dirty="0"/>
          </a:p>
          <a:p>
            <a:pPr>
              <a:spcAft>
                <a:spcPts val="600"/>
              </a:spcAft>
            </a:pPr>
            <a:endParaRPr sz="1200" dirty="0"/>
          </a:p>
          <a:p>
            <a:pPr>
              <a:spcAft>
                <a:spcPts val="600"/>
              </a:spcAft>
            </a:pPr>
            <a:r>
              <a:rPr sz="1200" dirty="0" err="1"/>
              <a:t>Sağda</a:t>
            </a:r>
            <a:r>
              <a:rPr sz="1200" dirty="0"/>
              <a:t> </a:t>
            </a:r>
            <a:r>
              <a:rPr sz="1200" dirty="0" err="1"/>
              <a:t>ise</a:t>
            </a:r>
            <a:r>
              <a:rPr sz="1200" dirty="0"/>
              <a:t> Test, UAT </a:t>
            </a:r>
            <a:r>
              <a:rPr sz="1200" dirty="0" err="1"/>
              <a:t>ve</a:t>
            </a:r>
            <a:r>
              <a:rPr sz="1200" dirty="0"/>
              <a:t> </a:t>
            </a:r>
            <a:r>
              <a:rPr sz="1200" dirty="0" err="1"/>
              <a:t>Canlı</a:t>
            </a:r>
            <a:r>
              <a:rPr sz="1200" dirty="0"/>
              <a:t> </a:t>
            </a:r>
            <a:r>
              <a:rPr sz="1200" dirty="0" err="1"/>
              <a:t>adreslerini</a:t>
            </a:r>
            <a:r>
              <a:rPr sz="1200" dirty="0"/>
              <a:t> </a:t>
            </a:r>
            <a:r>
              <a:rPr sz="1200" dirty="0" err="1"/>
              <a:t>içeren</a:t>
            </a:r>
            <a:r>
              <a:rPr sz="1200" dirty="0"/>
              <a:t> </a:t>
            </a:r>
            <a:r>
              <a:rPr sz="1200" dirty="0" err="1"/>
              <a:t>servis</a:t>
            </a:r>
            <a:r>
              <a:rPr sz="1200" dirty="0"/>
              <a:t> </a:t>
            </a:r>
            <a:r>
              <a:rPr sz="1200" dirty="0" err="1"/>
              <a:t>kayıt</a:t>
            </a:r>
            <a:r>
              <a:rPr sz="1200" dirty="0"/>
              <a:t> </a:t>
            </a:r>
            <a:r>
              <a:rPr sz="1200" dirty="0" err="1"/>
              <a:t>SQL'i</a:t>
            </a:r>
            <a:r>
              <a:rPr sz="1200" dirty="0"/>
              <a:t> yeni </a:t>
            </a:r>
            <a:r>
              <a:rPr sz="1200" dirty="0" err="1"/>
              <a:t>bir</a:t>
            </a:r>
            <a:r>
              <a:rPr sz="1200" dirty="0"/>
              <a:t> </a:t>
            </a:r>
            <a:r>
              <a:rPr sz="1200" dirty="0" err="1"/>
              <a:t>sekmede</a:t>
            </a:r>
            <a:r>
              <a:rPr sz="1200" dirty="0"/>
              <a:t> </a:t>
            </a:r>
            <a:r>
              <a:rPr sz="1200" dirty="0" err="1"/>
              <a:t>hazır</a:t>
            </a:r>
            <a:r>
              <a:rPr sz="1200" dirty="0"/>
              <a:t> </a:t>
            </a:r>
            <a:r>
              <a:rPr sz="1200" dirty="0" err="1"/>
              <a:t>açılıyor</a:t>
            </a:r>
            <a:r>
              <a:rPr sz="1200" dirty="0"/>
              <a:t>.</a:t>
            </a:r>
            <a:endParaRPr lang="tr-TR" sz="1200" dirty="0"/>
          </a:p>
          <a:p>
            <a:pPr>
              <a:spcAft>
                <a:spcPts val="600"/>
              </a:spcAft>
            </a:pPr>
            <a:endParaRPr sz="1200" dirty="0"/>
          </a:p>
        </p:txBody>
      </p:sp>
      <p:sp>
        <p:nvSpPr>
          <p:cNvPr id="4" name="Slide Number Placeholder 3"/>
          <p:cNvSpPr>
            <a:spLocks noGrp="1"/>
          </p:cNvSpPr>
          <p:nvPr>
            <p:ph type="sldNum" sz="quarter" idx="10"/>
          </p:nvPr>
        </p:nvSpPr>
        <p:spPr/>
        <p:txBody>
          <a:bodyPr/>
          <a:lstStyle/>
          <a:p>
            <a:fld id="{F7021451-1387-4CA6-816F-3879F97B5CBC}" type="slidenum">
              <a:rPr lang="tr-TR"/>
              <a:t>11</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err="1"/>
              <a:t>Burada</a:t>
            </a:r>
            <a:r>
              <a:rPr sz="1200" dirty="0"/>
              <a:t> </a:t>
            </a:r>
            <a:r>
              <a:rPr sz="1200" dirty="0" err="1"/>
              <a:t>eklentinin</a:t>
            </a:r>
            <a:r>
              <a:rPr sz="1200" dirty="0"/>
              <a:t> </a:t>
            </a:r>
            <a:r>
              <a:rPr sz="1200" dirty="0" err="1"/>
              <a:t>mevcut</a:t>
            </a:r>
            <a:r>
              <a:rPr sz="1200" dirty="0"/>
              <a:t> </a:t>
            </a:r>
            <a:r>
              <a:rPr sz="1200" dirty="0" err="1"/>
              <a:t>dosyalara</a:t>
            </a:r>
            <a:r>
              <a:rPr sz="1200" dirty="0"/>
              <a:t> </a:t>
            </a:r>
            <a:r>
              <a:rPr sz="1200" dirty="0" err="1"/>
              <a:t>eklediği</a:t>
            </a:r>
            <a:r>
              <a:rPr sz="1200" dirty="0"/>
              <a:t> </a:t>
            </a:r>
            <a:r>
              <a:rPr sz="1200" dirty="0" err="1"/>
              <a:t>kodu</a:t>
            </a:r>
            <a:r>
              <a:rPr sz="1200" dirty="0"/>
              <a:t> </a:t>
            </a:r>
            <a:r>
              <a:rPr sz="1200" dirty="0" err="1"/>
              <a:t>görüyoruz</a:t>
            </a:r>
            <a:r>
              <a:rPr sz="1200" dirty="0"/>
              <a:t>.</a:t>
            </a:r>
            <a:endParaRPr lang="tr-TR" sz="1200" dirty="0"/>
          </a:p>
          <a:p>
            <a:pPr>
              <a:spcAft>
                <a:spcPts val="600"/>
              </a:spcAft>
            </a:pPr>
            <a:endParaRPr sz="1200" dirty="0"/>
          </a:p>
          <a:p>
            <a:pPr>
              <a:spcAft>
                <a:spcPts val="600"/>
              </a:spcAft>
            </a:pPr>
            <a:r>
              <a:rPr sz="1200" dirty="0"/>
              <a:t>Solda </a:t>
            </a:r>
            <a:r>
              <a:rPr sz="1200" dirty="0" err="1"/>
              <a:t>servis</a:t>
            </a:r>
            <a:r>
              <a:rPr sz="1200" dirty="0"/>
              <a:t> </a:t>
            </a:r>
            <a:r>
              <a:rPr sz="1200" dirty="0" err="1"/>
              <a:t>arayüzüne</a:t>
            </a:r>
            <a:r>
              <a:rPr sz="1200" dirty="0"/>
              <a:t> yeni </a:t>
            </a:r>
            <a:r>
              <a:rPr sz="1200" dirty="0" err="1"/>
              <a:t>metotlar</a:t>
            </a:r>
            <a:r>
              <a:rPr sz="1200" dirty="0"/>
              <a:t> </a:t>
            </a:r>
            <a:r>
              <a:rPr sz="1200" dirty="0" err="1"/>
              <a:t>eklenmiş</a:t>
            </a:r>
            <a:r>
              <a:rPr sz="1200" dirty="0"/>
              <a:t>. </a:t>
            </a:r>
            <a:r>
              <a:rPr sz="1200" dirty="0" err="1"/>
              <a:t>Ortada</a:t>
            </a:r>
            <a:r>
              <a:rPr sz="1200" dirty="0"/>
              <a:t> mapper </a:t>
            </a:r>
            <a:r>
              <a:rPr sz="1200" dirty="0" err="1"/>
              <a:t>sınıfında</a:t>
            </a:r>
            <a:r>
              <a:rPr sz="1200" dirty="0"/>
              <a:t> </a:t>
            </a:r>
            <a:r>
              <a:rPr sz="1200" dirty="0" err="1"/>
              <a:t>iki</a:t>
            </a:r>
            <a:r>
              <a:rPr sz="1200" dirty="0"/>
              <a:t> </a:t>
            </a:r>
            <a:r>
              <a:rPr sz="1200" dirty="0" err="1"/>
              <a:t>katman</a:t>
            </a:r>
            <a:r>
              <a:rPr sz="1200" dirty="0"/>
              <a:t> </a:t>
            </a:r>
            <a:r>
              <a:rPr sz="1200" dirty="0" err="1"/>
              <a:t>arasındaki</a:t>
            </a:r>
            <a:r>
              <a:rPr sz="1200" dirty="0"/>
              <a:t> </a:t>
            </a:r>
            <a:r>
              <a:rPr sz="1200" dirty="0" err="1"/>
              <a:t>dönüştürücü</a:t>
            </a:r>
            <a:r>
              <a:rPr sz="1200" dirty="0"/>
              <a:t> </a:t>
            </a:r>
            <a:r>
              <a:rPr sz="1200" dirty="0" err="1"/>
              <a:t>metotlar</a:t>
            </a:r>
            <a:r>
              <a:rPr sz="1200" dirty="0"/>
              <a:t> var.</a:t>
            </a:r>
            <a:endParaRPr lang="tr-TR" sz="1200" dirty="0"/>
          </a:p>
          <a:p>
            <a:pPr>
              <a:spcAft>
                <a:spcPts val="600"/>
              </a:spcAft>
            </a:pPr>
            <a:endParaRPr lang="tr-TR" sz="1200" dirty="0"/>
          </a:p>
          <a:p>
            <a:pPr>
              <a:spcAft>
                <a:spcPts val="600"/>
              </a:spcAft>
            </a:pPr>
            <a:r>
              <a:rPr sz="1200" dirty="0" err="1"/>
              <a:t>Sağda</a:t>
            </a:r>
            <a:r>
              <a:rPr sz="1200" dirty="0"/>
              <a:t> da </a:t>
            </a:r>
            <a:r>
              <a:rPr sz="1200" dirty="0" err="1"/>
              <a:t>veri</a:t>
            </a:r>
            <a:r>
              <a:rPr sz="1200" dirty="0"/>
              <a:t> </a:t>
            </a:r>
            <a:r>
              <a:rPr sz="1200" dirty="0" err="1"/>
              <a:t>sınıflarından</a:t>
            </a:r>
            <a:r>
              <a:rPr sz="1200" dirty="0"/>
              <a:t> </a:t>
            </a:r>
            <a:r>
              <a:rPr sz="1200" dirty="0" err="1"/>
              <a:t>birini</a:t>
            </a:r>
            <a:r>
              <a:rPr sz="1200" dirty="0"/>
              <a:t> </a:t>
            </a:r>
            <a:r>
              <a:rPr sz="1200" dirty="0" err="1"/>
              <a:t>görüyoruz</a:t>
            </a:r>
            <a:r>
              <a:rPr sz="1200" dirty="0"/>
              <a:t>. Alan </a:t>
            </a:r>
            <a:r>
              <a:rPr sz="1200" dirty="0" err="1"/>
              <a:t>tipleri</a:t>
            </a:r>
            <a:r>
              <a:rPr sz="1200" dirty="0"/>
              <a:t> </a:t>
            </a:r>
            <a:r>
              <a:rPr sz="1200" dirty="0" err="1"/>
              <a:t>Swagger'dan</a:t>
            </a:r>
            <a:r>
              <a:rPr sz="1200" dirty="0"/>
              <a:t> </a:t>
            </a:r>
            <a:r>
              <a:rPr sz="1200" dirty="0" err="1"/>
              <a:t>birebir</a:t>
            </a:r>
            <a:r>
              <a:rPr sz="1200" dirty="0"/>
              <a:t> </a:t>
            </a:r>
            <a:r>
              <a:rPr sz="1200" dirty="0" err="1"/>
              <a:t>alındığı</a:t>
            </a:r>
            <a:r>
              <a:rPr sz="1200" dirty="0"/>
              <a:t> </a:t>
            </a:r>
            <a:r>
              <a:rPr sz="1200" dirty="0" err="1"/>
              <a:t>için</a:t>
            </a:r>
            <a:r>
              <a:rPr sz="1200" dirty="0"/>
              <a:t> </a:t>
            </a:r>
            <a:r>
              <a:rPr sz="1200" dirty="0" err="1"/>
              <a:t>tutar</a:t>
            </a:r>
            <a:r>
              <a:rPr sz="1200" dirty="0"/>
              <a:t> </a:t>
            </a:r>
            <a:r>
              <a:rPr sz="1200" dirty="0" err="1"/>
              <a:t>alanları</a:t>
            </a:r>
            <a:r>
              <a:rPr sz="1200" dirty="0"/>
              <a:t> </a:t>
            </a:r>
            <a:r>
              <a:rPr sz="1200" dirty="0" err="1"/>
              <a:t>BigDecimal</a:t>
            </a:r>
            <a:r>
              <a:rPr sz="1200" dirty="0"/>
              <a:t> </a:t>
            </a:r>
            <a:r>
              <a:rPr sz="1200" dirty="0" err="1"/>
              <a:t>olarak</a:t>
            </a:r>
            <a:r>
              <a:rPr sz="1200" dirty="0"/>
              <a:t> </a:t>
            </a:r>
            <a:r>
              <a:rPr sz="1200" dirty="0" err="1"/>
              <a:t>geliyor</a:t>
            </a:r>
            <a:r>
              <a:rPr sz="1200" dirty="0"/>
              <a:t>.</a:t>
            </a:r>
            <a:endParaRPr lang="tr-TR" sz="1200" dirty="0"/>
          </a:p>
          <a:p>
            <a:pPr>
              <a:spcAft>
                <a:spcPts val="600"/>
              </a:spcAft>
            </a:pPr>
            <a:endParaRPr sz="1200" dirty="0"/>
          </a:p>
          <a:p>
            <a:pPr>
              <a:spcAft>
                <a:spcPts val="600"/>
              </a:spcAft>
            </a:pPr>
            <a:r>
              <a:rPr sz="1200" dirty="0" err="1"/>
              <a:t>Dosyalardaki</a:t>
            </a:r>
            <a:r>
              <a:rPr sz="1200" dirty="0"/>
              <a:t> </a:t>
            </a:r>
            <a:r>
              <a:rPr sz="1200" dirty="0" err="1"/>
              <a:t>mevcut</a:t>
            </a:r>
            <a:r>
              <a:rPr sz="1200" dirty="0"/>
              <a:t> </a:t>
            </a:r>
            <a:r>
              <a:rPr sz="1200" dirty="0" err="1"/>
              <a:t>koda</a:t>
            </a:r>
            <a:r>
              <a:rPr sz="1200" dirty="0"/>
              <a:t> </a:t>
            </a:r>
            <a:r>
              <a:rPr sz="1200" dirty="0" err="1"/>
              <a:t>dokunulmuyor</a:t>
            </a:r>
            <a:r>
              <a:rPr sz="1200" dirty="0"/>
              <a:t>, </a:t>
            </a:r>
            <a:r>
              <a:rPr sz="1200" dirty="0" err="1"/>
              <a:t>yalnızca</a:t>
            </a:r>
            <a:r>
              <a:rPr sz="1200" dirty="0"/>
              <a:t> yeni </a:t>
            </a:r>
            <a:r>
              <a:rPr sz="1200" dirty="0" err="1"/>
              <a:t>metotlar</a:t>
            </a:r>
            <a:r>
              <a:rPr sz="1200" dirty="0"/>
              <a:t> </a:t>
            </a:r>
            <a:r>
              <a:rPr sz="1200" dirty="0" err="1"/>
              <a:t>ekleniyor</a:t>
            </a:r>
            <a:r>
              <a:rPr sz="1200" dirty="0"/>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a:t>Son </a:t>
            </a:r>
            <a:r>
              <a:rPr sz="1200" dirty="0" err="1"/>
              <a:t>çalışmamız</a:t>
            </a:r>
            <a:r>
              <a:rPr sz="1200" dirty="0"/>
              <a:t> AI Review. IntelliJ </a:t>
            </a:r>
            <a:r>
              <a:rPr sz="1200" dirty="0" err="1"/>
              <a:t>ve</a:t>
            </a:r>
            <a:r>
              <a:rPr sz="1200" dirty="0"/>
              <a:t> VS Code </a:t>
            </a:r>
            <a:r>
              <a:rPr sz="1200" dirty="0" err="1"/>
              <a:t>için</a:t>
            </a:r>
            <a:r>
              <a:rPr sz="1200" dirty="0"/>
              <a:t> </a:t>
            </a:r>
            <a:r>
              <a:rPr sz="1200" dirty="0" err="1"/>
              <a:t>geliştirdik</a:t>
            </a:r>
            <a:r>
              <a:rPr sz="1200" dirty="0"/>
              <a:t> </a:t>
            </a:r>
            <a:r>
              <a:rPr sz="1200" dirty="0" err="1"/>
              <a:t>ve</a:t>
            </a:r>
            <a:r>
              <a:rPr sz="1200" dirty="0"/>
              <a:t> </a:t>
            </a:r>
            <a:r>
              <a:rPr sz="1200" dirty="0" err="1"/>
              <a:t>bu</a:t>
            </a:r>
            <a:r>
              <a:rPr sz="1200" dirty="0"/>
              <a:t> </a:t>
            </a:r>
            <a:r>
              <a:rPr sz="1200" dirty="0" err="1"/>
              <a:t>araç</a:t>
            </a:r>
            <a:r>
              <a:rPr sz="1200" dirty="0"/>
              <a:t> da </a:t>
            </a:r>
            <a:r>
              <a:rPr sz="1200" dirty="0" err="1"/>
              <a:t>yerel</a:t>
            </a:r>
            <a:r>
              <a:rPr sz="1200" dirty="0"/>
              <a:t> LLM </a:t>
            </a:r>
            <a:r>
              <a:rPr sz="1200" dirty="0" err="1"/>
              <a:t>modelleriyle</a:t>
            </a:r>
            <a:r>
              <a:rPr sz="1200" dirty="0"/>
              <a:t> </a:t>
            </a:r>
            <a:r>
              <a:rPr sz="1200" dirty="0" err="1"/>
              <a:t>çalışıyor</a:t>
            </a:r>
            <a:r>
              <a:rPr sz="1200" dirty="0"/>
              <a:t>. Bu </a:t>
            </a:r>
            <a:r>
              <a:rPr sz="1200" dirty="0" err="1"/>
              <a:t>alanda</a:t>
            </a:r>
            <a:r>
              <a:rPr sz="1200" dirty="0"/>
              <a:t> </a:t>
            </a:r>
            <a:r>
              <a:rPr sz="1200" dirty="0" err="1"/>
              <a:t>daha</a:t>
            </a:r>
            <a:r>
              <a:rPr sz="1200" dirty="0"/>
              <a:t> </a:t>
            </a:r>
            <a:r>
              <a:rPr sz="1200" dirty="0" err="1"/>
              <a:t>önce</a:t>
            </a:r>
            <a:r>
              <a:rPr sz="1200" dirty="0"/>
              <a:t> Copilot </a:t>
            </a:r>
            <a:r>
              <a:rPr sz="1200" dirty="0" err="1"/>
              <a:t>ile</a:t>
            </a:r>
            <a:r>
              <a:rPr sz="1200" dirty="0"/>
              <a:t> </a:t>
            </a:r>
            <a:r>
              <a:rPr sz="1200" dirty="0" err="1"/>
              <a:t>yapılmış</a:t>
            </a:r>
            <a:r>
              <a:rPr sz="1200" dirty="0"/>
              <a:t> </a:t>
            </a:r>
            <a:r>
              <a:rPr sz="1200" dirty="0" err="1"/>
              <a:t>bir</a:t>
            </a:r>
            <a:r>
              <a:rPr sz="1200" dirty="0"/>
              <a:t> </a:t>
            </a:r>
            <a:r>
              <a:rPr sz="1200" dirty="0" err="1"/>
              <a:t>çalışma</a:t>
            </a:r>
            <a:r>
              <a:rPr sz="1200" dirty="0"/>
              <a:t> </a:t>
            </a:r>
            <a:r>
              <a:rPr sz="1200" dirty="0" err="1"/>
              <a:t>vardı</a:t>
            </a:r>
            <a:r>
              <a:rPr sz="1200" dirty="0"/>
              <a:t>, </a:t>
            </a:r>
            <a:r>
              <a:rPr sz="1200" dirty="0" err="1"/>
              <a:t>ancak</a:t>
            </a:r>
            <a:r>
              <a:rPr sz="1200" dirty="0"/>
              <a:t> token </a:t>
            </a:r>
            <a:r>
              <a:rPr sz="1200" dirty="0" err="1"/>
              <a:t>maliyeti</a:t>
            </a:r>
            <a:r>
              <a:rPr sz="1200" dirty="0"/>
              <a:t> </a:t>
            </a:r>
            <a:r>
              <a:rPr sz="1200" dirty="0" err="1"/>
              <a:t>nedeniyle</a:t>
            </a:r>
            <a:r>
              <a:rPr sz="1200" dirty="0"/>
              <a:t> </a:t>
            </a:r>
            <a:r>
              <a:rPr sz="1200" dirty="0" err="1"/>
              <a:t>kullanımı</a:t>
            </a:r>
            <a:r>
              <a:rPr sz="1200" dirty="0"/>
              <a:t> </a:t>
            </a:r>
            <a:r>
              <a:rPr sz="1200" dirty="0" err="1"/>
              <a:t>sınırlı</a:t>
            </a:r>
            <a:r>
              <a:rPr sz="1200" dirty="0"/>
              <a:t> </a:t>
            </a:r>
            <a:r>
              <a:rPr sz="1200" dirty="0" err="1"/>
              <a:t>kalıyordu</a:t>
            </a:r>
            <a:r>
              <a:rPr sz="1200" dirty="0"/>
              <a:t>.</a:t>
            </a:r>
            <a:endParaRPr lang="tr-TR" sz="1200" dirty="0"/>
          </a:p>
          <a:p>
            <a:pPr>
              <a:spcAft>
                <a:spcPts val="600"/>
              </a:spcAft>
            </a:pPr>
            <a:endParaRPr sz="1200" dirty="0"/>
          </a:p>
          <a:p>
            <a:pPr>
              <a:spcAft>
                <a:spcPts val="600"/>
              </a:spcAft>
            </a:pPr>
            <a:r>
              <a:rPr sz="1200" dirty="0" err="1"/>
              <a:t>Geçen</a:t>
            </a:r>
            <a:r>
              <a:rPr sz="1200" dirty="0"/>
              <a:t> </a:t>
            </a:r>
            <a:r>
              <a:rPr sz="1200" dirty="0" err="1"/>
              <a:t>hafta</a:t>
            </a:r>
            <a:r>
              <a:rPr sz="1200" dirty="0"/>
              <a:t> </a:t>
            </a:r>
            <a:r>
              <a:rPr sz="1200" dirty="0" err="1"/>
              <a:t>Hasbi</a:t>
            </a:r>
            <a:r>
              <a:rPr sz="1200" dirty="0"/>
              <a:t>,</a:t>
            </a:r>
            <a:r>
              <a:rPr lang="tr-TR" sz="1200" dirty="0"/>
              <a:t> atlas üzerinden </a:t>
            </a:r>
            <a:r>
              <a:rPr lang="tr-TR" sz="1200" dirty="0" err="1"/>
              <a:t>ci</a:t>
            </a:r>
            <a:r>
              <a:rPr lang="tr-TR" sz="1200" dirty="0"/>
              <a:t>/cd </a:t>
            </a:r>
            <a:r>
              <a:rPr lang="tr-TR" sz="1200" dirty="0" err="1"/>
              <a:t>pipeline</a:t>
            </a:r>
            <a:r>
              <a:rPr lang="tr-TR" sz="1200" dirty="0"/>
              <a:t> a entegre bir projenin sunumunu yapmıştı ama burada ayrışan </a:t>
            </a:r>
            <a:r>
              <a:rPr lang="tr-TR" sz="1200"/>
              <a:t>özelliklerimiz var. </a:t>
            </a:r>
            <a:endParaRPr lang="tr-TR" sz="1200" dirty="0"/>
          </a:p>
          <a:p>
            <a:pPr>
              <a:spcAft>
                <a:spcPts val="600"/>
              </a:spcAft>
            </a:pPr>
            <a:endParaRPr lang="tr-TR" sz="1200" dirty="0"/>
          </a:p>
          <a:p>
            <a:pPr>
              <a:spcAft>
                <a:spcPts val="600"/>
              </a:spcAft>
            </a:pPr>
            <a:r>
              <a:rPr sz="1200" dirty="0" err="1"/>
              <a:t>Yerel</a:t>
            </a:r>
            <a:r>
              <a:rPr sz="1200" dirty="0"/>
              <a:t> </a:t>
            </a:r>
            <a:r>
              <a:rPr sz="1200" dirty="0" err="1"/>
              <a:t>değişiklikleri</a:t>
            </a:r>
            <a:r>
              <a:rPr sz="1200" dirty="0"/>
              <a:t> </a:t>
            </a:r>
            <a:r>
              <a:rPr sz="1200" dirty="0" err="1"/>
              <a:t>tek</a:t>
            </a:r>
            <a:r>
              <a:rPr sz="1200" dirty="0"/>
              <a:t> </a:t>
            </a:r>
            <a:r>
              <a:rPr sz="1200" dirty="0" err="1"/>
              <a:t>tuşla</a:t>
            </a:r>
            <a:r>
              <a:rPr sz="1200" dirty="0"/>
              <a:t> </a:t>
            </a:r>
            <a:r>
              <a:rPr sz="1200" dirty="0" err="1"/>
              <a:t>incelemek</a:t>
            </a:r>
            <a:r>
              <a:rPr sz="1200" dirty="0"/>
              <a:t> </a:t>
            </a:r>
            <a:r>
              <a:rPr sz="1200" dirty="0" err="1"/>
              <a:t>ve</a:t>
            </a:r>
            <a:r>
              <a:rPr sz="1200" dirty="0"/>
              <a:t> </a:t>
            </a:r>
            <a:r>
              <a:rPr sz="1200" dirty="0" err="1"/>
              <a:t>PR'ları</a:t>
            </a:r>
            <a:r>
              <a:rPr sz="1200" dirty="0"/>
              <a:t> </a:t>
            </a:r>
            <a:r>
              <a:rPr sz="1200" dirty="0" err="1"/>
              <a:t>tarayıcı</a:t>
            </a:r>
            <a:r>
              <a:rPr sz="1200" dirty="0"/>
              <a:t> </a:t>
            </a:r>
            <a:r>
              <a:rPr sz="1200" dirty="0" err="1"/>
              <a:t>yerine</a:t>
            </a:r>
            <a:r>
              <a:rPr sz="1200" dirty="0"/>
              <a:t> IDE </a:t>
            </a:r>
            <a:r>
              <a:rPr sz="1200" dirty="0" err="1"/>
              <a:t>üzerinden</a:t>
            </a:r>
            <a:r>
              <a:rPr sz="1200" dirty="0"/>
              <a:t> </a:t>
            </a:r>
            <a:r>
              <a:rPr sz="1200" dirty="0" err="1"/>
              <a:t>incelemek</a:t>
            </a:r>
            <a:r>
              <a:rPr sz="1200" dirty="0"/>
              <a:t>.</a:t>
            </a:r>
            <a:endParaRPr lang="tr-TR" sz="1200" dirty="0"/>
          </a:p>
          <a:p>
            <a:pPr>
              <a:spcAft>
                <a:spcPts val="600"/>
              </a:spcAft>
            </a:pPr>
            <a:endParaRPr sz="1200" dirty="0"/>
          </a:p>
          <a:p>
            <a:pPr>
              <a:spcAft>
                <a:spcPts val="600"/>
              </a:spcAft>
            </a:pPr>
            <a:r>
              <a:rPr sz="1200" dirty="0" err="1"/>
              <a:t>Araç</a:t>
            </a:r>
            <a:r>
              <a:rPr sz="1200" dirty="0"/>
              <a:t> </a:t>
            </a:r>
            <a:r>
              <a:rPr sz="1200" dirty="0" err="1"/>
              <a:t>geliştiricinin</a:t>
            </a:r>
            <a:r>
              <a:rPr sz="1200" dirty="0"/>
              <a:t> </a:t>
            </a:r>
            <a:r>
              <a:rPr sz="1200" dirty="0" err="1"/>
              <a:t>kendi</a:t>
            </a:r>
            <a:r>
              <a:rPr sz="1200" dirty="0"/>
              <a:t> </a:t>
            </a:r>
            <a:r>
              <a:rPr sz="1200" dirty="0" err="1"/>
              <a:t>bilgisayarında</a:t>
            </a:r>
            <a:r>
              <a:rPr sz="1200" dirty="0"/>
              <a:t> </a:t>
            </a:r>
            <a:r>
              <a:rPr sz="1200" dirty="0" err="1"/>
              <a:t>çalışıyor</a:t>
            </a:r>
            <a:r>
              <a:rPr sz="1200" dirty="0"/>
              <a:t>. </a:t>
            </a:r>
            <a:r>
              <a:rPr sz="1200" dirty="0" err="1"/>
              <a:t>Geliştirici</a:t>
            </a:r>
            <a:r>
              <a:rPr sz="1200" dirty="0"/>
              <a:t> </a:t>
            </a:r>
            <a:r>
              <a:rPr sz="1200" dirty="0" err="1"/>
              <a:t>kodu</a:t>
            </a:r>
            <a:r>
              <a:rPr sz="1200" dirty="0"/>
              <a:t> </a:t>
            </a:r>
            <a:r>
              <a:rPr sz="1200" dirty="0" err="1"/>
              <a:t>göndermeden</a:t>
            </a:r>
            <a:r>
              <a:rPr sz="1200" dirty="0"/>
              <a:t> </a:t>
            </a:r>
            <a:r>
              <a:rPr sz="1200" dirty="0" err="1"/>
              <a:t>önce</a:t>
            </a:r>
            <a:r>
              <a:rPr sz="1200" dirty="0"/>
              <a:t>, Commit </a:t>
            </a:r>
            <a:r>
              <a:rPr sz="1200" dirty="0" err="1"/>
              <a:t>ekranındaki</a:t>
            </a:r>
            <a:r>
              <a:rPr sz="1200" dirty="0"/>
              <a:t> '</a:t>
            </a:r>
            <a:r>
              <a:rPr sz="1200" dirty="0" err="1"/>
              <a:t>Yerel</a:t>
            </a:r>
            <a:r>
              <a:rPr sz="1200" dirty="0"/>
              <a:t> </a:t>
            </a:r>
            <a:r>
              <a:rPr sz="1200" dirty="0" err="1"/>
              <a:t>Değişiklikleri</a:t>
            </a:r>
            <a:r>
              <a:rPr sz="1200" dirty="0"/>
              <a:t> AI </a:t>
            </a:r>
            <a:r>
              <a:rPr sz="1200" dirty="0" err="1"/>
              <a:t>ile</a:t>
            </a:r>
            <a:r>
              <a:rPr sz="1200" dirty="0"/>
              <a:t> </a:t>
            </a:r>
            <a:r>
              <a:rPr sz="1200" dirty="0" err="1"/>
              <a:t>İncele</a:t>
            </a:r>
            <a:r>
              <a:rPr sz="1200" dirty="0"/>
              <a:t>' </a:t>
            </a:r>
            <a:r>
              <a:rPr sz="1200" dirty="0" err="1"/>
              <a:t>butonuna</a:t>
            </a:r>
            <a:r>
              <a:rPr sz="1200" dirty="0"/>
              <a:t> </a:t>
            </a:r>
            <a:r>
              <a:rPr sz="1200" dirty="0" err="1"/>
              <a:t>basıyor</a:t>
            </a:r>
            <a:r>
              <a:rPr sz="1200" dirty="0"/>
              <a:t>.</a:t>
            </a:r>
            <a:endParaRPr lang="tr-TR" sz="1200" dirty="0"/>
          </a:p>
          <a:p>
            <a:pPr>
              <a:spcAft>
                <a:spcPts val="600"/>
              </a:spcAft>
            </a:pPr>
            <a:endParaRPr sz="1200" dirty="0"/>
          </a:p>
          <a:p>
            <a:pPr>
              <a:spcAft>
                <a:spcPts val="600"/>
              </a:spcAft>
            </a:pPr>
            <a:r>
              <a:rPr sz="1200" dirty="0" err="1"/>
              <a:t>İnceleme</a:t>
            </a:r>
            <a:r>
              <a:rPr sz="1200" dirty="0"/>
              <a:t> </a:t>
            </a:r>
            <a:r>
              <a:rPr sz="1200" dirty="0" err="1"/>
              <a:t>olası</a:t>
            </a:r>
            <a:r>
              <a:rPr sz="1200" dirty="0"/>
              <a:t> </a:t>
            </a:r>
            <a:r>
              <a:rPr sz="1200" dirty="0" err="1"/>
              <a:t>hataları</a:t>
            </a:r>
            <a:r>
              <a:rPr sz="1200" dirty="0"/>
              <a:t>, </a:t>
            </a:r>
            <a:r>
              <a:rPr sz="1200" dirty="0" err="1"/>
              <a:t>güvenlik</a:t>
            </a:r>
            <a:r>
              <a:rPr sz="1200" dirty="0"/>
              <a:t> </a:t>
            </a:r>
            <a:r>
              <a:rPr sz="1200" dirty="0" err="1"/>
              <a:t>risklerini</a:t>
            </a:r>
            <a:r>
              <a:rPr sz="1200" dirty="0"/>
              <a:t>, </a:t>
            </a:r>
            <a:r>
              <a:rPr sz="1200" dirty="0" err="1"/>
              <a:t>eksik</a:t>
            </a:r>
            <a:r>
              <a:rPr sz="1200" dirty="0"/>
              <a:t> test </a:t>
            </a:r>
            <a:r>
              <a:rPr sz="1200" dirty="0" err="1"/>
              <a:t>senaryolarını</a:t>
            </a:r>
            <a:r>
              <a:rPr sz="1200" dirty="0"/>
              <a:t> </a:t>
            </a:r>
            <a:r>
              <a:rPr sz="1200" dirty="0" err="1"/>
              <a:t>ve</a:t>
            </a:r>
            <a:r>
              <a:rPr sz="1200" dirty="0"/>
              <a:t> </a:t>
            </a:r>
            <a:r>
              <a:rPr sz="1200" dirty="0" err="1"/>
              <a:t>kod</a:t>
            </a:r>
            <a:r>
              <a:rPr sz="1200" dirty="0"/>
              <a:t> </a:t>
            </a:r>
            <a:r>
              <a:rPr sz="1200" dirty="0" err="1"/>
              <a:t>kalitesi</a:t>
            </a:r>
            <a:r>
              <a:rPr sz="1200" dirty="0"/>
              <a:t> </a:t>
            </a:r>
            <a:r>
              <a:rPr sz="1200" dirty="0" err="1"/>
              <a:t>uyarılarını</a:t>
            </a:r>
            <a:r>
              <a:rPr sz="1200" dirty="0"/>
              <a:t> </a:t>
            </a:r>
            <a:r>
              <a:rPr sz="1200" dirty="0" err="1"/>
              <a:t>listeliyor</a:t>
            </a:r>
            <a:r>
              <a:rPr sz="1200" dirty="0"/>
              <a:t>.</a:t>
            </a:r>
            <a:endParaRPr lang="tr-TR" sz="1200" dirty="0"/>
          </a:p>
          <a:p>
            <a:pPr>
              <a:spcAft>
                <a:spcPts val="600"/>
              </a:spcAft>
            </a:pPr>
            <a:endParaRPr sz="1200" dirty="0"/>
          </a:p>
          <a:p>
            <a:pPr>
              <a:spcAft>
                <a:spcPts val="600"/>
              </a:spcAft>
            </a:pPr>
            <a:r>
              <a:rPr sz="1200" dirty="0" err="1"/>
              <a:t>Böylece</a:t>
            </a:r>
            <a:r>
              <a:rPr sz="1200" dirty="0"/>
              <a:t> </a:t>
            </a:r>
            <a:r>
              <a:rPr sz="1200" dirty="0" err="1"/>
              <a:t>sorunlar</a:t>
            </a:r>
            <a:r>
              <a:rPr sz="1200" dirty="0"/>
              <a:t> </a:t>
            </a:r>
            <a:r>
              <a:rPr sz="1200" dirty="0" err="1"/>
              <a:t>daha</a:t>
            </a:r>
            <a:r>
              <a:rPr sz="1200" dirty="0"/>
              <a:t> PR </a:t>
            </a:r>
            <a:r>
              <a:rPr sz="1200" dirty="0" err="1"/>
              <a:t>açılmadan</a:t>
            </a:r>
            <a:r>
              <a:rPr sz="1200" dirty="0"/>
              <a:t> </a:t>
            </a:r>
            <a:r>
              <a:rPr sz="1200" dirty="0" err="1"/>
              <a:t>yakalanıyor</a:t>
            </a:r>
            <a:r>
              <a:rPr sz="1200" dirty="0"/>
              <a:t> </a:t>
            </a:r>
            <a:r>
              <a:rPr sz="1200" dirty="0" err="1"/>
              <a:t>ve</a:t>
            </a:r>
            <a:r>
              <a:rPr sz="1200" dirty="0"/>
              <a:t> </a:t>
            </a:r>
            <a:r>
              <a:rPr sz="1200" dirty="0" err="1"/>
              <a:t>inceleyen</a:t>
            </a:r>
            <a:r>
              <a:rPr sz="1200" dirty="0"/>
              <a:t> </a:t>
            </a:r>
            <a:r>
              <a:rPr sz="1200" dirty="0" err="1"/>
              <a:t>kişiye</a:t>
            </a:r>
            <a:r>
              <a:rPr sz="1200" dirty="0"/>
              <a:t> </a:t>
            </a:r>
            <a:r>
              <a:rPr sz="1200" dirty="0" err="1"/>
              <a:t>daha</a:t>
            </a:r>
            <a:r>
              <a:rPr sz="1200" dirty="0"/>
              <a:t> </a:t>
            </a:r>
            <a:r>
              <a:rPr sz="1200" dirty="0" err="1"/>
              <a:t>temiz</a:t>
            </a:r>
            <a:r>
              <a:rPr sz="1200" dirty="0"/>
              <a:t> </a:t>
            </a:r>
            <a:r>
              <a:rPr sz="1200" dirty="0" err="1"/>
              <a:t>kod</a:t>
            </a:r>
            <a:r>
              <a:rPr sz="1200" dirty="0"/>
              <a:t> </a:t>
            </a:r>
            <a:r>
              <a:rPr sz="1200" dirty="0" err="1"/>
              <a:t>gidiyor</a:t>
            </a:r>
            <a:r>
              <a:rPr sz="1200" dirty="0"/>
              <a:t>.</a:t>
            </a:r>
          </a:p>
        </p:txBody>
      </p:sp>
      <p:sp>
        <p:nvSpPr>
          <p:cNvPr id="4" name="Slide Number Placeholder 3"/>
          <p:cNvSpPr>
            <a:spLocks noGrp="1"/>
          </p:cNvSpPr>
          <p:nvPr>
            <p:ph type="sldNum" sz="quarter" idx="10"/>
          </p:nvPr>
        </p:nvSpPr>
        <p:spPr/>
        <p:txBody>
          <a:bodyPr/>
          <a:lstStyle/>
          <a:p>
            <a:fld id="{F7021451-1387-4CA6-816F-3879F97B5CBC}" type="slidenum">
              <a:rPr lang="tr-TR"/>
              <a:t>13</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err="1"/>
              <a:t>PR'ı</a:t>
            </a:r>
            <a:r>
              <a:rPr sz="1200" dirty="0"/>
              <a:t> </a:t>
            </a:r>
            <a:r>
              <a:rPr sz="1200" dirty="0" err="1"/>
              <a:t>inceleyen</a:t>
            </a:r>
            <a:r>
              <a:rPr sz="1200" dirty="0"/>
              <a:t> </a:t>
            </a:r>
            <a:r>
              <a:rPr sz="1200" dirty="0" err="1"/>
              <a:t>kişi</a:t>
            </a:r>
            <a:r>
              <a:rPr sz="1200" dirty="0"/>
              <a:t> </a:t>
            </a:r>
            <a:r>
              <a:rPr sz="1200" dirty="0" err="1"/>
              <a:t>tarayıcıya</a:t>
            </a:r>
            <a:r>
              <a:rPr sz="1200" dirty="0"/>
              <a:t> </a:t>
            </a:r>
            <a:r>
              <a:rPr sz="1200" dirty="0" err="1"/>
              <a:t>geçmeden</a:t>
            </a:r>
            <a:r>
              <a:rPr sz="1200" dirty="0"/>
              <a:t>, IDE </a:t>
            </a:r>
            <a:r>
              <a:rPr sz="1200" dirty="0" err="1"/>
              <a:t>içinden</a:t>
            </a:r>
            <a:r>
              <a:rPr sz="1200" dirty="0"/>
              <a:t> </a:t>
            </a:r>
            <a:r>
              <a:rPr sz="1200" dirty="0" err="1"/>
              <a:t>açık</a:t>
            </a:r>
            <a:r>
              <a:rPr sz="1200" dirty="0"/>
              <a:t> </a:t>
            </a:r>
            <a:r>
              <a:rPr sz="1200" dirty="0" err="1"/>
              <a:t>PR'ları</a:t>
            </a:r>
            <a:r>
              <a:rPr sz="1200" dirty="0"/>
              <a:t> </a:t>
            </a:r>
            <a:r>
              <a:rPr sz="1200" dirty="0" err="1"/>
              <a:t>filtreleyebiliyor</a:t>
            </a:r>
            <a:r>
              <a:rPr sz="1200" dirty="0"/>
              <a:t>. </a:t>
            </a:r>
            <a:r>
              <a:rPr sz="1200" dirty="0" err="1"/>
              <a:t>Değişen</a:t>
            </a:r>
            <a:r>
              <a:rPr sz="1200" dirty="0"/>
              <a:t> </a:t>
            </a:r>
            <a:r>
              <a:rPr sz="1200" dirty="0" err="1"/>
              <a:t>dosyaları</a:t>
            </a:r>
            <a:r>
              <a:rPr sz="1200" dirty="0"/>
              <a:t> </a:t>
            </a:r>
            <a:r>
              <a:rPr sz="1200" dirty="0" err="1"/>
              <a:t>ve</a:t>
            </a:r>
            <a:r>
              <a:rPr sz="1200" dirty="0"/>
              <a:t> </a:t>
            </a:r>
            <a:r>
              <a:rPr sz="1200" dirty="0" err="1"/>
              <a:t>kod</a:t>
            </a:r>
            <a:r>
              <a:rPr sz="1200" dirty="0"/>
              <a:t> </a:t>
            </a:r>
            <a:r>
              <a:rPr sz="1200" dirty="0" err="1"/>
              <a:t>farklarını</a:t>
            </a:r>
            <a:r>
              <a:rPr sz="1200" dirty="0"/>
              <a:t> </a:t>
            </a:r>
            <a:r>
              <a:rPr sz="1200" dirty="0" err="1"/>
              <a:t>yan</a:t>
            </a:r>
            <a:r>
              <a:rPr sz="1200" dirty="0"/>
              <a:t> </a:t>
            </a:r>
            <a:r>
              <a:rPr sz="1200" dirty="0" err="1"/>
              <a:t>yana</a:t>
            </a:r>
            <a:r>
              <a:rPr sz="1200" dirty="0"/>
              <a:t> </a:t>
            </a:r>
            <a:r>
              <a:rPr sz="1200" dirty="0" err="1"/>
              <a:t>görebiliyor</a:t>
            </a:r>
            <a:r>
              <a:rPr sz="1200" dirty="0"/>
              <a:t>. </a:t>
            </a:r>
            <a:endParaRPr lang="tr-TR" sz="1200" dirty="0"/>
          </a:p>
          <a:p>
            <a:pPr>
              <a:spcAft>
                <a:spcPts val="600"/>
              </a:spcAft>
            </a:pPr>
            <a:endParaRPr lang="tr-TR" sz="1200" dirty="0"/>
          </a:p>
          <a:p>
            <a:pPr>
              <a:spcAft>
                <a:spcPts val="600"/>
              </a:spcAft>
            </a:pPr>
            <a:r>
              <a:rPr sz="1200" dirty="0" err="1"/>
              <a:t>Tarayıcı</a:t>
            </a:r>
            <a:r>
              <a:rPr sz="1200" dirty="0"/>
              <a:t> </a:t>
            </a:r>
            <a:r>
              <a:rPr sz="1200" dirty="0" err="1"/>
              <a:t>üzerinden</a:t>
            </a:r>
            <a:r>
              <a:rPr sz="1200" dirty="0"/>
              <a:t> review </a:t>
            </a:r>
            <a:r>
              <a:rPr sz="1200" dirty="0" err="1"/>
              <a:t>yapmak</a:t>
            </a:r>
            <a:r>
              <a:rPr sz="1200" dirty="0"/>
              <a:t>, </a:t>
            </a:r>
            <a:r>
              <a:rPr sz="1200" dirty="0" err="1"/>
              <a:t>özellikle</a:t>
            </a:r>
            <a:r>
              <a:rPr sz="1200" dirty="0"/>
              <a:t> </a:t>
            </a:r>
            <a:r>
              <a:rPr sz="1200" dirty="0" err="1"/>
              <a:t>büyük</a:t>
            </a:r>
            <a:r>
              <a:rPr sz="1200" dirty="0"/>
              <a:t> </a:t>
            </a:r>
            <a:r>
              <a:rPr sz="1200" dirty="0" err="1"/>
              <a:t>geliştirmelerde</a:t>
            </a:r>
            <a:r>
              <a:rPr sz="1200" dirty="0"/>
              <a:t> </a:t>
            </a:r>
            <a:r>
              <a:rPr sz="1200" dirty="0" err="1"/>
              <a:t>zor</a:t>
            </a:r>
            <a:r>
              <a:rPr sz="1200" dirty="0"/>
              <a:t> </a:t>
            </a:r>
            <a:r>
              <a:rPr sz="1200" dirty="0" err="1"/>
              <a:t>olabiliyor</a:t>
            </a:r>
            <a:r>
              <a:rPr sz="1200" dirty="0"/>
              <a:t>.</a:t>
            </a:r>
            <a:endParaRPr lang="tr-TR" sz="1200" dirty="0"/>
          </a:p>
          <a:p>
            <a:pPr>
              <a:spcAft>
                <a:spcPts val="600"/>
              </a:spcAft>
            </a:pPr>
            <a:endParaRPr sz="1200" dirty="0"/>
          </a:p>
          <a:p>
            <a:pPr>
              <a:spcAft>
                <a:spcPts val="600"/>
              </a:spcAft>
            </a:pPr>
            <a:r>
              <a:rPr sz="1200" dirty="0"/>
              <a:t>Yapay </a:t>
            </a:r>
            <a:r>
              <a:rPr sz="1200" dirty="0" err="1"/>
              <a:t>zekanın</a:t>
            </a:r>
            <a:r>
              <a:rPr sz="1200" dirty="0"/>
              <a:t> </a:t>
            </a:r>
            <a:r>
              <a:rPr sz="1200" dirty="0" err="1"/>
              <a:t>bulduğu</a:t>
            </a:r>
            <a:r>
              <a:rPr sz="1200" dirty="0"/>
              <a:t> </a:t>
            </a:r>
            <a:r>
              <a:rPr sz="1200" dirty="0" err="1"/>
              <a:t>bir</a:t>
            </a:r>
            <a:r>
              <a:rPr sz="1200" dirty="0"/>
              <a:t> </a:t>
            </a:r>
            <a:r>
              <a:rPr sz="1200" dirty="0" err="1"/>
              <a:t>bulgu</a:t>
            </a:r>
            <a:r>
              <a:rPr sz="1200" dirty="0"/>
              <a:t> da </a:t>
            </a:r>
            <a:r>
              <a:rPr sz="1200" dirty="0" err="1"/>
              <a:t>tek</a:t>
            </a:r>
            <a:r>
              <a:rPr sz="1200" dirty="0"/>
              <a:t> </a:t>
            </a:r>
            <a:r>
              <a:rPr sz="1200" dirty="0" err="1"/>
              <a:t>tıkla</a:t>
            </a:r>
            <a:r>
              <a:rPr sz="1200" dirty="0"/>
              <a:t> </a:t>
            </a:r>
            <a:r>
              <a:rPr sz="1200" dirty="0" err="1"/>
              <a:t>Bitbucket'a</a:t>
            </a:r>
            <a:r>
              <a:rPr sz="1200" dirty="0"/>
              <a:t> </a:t>
            </a:r>
            <a:r>
              <a:rPr sz="1200" dirty="0" err="1"/>
              <a:t>yorum</a:t>
            </a:r>
            <a:r>
              <a:rPr sz="1200" dirty="0"/>
              <a:t> </a:t>
            </a:r>
            <a:r>
              <a:rPr sz="1200" dirty="0" err="1"/>
              <a:t>olarak</a:t>
            </a:r>
            <a:r>
              <a:rPr sz="1200" dirty="0"/>
              <a:t> </a:t>
            </a:r>
            <a:r>
              <a:rPr sz="1200" dirty="0" err="1"/>
              <a:t>gönderilebiliyor</a:t>
            </a:r>
            <a:r>
              <a:rPr sz="1200" dirty="0"/>
              <a:t>.</a:t>
            </a:r>
            <a:endParaRPr lang="tr-TR" sz="1200" dirty="0"/>
          </a:p>
          <a:p>
            <a:pPr>
              <a:spcAft>
                <a:spcPts val="600"/>
              </a:spcAft>
            </a:pPr>
            <a:endParaRPr sz="1200" dirty="0"/>
          </a:p>
        </p:txBody>
      </p:sp>
      <p:sp>
        <p:nvSpPr>
          <p:cNvPr id="4" name="Slide Number Placeholder 3"/>
          <p:cNvSpPr>
            <a:spLocks noGrp="1"/>
          </p:cNvSpPr>
          <p:nvPr>
            <p:ph type="sldNum" sz="quarter" idx="10"/>
          </p:nvPr>
        </p:nvSpPr>
        <p:spPr/>
        <p:txBody>
          <a:bodyPr/>
          <a:lstStyle/>
          <a:p>
            <a:fld id="{F7021451-1387-4CA6-816F-3879F97B5CBC}" type="slidenum">
              <a:rPr lang="tr-TR"/>
              <a:t>14</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sz="1200" dirty="0" err="1"/>
              <a:t>PR'a</a:t>
            </a:r>
            <a:r>
              <a:rPr sz="1200" dirty="0"/>
              <a:t> </a:t>
            </a:r>
            <a:r>
              <a:rPr sz="1200" dirty="0" err="1"/>
              <a:t>yazılan</a:t>
            </a:r>
            <a:r>
              <a:rPr sz="1200" dirty="0"/>
              <a:t> </a:t>
            </a:r>
            <a:r>
              <a:rPr sz="1200" dirty="0" err="1"/>
              <a:t>otomatik</a:t>
            </a:r>
            <a:r>
              <a:rPr sz="1200" dirty="0"/>
              <a:t> </a:t>
            </a:r>
            <a:r>
              <a:rPr sz="1200" dirty="0" err="1"/>
              <a:t>yorumlar</a:t>
            </a:r>
            <a:r>
              <a:rPr sz="1200" dirty="0"/>
              <a:t> </a:t>
            </a:r>
            <a:r>
              <a:rPr sz="1200" dirty="0" err="1"/>
              <a:t>iki</a:t>
            </a:r>
            <a:r>
              <a:rPr sz="1200" dirty="0"/>
              <a:t> </a:t>
            </a:r>
            <a:r>
              <a:rPr sz="1200" dirty="0" err="1"/>
              <a:t>seviyeden</a:t>
            </a:r>
            <a:r>
              <a:rPr sz="1200" dirty="0"/>
              <a:t> </a:t>
            </a:r>
            <a:r>
              <a:rPr sz="1200" dirty="0" err="1"/>
              <a:t>oluşuyor</a:t>
            </a:r>
            <a:r>
              <a:rPr sz="1200" dirty="0"/>
              <a:t>.</a:t>
            </a:r>
            <a:endParaRPr lang="tr-TR" sz="1200" dirty="0"/>
          </a:p>
          <a:p>
            <a:pPr>
              <a:spcAft>
                <a:spcPts val="600"/>
              </a:spcAft>
            </a:pPr>
            <a:endParaRPr sz="1200" dirty="0"/>
          </a:p>
          <a:p>
            <a:pPr>
              <a:spcAft>
                <a:spcPts val="600"/>
              </a:spcAft>
            </a:pPr>
            <a:r>
              <a:rPr sz="1200" dirty="0"/>
              <a:t>Birinci </a:t>
            </a:r>
            <a:r>
              <a:rPr sz="1200" dirty="0" err="1"/>
              <a:t>seviyede</a:t>
            </a:r>
            <a:r>
              <a:rPr sz="1200" dirty="0"/>
              <a:t>, PR </a:t>
            </a:r>
            <a:r>
              <a:rPr sz="1200" dirty="0" err="1"/>
              <a:t>sayfasına</a:t>
            </a:r>
            <a:r>
              <a:rPr sz="1200" dirty="0"/>
              <a:t> </a:t>
            </a:r>
            <a:r>
              <a:rPr sz="1200" dirty="0" err="1"/>
              <a:t>yapılan</a:t>
            </a:r>
            <a:r>
              <a:rPr sz="1200" dirty="0"/>
              <a:t> </a:t>
            </a:r>
            <a:r>
              <a:rPr sz="1200" dirty="0" err="1"/>
              <a:t>işin</a:t>
            </a:r>
            <a:r>
              <a:rPr sz="1200" dirty="0"/>
              <a:t> </a:t>
            </a:r>
            <a:r>
              <a:rPr sz="1200" dirty="0" err="1"/>
              <a:t>özetini</a:t>
            </a:r>
            <a:r>
              <a:rPr sz="1200" dirty="0"/>
              <a:t>, risk </a:t>
            </a:r>
            <a:r>
              <a:rPr sz="1200" dirty="0" err="1"/>
              <a:t>seviyesini</a:t>
            </a:r>
            <a:r>
              <a:rPr sz="1200" dirty="0"/>
              <a:t> </a:t>
            </a:r>
            <a:r>
              <a:rPr sz="1200" dirty="0" err="1"/>
              <a:t>ve</a:t>
            </a:r>
            <a:r>
              <a:rPr sz="1200" dirty="0"/>
              <a:t> </a:t>
            </a:r>
            <a:r>
              <a:rPr sz="1200" dirty="0" err="1"/>
              <a:t>kontrol</a:t>
            </a:r>
            <a:r>
              <a:rPr sz="1200" dirty="0"/>
              <a:t> </a:t>
            </a:r>
            <a:r>
              <a:rPr sz="1200" dirty="0" err="1"/>
              <a:t>edilmesi</a:t>
            </a:r>
            <a:r>
              <a:rPr sz="1200" dirty="0"/>
              <a:t> </a:t>
            </a:r>
            <a:r>
              <a:rPr sz="1200" dirty="0" err="1"/>
              <a:t>gereken</a:t>
            </a:r>
            <a:r>
              <a:rPr sz="1200" dirty="0"/>
              <a:t> test </a:t>
            </a:r>
            <a:r>
              <a:rPr sz="1200" dirty="0" err="1"/>
              <a:t>adımlarını</a:t>
            </a:r>
            <a:r>
              <a:rPr sz="1200" dirty="0"/>
              <a:t> </a:t>
            </a:r>
            <a:r>
              <a:rPr sz="1200" dirty="0" err="1"/>
              <a:t>yazıyor</a:t>
            </a:r>
            <a:r>
              <a:rPr sz="1200" dirty="0"/>
              <a:t>.</a:t>
            </a:r>
            <a:endParaRPr lang="tr-TR" sz="1200" dirty="0"/>
          </a:p>
          <a:p>
            <a:pPr>
              <a:spcAft>
                <a:spcPts val="600"/>
              </a:spcAft>
            </a:pPr>
            <a:endParaRPr sz="1200" dirty="0"/>
          </a:p>
          <a:p>
            <a:pPr>
              <a:spcAft>
                <a:spcPts val="600"/>
              </a:spcAft>
            </a:pPr>
            <a:r>
              <a:rPr sz="1200" dirty="0" err="1"/>
              <a:t>İkinci</a:t>
            </a:r>
            <a:r>
              <a:rPr sz="1200" dirty="0"/>
              <a:t> </a:t>
            </a:r>
            <a:r>
              <a:rPr sz="1200" dirty="0" err="1"/>
              <a:t>seviyede</a:t>
            </a:r>
            <a:r>
              <a:rPr sz="1200" dirty="0"/>
              <a:t>, </a:t>
            </a:r>
            <a:r>
              <a:rPr sz="1200" dirty="0" err="1"/>
              <a:t>riskli</a:t>
            </a:r>
            <a:r>
              <a:rPr sz="1200" dirty="0"/>
              <a:t> </a:t>
            </a:r>
            <a:r>
              <a:rPr sz="1200" dirty="0" err="1"/>
              <a:t>kod</a:t>
            </a:r>
            <a:r>
              <a:rPr sz="1200" dirty="0"/>
              <a:t> </a:t>
            </a:r>
            <a:r>
              <a:rPr sz="1200" dirty="0" err="1"/>
              <a:t>satırının</a:t>
            </a:r>
            <a:r>
              <a:rPr sz="1200" dirty="0"/>
              <a:t> </a:t>
            </a:r>
            <a:r>
              <a:rPr sz="1200" dirty="0" err="1"/>
              <a:t>hemen</a:t>
            </a:r>
            <a:r>
              <a:rPr sz="1200" dirty="0"/>
              <a:t> </a:t>
            </a:r>
            <a:r>
              <a:rPr sz="1200" dirty="0" err="1"/>
              <a:t>altına</a:t>
            </a:r>
            <a:r>
              <a:rPr sz="1200" dirty="0"/>
              <a:t> </a:t>
            </a:r>
            <a:r>
              <a:rPr sz="1200" dirty="0" err="1"/>
              <a:t>hatanın</a:t>
            </a:r>
            <a:r>
              <a:rPr sz="1200" dirty="0"/>
              <a:t> </a:t>
            </a:r>
            <a:r>
              <a:rPr sz="1200" dirty="0" err="1"/>
              <a:t>nedenini</a:t>
            </a:r>
            <a:r>
              <a:rPr sz="1200" dirty="0"/>
              <a:t> </a:t>
            </a:r>
            <a:r>
              <a:rPr sz="1200" dirty="0" err="1"/>
              <a:t>ve</a:t>
            </a:r>
            <a:r>
              <a:rPr sz="1200" dirty="0"/>
              <a:t> </a:t>
            </a:r>
            <a:r>
              <a:rPr sz="1200" dirty="0" err="1"/>
              <a:t>çözüm</a:t>
            </a:r>
            <a:r>
              <a:rPr sz="1200" dirty="0"/>
              <a:t> </a:t>
            </a:r>
            <a:r>
              <a:rPr sz="1200" dirty="0" err="1"/>
              <a:t>önerisini</a:t>
            </a:r>
            <a:r>
              <a:rPr sz="1200" dirty="0"/>
              <a:t> </a:t>
            </a:r>
            <a:r>
              <a:rPr sz="1200" dirty="0" err="1"/>
              <a:t>ekliyor</a:t>
            </a:r>
            <a:r>
              <a:rPr sz="1200" dirty="0"/>
              <a:t>.</a:t>
            </a:r>
            <a:endParaRPr lang="tr-TR" sz="1200" dirty="0"/>
          </a:p>
          <a:p>
            <a:pPr>
              <a:spcAft>
                <a:spcPts val="600"/>
              </a:spcAft>
            </a:pPr>
            <a:endParaRPr sz="1200" dirty="0"/>
          </a:p>
        </p:txBody>
      </p:sp>
      <p:sp>
        <p:nvSpPr>
          <p:cNvPr id="4" name="Slide Number Placeholder 3"/>
          <p:cNvSpPr>
            <a:spLocks noGrp="1"/>
          </p:cNvSpPr>
          <p:nvPr>
            <p:ph type="sldNum" sz="quarter" idx="10"/>
          </p:nvPr>
        </p:nvSpPr>
        <p:spPr/>
        <p:txBody>
          <a:bodyPr/>
          <a:lstStyle/>
          <a:p>
            <a:fld id="{F7021451-1387-4CA6-816F-3879F97B5CBC}" type="slidenum">
              <a:rPr lang="tr-TR"/>
              <a:t>15</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tr-TR" sz="1200" dirty="0" err="1"/>
              <a:t>Review</a:t>
            </a:r>
            <a:r>
              <a:rPr lang="tr-TR" sz="1200" dirty="0"/>
              <a:t> için özel kurallarda </a:t>
            </a:r>
            <a:r>
              <a:rPr lang="tr-TR" sz="1200" dirty="0" err="1"/>
              <a:t>ekelyebiliyoruz</a:t>
            </a:r>
            <a:r>
              <a:rPr lang="tr-TR" sz="1200" dirty="0"/>
              <a:t>.</a:t>
            </a:r>
            <a:br>
              <a:rPr lang="tr-TR" sz="1200" dirty="0"/>
            </a:br>
            <a:br>
              <a:rPr lang="tr-TR" sz="1200" dirty="0"/>
            </a:br>
            <a:r>
              <a:rPr sz="1200" dirty="0"/>
              <a:t>Genel </a:t>
            </a:r>
            <a:r>
              <a:rPr sz="1200" dirty="0" err="1"/>
              <a:t>inceleme</a:t>
            </a:r>
            <a:r>
              <a:rPr sz="1200" dirty="0"/>
              <a:t> </a:t>
            </a:r>
            <a:r>
              <a:rPr sz="1200" dirty="0" err="1"/>
              <a:t>kuralları</a:t>
            </a:r>
            <a:r>
              <a:rPr sz="1200" dirty="0"/>
              <a:t> </a:t>
            </a:r>
            <a:r>
              <a:rPr sz="1200" dirty="0" err="1"/>
              <a:t>alanına</a:t>
            </a:r>
            <a:r>
              <a:rPr sz="1200" dirty="0"/>
              <a:t> </a:t>
            </a:r>
            <a:r>
              <a:rPr sz="1200" dirty="0" err="1"/>
              <a:t>yazılan</a:t>
            </a:r>
            <a:r>
              <a:rPr sz="1200" dirty="0"/>
              <a:t> </a:t>
            </a:r>
            <a:r>
              <a:rPr sz="1200" dirty="0" err="1"/>
              <a:t>talimatlar</a:t>
            </a:r>
            <a:r>
              <a:rPr sz="1200" dirty="0"/>
              <a:t>, </a:t>
            </a:r>
            <a:r>
              <a:rPr sz="1200" dirty="0" err="1"/>
              <a:t>tüm</a:t>
            </a:r>
            <a:r>
              <a:rPr sz="1200" dirty="0"/>
              <a:t> </a:t>
            </a:r>
            <a:r>
              <a:rPr sz="1200" dirty="0" err="1"/>
              <a:t>repolar</a:t>
            </a:r>
            <a:r>
              <a:rPr sz="1200" dirty="0"/>
              <a:t> </a:t>
            </a:r>
            <a:r>
              <a:rPr sz="1200" dirty="0" err="1"/>
              <a:t>için</a:t>
            </a:r>
            <a:r>
              <a:rPr sz="1200" dirty="0"/>
              <a:t> </a:t>
            </a:r>
            <a:r>
              <a:rPr sz="1200" dirty="0" err="1"/>
              <a:t>geçerli</a:t>
            </a:r>
            <a:r>
              <a:rPr sz="1200" dirty="0"/>
              <a:t> </a:t>
            </a:r>
            <a:r>
              <a:rPr sz="1200" dirty="0" err="1"/>
              <a:t>oluyor</a:t>
            </a:r>
            <a:r>
              <a:rPr sz="1200" dirty="0"/>
              <a:t>.</a:t>
            </a:r>
            <a:endParaRPr lang="tr-TR" sz="1200" dirty="0"/>
          </a:p>
          <a:p>
            <a:pPr>
              <a:spcAft>
                <a:spcPts val="600"/>
              </a:spcAft>
            </a:pPr>
            <a:endParaRPr sz="1200" dirty="0"/>
          </a:p>
          <a:p>
            <a:pPr>
              <a:spcAft>
                <a:spcPts val="600"/>
              </a:spcAft>
            </a:pPr>
            <a:r>
              <a:rPr sz="1200" dirty="0"/>
              <a:t>Repo </a:t>
            </a:r>
            <a:r>
              <a:rPr sz="1200" dirty="0" err="1"/>
              <a:t>bazlı</a:t>
            </a:r>
            <a:r>
              <a:rPr sz="1200" dirty="0"/>
              <a:t> </a:t>
            </a:r>
            <a:r>
              <a:rPr sz="1200" dirty="0" err="1"/>
              <a:t>tabloda</a:t>
            </a:r>
            <a:r>
              <a:rPr sz="1200" dirty="0"/>
              <a:t> </a:t>
            </a:r>
            <a:r>
              <a:rPr sz="1200" dirty="0" err="1"/>
              <a:t>ise</a:t>
            </a:r>
            <a:r>
              <a:rPr sz="1200" dirty="0"/>
              <a:t> </a:t>
            </a:r>
            <a:r>
              <a:rPr sz="1200" dirty="0" err="1"/>
              <a:t>belirli</a:t>
            </a:r>
            <a:r>
              <a:rPr sz="1200" dirty="0"/>
              <a:t> </a:t>
            </a:r>
            <a:r>
              <a:rPr sz="1200" dirty="0" err="1"/>
              <a:t>bir</a:t>
            </a:r>
            <a:r>
              <a:rPr sz="1200" dirty="0"/>
              <a:t> repo </a:t>
            </a:r>
            <a:r>
              <a:rPr sz="1200" dirty="0" err="1"/>
              <a:t>için</a:t>
            </a:r>
            <a:r>
              <a:rPr sz="1200" dirty="0"/>
              <a:t> ek </a:t>
            </a:r>
            <a:r>
              <a:rPr sz="1200" dirty="0" err="1"/>
              <a:t>talimat</a:t>
            </a:r>
            <a:r>
              <a:rPr sz="1200" dirty="0"/>
              <a:t> </a:t>
            </a:r>
            <a:r>
              <a:rPr sz="1200" dirty="0" err="1"/>
              <a:t>tanımlanabiliyor</a:t>
            </a:r>
            <a:r>
              <a:rPr sz="1200" dirty="0"/>
              <a:t>. </a:t>
            </a:r>
            <a:r>
              <a:rPr sz="1200" dirty="0" err="1"/>
              <a:t>Örneğin</a:t>
            </a:r>
            <a:r>
              <a:rPr sz="1200" dirty="0"/>
              <a:t> </a:t>
            </a:r>
            <a:r>
              <a:rPr sz="1200" dirty="0" err="1"/>
              <a:t>bir</a:t>
            </a:r>
            <a:r>
              <a:rPr sz="1200" dirty="0"/>
              <a:t> </a:t>
            </a:r>
            <a:r>
              <a:rPr sz="1200" dirty="0" err="1"/>
              <a:t>ekip</a:t>
            </a:r>
            <a:r>
              <a:rPr sz="1200" dirty="0"/>
              <a:t>, </a:t>
            </a:r>
            <a:r>
              <a:rPr sz="1200" dirty="0" err="1"/>
              <a:t>kendi</a:t>
            </a:r>
            <a:r>
              <a:rPr sz="1200" dirty="0"/>
              <a:t> </a:t>
            </a:r>
            <a:r>
              <a:rPr sz="1200" dirty="0" err="1"/>
              <a:t>reposu</a:t>
            </a:r>
            <a:r>
              <a:rPr sz="1200" dirty="0"/>
              <a:t> </a:t>
            </a:r>
            <a:r>
              <a:rPr sz="1200" dirty="0" err="1"/>
              <a:t>için</a:t>
            </a:r>
            <a:r>
              <a:rPr sz="1200" dirty="0"/>
              <a:t> </a:t>
            </a:r>
            <a:r>
              <a:rPr sz="1200" dirty="0" err="1"/>
              <a:t>kendi</a:t>
            </a:r>
            <a:r>
              <a:rPr sz="1200" dirty="0"/>
              <a:t> </a:t>
            </a:r>
            <a:r>
              <a:rPr sz="1200" dirty="0" err="1"/>
              <a:t>standartlarını</a:t>
            </a:r>
            <a:r>
              <a:rPr sz="1200" dirty="0"/>
              <a:t> </a:t>
            </a:r>
            <a:r>
              <a:rPr sz="1200" dirty="0" err="1"/>
              <a:t>ekleyebiliyor</a:t>
            </a:r>
            <a:r>
              <a:rPr sz="1200" dirty="0"/>
              <a:t>.</a:t>
            </a:r>
          </a:p>
          <a:p>
            <a:pPr>
              <a:spcAft>
                <a:spcPts val="600"/>
              </a:spcAft>
            </a:pPr>
            <a:endParaRPr lang="tr-TR" sz="1200" dirty="0"/>
          </a:p>
          <a:p>
            <a:pPr>
              <a:spcAft>
                <a:spcPts val="600"/>
              </a:spcAft>
            </a:pPr>
            <a:r>
              <a:rPr sz="1200" dirty="0" err="1"/>
              <a:t>Ekranda</a:t>
            </a:r>
            <a:r>
              <a:rPr sz="1200" dirty="0"/>
              <a:t> IntelliJ </a:t>
            </a:r>
            <a:r>
              <a:rPr sz="1200" dirty="0" err="1"/>
              <a:t>ayarlarını</a:t>
            </a:r>
            <a:r>
              <a:rPr sz="1200" dirty="0"/>
              <a:t> </a:t>
            </a:r>
            <a:r>
              <a:rPr sz="1200" dirty="0" err="1"/>
              <a:t>görüyorsunuz</a:t>
            </a:r>
            <a:r>
              <a:rPr sz="1200" dirty="0"/>
              <a:t>. </a:t>
            </a:r>
            <a:r>
              <a:rPr sz="1200" dirty="0" err="1"/>
              <a:t>Aynı</a:t>
            </a:r>
            <a:r>
              <a:rPr sz="1200" dirty="0"/>
              <a:t> </a:t>
            </a:r>
            <a:r>
              <a:rPr sz="1200" dirty="0" err="1"/>
              <a:t>ayarlar</a:t>
            </a:r>
            <a:r>
              <a:rPr sz="1200" dirty="0"/>
              <a:t> VS Code </a:t>
            </a:r>
            <a:r>
              <a:rPr sz="1200" dirty="0" err="1"/>
              <a:t>eklentisinde</a:t>
            </a:r>
            <a:r>
              <a:rPr sz="1200" dirty="0"/>
              <a:t> de var.</a:t>
            </a:r>
            <a:endParaRPr lang="tr-TR" sz="1200" dirty="0"/>
          </a:p>
          <a:p>
            <a:pPr>
              <a:spcAft>
                <a:spcPts val="600"/>
              </a:spcAft>
            </a:pPr>
            <a:endParaRPr lang="tr-TR" sz="1200" dirty="0"/>
          </a:p>
        </p:txBody>
      </p:sp>
      <p:sp>
        <p:nvSpPr>
          <p:cNvPr id="4" name="Slide Number Placeholder 3"/>
          <p:cNvSpPr>
            <a:spLocks noGrp="1"/>
          </p:cNvSpPr>
          <p:nvPr>
            <p:ph type="sldNum" sz="quarter" idx="10"/>
          </p:nvPr>
        </p:nvSpPr>
        <p:spPr/>
        <p:txBody>
          <a:bodyPr/>
          <a:lstStyle/>
          <a:p>
            <a:fld id="{F7021451-1387-4CA6-816F-3879F97B5CBC}" type="slidenum">
              <a:rPr lang="tr-TR"/>
              <a:t>16</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tr-TR" sz="1200" dirty="0"/>
              <a:t>Üç projenin sağladığı kazanımları özetlemek istiyorum.</a:t>
            </a:r>
            <a:br>
              <a:rPr lang="tr-TR" sz="1200" dirty="0"/>
            </a:br>
            <a:endParaRPr lang="tr-TR" sz="1200" dirty="0"/>
          </a:p>
          <a:p>
            <a:pPr>
              <a:spcAft>
                <a:spcPts val="600"/>
              </a:spcAft>
            </a:pPr>
            <a:r>
              <a:rPr sz="1200" dirty="0"/>
              <a:t>AI Sohbet </a:t>
            </a:r>
            <a:r>
              <a:rPr sz="1200" dirty="0" err="1"/>
              <a:t>Paneli</a:t>
            </a:r>
            <a:r>
              <a:rPr sz="1200" dirty="0"/>
              <a:t> </a:t>
            </a:r>
            <a:r>
              <a:rPr sz="1200" dirty="0" err="1"/>
              <a:t>ile</a:t>
            </a:r>
            <a:r>
              <a:rPr sz="1200" dirty="0"/>
              <a:t> </a:t>
            </a:r>
            <a:r>
              <a:rPr sz="1200" dirty="0" err="1"/>
              <a:t>ekipler</a:t>
            </a:r>
            <a:r>
              <a:rPr sz="1200" dirty="0"/>
              <a:t> </a:t>
            </a:r>
            <a:r>
              <a:rPr sz="1200" dirty="0" err="1"/>
              <a:t>şirket</a:t>
            </a:r>
            <a:r>
              <a:rPr sz="1200" dirty="0"/>
              <a:t> </a:t>
            </a:r>
            <a:r>
              <a:rPr sz="1200" dirty="0" err="1"/>
              <a:t>içi</a:t>
            </a:r>
            <a:r>
              <a:rPr sz="1200" dirty="0"/>
              <a:t> </a:t>
            </a:r>
            <a:r>
              <a:rPr sz="1200" dirty="0" err="1"/>
              <a:t>modellere</a:t>
            </a:r>
            <a:r>
              <a:rPr sz="1200" dirty="0"/>
              <a:t> </a:t>
            </a:r>
            <a:r>
              <a:rPr sz="1200" dirty="0" err="1"/>
              <a:t>kurulum</a:t>
            </a:r>
            <a:r>
              <a:rPr sz="1200" dirty="0"/>
              <a:t> </a:t>
            </a:r>
            <a:r>
              <a:rPr sz="1200" dirty="0" err="1"/>
              <a:t>yapmadan</a:t>
            </a:r>
            <a:r>
              <a:rPr sz="1200" dirty="0"/>
              <a:t> </a:t>
            </a:r>
            <a:r>
              <a:rPr sz="1200" dirty="0" err="1"/>
              <a:t>erişiyor</a:t>
            </a:r>
            <a:r>
              <a:rPr sz="1200" dirty="0"/>
              <a:t>. </a:t>
            </a:r>
            <a:r>
              <a:rPr sz="1200" dirty="0" err="1"/>
              <a:t>Belgeler</a:t>
            </a:r>
            <a:r>
              <a:rPr sz="1200" dirty="0"/>
              <a:t> </a:t>
            </a:r>
            <a:r>
              <a:rPr sz="1200" dirty="0" err="1"/>
              <a:t>tarayıcıda</a:t>
            </a:r>
            <a:r>
              <a:rPr sz="1200" dirty="0"/>
              <a:t> </a:t>
            </a:r>
            <a:r>
              <a:rPr sz="1200" dirty="0" err="1"/>
              <a:t>indeksleniyor</a:t>
            </a:r>
            <a:r>
              <a:rPr sz="1200" dirty="0"/>
              <a:t> </a:t>
            </a:r>
            <a:r>
              <a:rPr sz="1200" dirty="0" err="1"/>
              <a:t>ve</a:t>
            </a:r>
            <a:r>
              <a:rPr sz="1200" dirty="0"/>
              <a:t> </a:t>
            </a:r>
            <a:r>
              <a:rPr sz="1200" dirty="0" err="1"/>
              <a:t>yanıtlar</a:t>
            </a:r>
            <a:r>
              <a:rPr sz="1200" dirty="0"/>
              <a:t> </a:t>
            </a:r>
            <a:r>
              <a:rPr sz="1200" dirty="0" err="1"/>
              <a:t>kaynak</a:t>
            </a:r>
            <a:r>
              <a:rPr sz="1200" dirty="0"/>
              <a:t> </a:t>
            </a:r>
            <a:r>
              <a:rPr sz="1200" dirty="0" err="1"/>
              <a:t>gösterilerek</a:t>
            </a:r>
            <a:r>
              <a:rPr sz="1200" dirty="0"/>
              <a:t> </a:t>
            </a:r>
            <a:r>
              <a:rPr sz="1200" dirty="0" err="1"/>
              <a:t>üretiliyor</a:t>
            </a:r>
            <a:r>
              <a:rPr sz="1200" dirty="0"/>
              <a:t>.</a:t>
            </a:r>
            <a:endParaRPr lang="tr-TR" sz="1200" dirty="0"/>
          </a:p>
          <a:p>
            <a:pPr>
              <a:spcAft>
                <a:spcPts val="600"/>
              </a:spcAft>
            </a:pPr>
            <a:endParaRPr sz="1200" dirty="0"/>
          </a:p>
          <a:p>
            <a:pPr>
              <a:spcAft>
                <a:spcPts val="600"/>
              </a:spcAft>
            </a:pPr>
            <a:r>
              <a:rPr sz="1200" dirty="0"/>
              <a:t>Swagger Generator </a:t>
            </a:r>
            <a:r>
              <a:rPr sz="1200" dirty="0" err="1"/>
              <a:t>ile</a:t>
            </a:r>
            <a:r>
              <a:rPr sz="1200" dirty="0"/>
              <a:t> 1 </a:t>
            </a:r>
            <a:r>
              <a:rPr sz="1200" dirty="0" err="1"/>
              <a:t>ile</a:t>
            </a:r>
            <a:r>
              <a:rPr sz="1200" dirty="0"/>
              <a:t> 1,5 </a:t>
            </a:r>
            <a:r>
              <a:rPr sz="1200" dirty="0" err="1"/>
              <a:t>gün</a:t>
            </a:r>
            <a:r>
              <a:rPr sz="1200" dirty="0"/>
              <a:t> </a:t>
            </a:r>
            <a:r>
              <a:rPr sz="1200" dirty="0" err="1"/>
              <a:t>süren</a:t>
            </a:r>
            <a:r>
              <a:rPr sz="1200" dirty="0"/>
              <a:t> </a:t>
            </a:r>
            <a:r>
              <a:rPr sz="1200" dirty="0" err="1"/>
              <a:t>servis</a:t>
            </a:r>
            <a:r>
              <a:rPr sz="1200" dirty="0"/>
              <a:t> </a:t>
            </a:r>
            <a:r>
              <a:rPr sz="1200" dirty="0" err="1"/>
              <a:t>entegrasyonu</a:t>
            </a:r>
            <a:r>
              <a:rPr sz="1200" dirty="0"/>
              <a:t> 10 </a:t>
            </a:r>
            <a:r>
              <a:rPr sz="1200" dirty="0" err="1"/>
              <a:t>dakikaya</a:t>
            </a:r>
            <a:r>
              <a:rPr sz="1200" dirty="0"/>
              <a:t> </a:t>
            </a:r>
            <a:r>
              <a:rPr sz="1200" dirty="0" err="1"/>
              <a:t>iniyor</a:t>
            </a:r>
            <a:r>
              <a:rPr sz="1200" dirty="0"/>
              <a:t>.</a:t>
            </a:r>
            <a:endParaRPr lang="tr-TR" sz="1200" dirty="0"/>
          </a:p>
          <a:p>
            <a:pPr>
              <a:spcAft>
                <a:spcPts val="600"/>
              </a:spcAft>
            </a:pPr>
            <a:endParaRPr sz="1200" dirty="0"/>
          </a:p>
          <a:p>
            <a:pPr>
              <a:spcAft>
                <a:spcPts val="600"/>
              </a:spcAft>
            </a:pPr>
            <a:r>
              <a:rPr sz="1200" dirty="0"/>
              <a:t>AI Review </a:t>
            </a:r>
            <a:r>
              <a:rPr sz="1200" dirty="0" err="1"/>
              <a:t>ile</a:t>
            </a:r>
            <a:r>
              <a:rPr sz="1200" dirty="0"/>
              <a:t> </a:t>
            </a:r>
            <a:r>
              <a:rPr sz="1200" dirty="0" err="1"/>
              <a:t>hatalar</a:t>
            </a:r>
            <a:r>
              <a:rPr sz="1200" dirty="0"/>
              <a:t> PR </a:t>
            </a:r>
            <a:r>
              <a:rPr sz="1200" dirty="0" err="1"/>
              <a:t>açılmadan</a:t>
            </a:r>
            <a:r>
              <a:rPr sz="1200" dirty="0"/>
              <a:t> </a:t>
            </a:r>
            <a:r>
              <a:rPr sz="1200" dirty="0" err="1"/>
              <a:t>geliştiricinin</a:t>
            </a:r>
            <a:r>
              <a:rPr sz="1200" dirty="0"/>
              <a:t> </a:t>
            </a:r>
            <a:r>
              <a:rPr sz="1200" dirty="0" err="1"/>
              <a:t>ekranında</a:t>
            </a:r>
            <a:r>
              <a:rPr sz="1200" dirty="0"/>
              <a:t>, PR </a:t>
            </a:r>
            <a:r>
              <a:rPr sz="1200" dirty="0" err="1"/>
              <a:t>açıldıktan</a:t>
            </a:r>
            <a:r>
              <a:rPr sz="1200" dirty="0"/>
              <a:t> </a:t>
            </a:r>
            <a:r>
              <a:rPr sz="1200" dirty="0" err="1"/>
              <a:t>sonra</a:t>
            </a:r>
            <a:r>
              <a:rPr sz="1200" dirty="0"/>
              <a:t> da </a:t>
            </a:r>
            <a:r>
              <a:rPr sz="1200" dirty="0" err="1"/>
              <a:t>Bitbucket'ta</a:t>
            </a:r>
            <a:r>
              <a:rPr sz="1200" dirty="0"/>
              <a:t> </a:t>
            </a:r>
            <a:r>
              <a:rPr sz="1200" dirty="0" err="1"/>
              <a:t>satır</a:t>
            </a:r>
            <a:r>
              <a:rPr sz="1200" dirty="0"/>
              <a:t> </a:t>
            </a:r>
            <a:r>
              <a:rPr sz="1200" dirty="0" err="1"/>
              <a:t>bazında</a:t>
            </a:r>
            <a:r>
              <a:rPr sz="1200" dirty="0"/>
              <a:t> </a:t>
            </a:r>
            <a:r>
              <a:rPr sz="1200" dirty="0" err="1"/>
              <a:t>yakalanıyor</a:t>
            </a:r>
            <a:r>
              <a:rPr sz="1200" dirty="0"/>
              <a:t>.</a:t>
            </a:r>
            <a:endParaRPr lang="tr-TR" sz="1200" dirty="0"/>
          </a:p>
          <a:p>
            <a:pPr>
              <a:spcAft>
                <a:spcPts val="600"/>
              </a:spcAft>
            </a:pPr>
            <a:endParaRPr lang="tr-TR" sz="1200" dirty="0"/>
          </a:p>
          <a:p>
            <a:pPr>
              <a:spcAft>
                <a:spcPts val="600"/>
              </a:spcAft>
            </a:pPr>
            <a:r>
              <a:rPr lang="tr-TR" sz="1200" dirty="0"/>
              <a:t>Kısacası Copilot'a bağımlılık azalıyor, yerel modeller verimli kullanılıyor ve Swagger plugin örneğinde olduğu gibi otomatize edilebilecek işlerde yapay zeka yerine bu tür çözümler uygulanabiliyor.</a:t>
            </a:r>
          </a:p>
        </p:txBody>
      </p:sp>
      <p:sp>
        <p:nvSpPr>
          <p:cNvPr id="4" name="Slide Number Placeholder 3"/>
          <p:cNvSpPr>
            <a:spLocks noGrp="1"/>
          </p:cNvSpPr>
          <p:nvPr>
            <p:ph type="sldNum" sz="quarter" idx="10"/>
          </p:nvPr>
        </p:nvSpPr>
        <p:spPr/>
        <p:txBody>
          <a:bodyPr/>
          <a:lstStyle/>
          <a:p>
            <a:fld id="{F7021451-1387-4CA6-816F-3879F97B5CBC}" type="slidenum">
              <a:rPr lang="tr-TR"/>
              <a:t>17</a:t>
            </a:fld>
            <a:endParaRPr lang="tr-T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tr-TR" sz="1200" dirty="0"/>
              <a:t>Dinlediğiniz için teşekkür ederim.</a:t>
            </a:r>
          </a:p>
          <a:p>
            <a:pPr>
              <a:spcAft>
                <a:spcPts val="600"/>
              </a:spcAft>
            </a:pPr>
            <a:endParaRPr lang="tr-TR" sz="1200" dirty="0"/>
          </a:p>
          <a:p>
            <a:pPr>
              <a:spcAft>
                <a:spcPts val="600"/>
              </a:spcAft>
            </a:pPr>
            <a:endParaRPr sz="1200" dirty="0"/>
          </a:p>
        </p:txBody>
      </p:sp>
      <p:sp>
        <p:nvSpPr>
          <p:cNvPr id="4" name="Slide Number Placeholder 3"/>
          <p:cNvSpPr>
            <a:spLocks noGrp="1"/>
          </p:cNvSpPr>
          <p:nvPr>
            <p:ph type="sldNum" sz="quarter" idx="10"/>
          </p:nvPr>
        </p:nvSpPr>
        <p:spPr/>
        <p:txBody>
          <a:bodyPr/>
          <a:lstStyle/>
          <a:p>
            <a:fld id="{F7021451-1387-4CA6-816F-3879F97B5CBC}" type="slidenum">
              <a:rPr lang="tr-TR"/>
              <a:t>18</a:t>
            </a:fld>
            <a:endParaRPr lang="tr-T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55"/>
        </a:solidFill>
        <a:effectLst/>
      </p:bgPr>
    </p:bg>
    <p:spTree>
      <p:nvGrpSpPr>
        <p:cNvPr id="1" name=""/>
        <p:cNvGrpSpPr/>
        <p:nvPr/>
      </p:nvGrpSpPr>
      <p:grpSpPr>
        <a:xfrm>
          <a:off x="0" y="0"/>
          <a:ext cx="0" cy="0"/>
          <a:chOff x="0" y="0"/>
          <a:chExt cx="0" cy="0"/>
        </a:xfrm>
      </p:grpSpPr>
      <p:pic>
        <p:nvPicPr>
          <p:cNvPr id="2" name="Image 0" descr="c:\Users\edalk\OneDrive\Masaüstü\sunum\görsel\template_bg.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527048" y="2057400"/>
            <a:ext cx="7132320" cy="1508760"/>
          </a:xfrm>
          <a:prstGeom prst="rect">
            <a:avLst/>
          </a:prstGeom>
          <a:noFill/>
          <a:ln/>
        </p:spPr>
        <p:txBody>
          <a:bodyPr wrap="square" lIns="0" tIns="0" rIns="0" bIns="0" rtlCol="0" anchor="ctr"/>
          <a:lstStyle/>
          <a:p>
            <a:pPr marL="0" indent="0">
              <a:buNone/>
            </a:pPr>
            <a:r>
              <a:rPr lang="en-US" sz="4400" b="1" dirty="0">
                <a:solidFill>
                  <a:srgbClr val="F5F8FC"/>
                </a:solidFill>
                <a:latin typeface="Calibri"/>
                <a:ea typeface="Calibri"/>
                <a:cs typeface="Calibri"/>
              </a:rPr>
              <a:t>Yapay Zeka ve Otomasyon</a:t>
            </a:r>
            <a:endParaRPr lang="en-US" sz="4400" dirty="0"/>
          </a:p>
          <a:p>
            <a:pPr marL="0" indent="0">
              <a:buNone/>
            </a:pPr>
            <a:r>
              <a:rPr lang="en-US" sz="4400" b="1" dirty="0">
                <a:solidFill>
                  <a:srgbClr val="F5F8FC"/>
                </a:solidFill>
                <a:latin typeface="Calibri"/>
                <a:ea typeface="Calibri"/>
                <a:cs typeface="Calibri"/>
              </a:rPr>
              <a:t>Projeleri</a:t>
            </a:r>
            <a:endParaRPr lang="en-US" sz="4400" dirty="0"/>
          </a:p>
        </p:txBody>
      </p:sp>
      <p:sp>
        <p:nvSpPr>
          <p:cNvPr id="4" name="Text 1"/>
          <p:cNvSpPr/>
          <p:nvPr/>
        </p:nvSpPr>
        <p:spPr>
          <a:xfrm>
            <a:off x="1527048" y="3703320"/>
            <a:ext cx="7132320" cy="365760"/>
          </a:xfrm>
          <a:prstGeom prst="rect">
            <a:avLst/>
          </a:prstGeom>
          <a:noFill/>
          <a:ln/>
        </p:spPr>
        <p:txBody>
          <a:bodyPr wrap="square" lIns="0" tIns="0" rIns="0" bIns="0" rtlCol="0" anchor="ctr"/>
          <a:lstStyle/>
          <a:p>
            <a:pPr marL="0" indent="0">
              <a:buNone/>
            </a:pPr>
            <a:r>
              <a:rPr lang="en-US" sz="1600" b="1" dirty="0">
                <a:solidFill>
                  <a:srgbClr val="8CC4F2"/>
                </a:solidFill>
                <a:latin typeface="Calibri"/>
                <a:ea typeface="Calibri"/>
                <a:cs typeface="Calibri"/>
              </a:rPr>
              <a:t>AI Sohbet Paneli   |   YKB Swagger Generator   |   YKB AI Review</a:t>
            </a:r>
            <a:endParaRPr lang="en-US" sz="1600" dirty="0"/>
          </a:p>
        </p:txBody>
      </p:sp>
      <p:sp>
        <p:nvSpPr>
          <p:cNvPr id="5" name="Text 2"/>
          <p:cNvSpPr/>
          <p:nvPr/>
        </p:nvSpPr>
        <p:spPr>
          <a:xfrm>
            <a:off x="1527048" y="4160520"/>
            <a:ext cx="4572000" cy="731520"/>
          </a:xfrm>
          <a:prstGeom prst="rect">
            <a:avLst/>
          </a:prstGeom>
          <a:noFill/>
          <a:ln/>
        </p:spPr>
        <p:txBody>
          <a:bodyPr wrap="square" lIns="0" tIns="0" rIns="0" bIns="0" rtlCol="0" anchor="ctr"/>
          <a:lstStyle/>
          <a:p>
            <a:pPr marL="0" indent="0">
              <a:buNone/>
            </a:pPr>
            <a:r>
              <a:rPr lang="en-US" sz="1700" dirty="0">
                <a:solidFill>
                  <a:srgbClr val="E3EEF9"/>
                </a:solidFill>
                <a:latin typeface="Calibri"/>
                <a:ea typeface="Calibri"/>
                <a:cs typeface="Calibri"/>
              </a:rPr>
              <a:t>Eren Dalkürek</a:t>
            </a:r>
            <a:endParaRPr lang="en-US" sz="1700" dirty="0"/>
          </a:p>
          <a:p>
            <a:pPr marL="0" indent="0">
              <a:buNone/>
            </a:pPr>
            <a:r>
              <a:rPr lang="en-US" sz="1400" b="1" dirty="0">
                <a:solidFill>
                  <a:srgbClr val="FFFFFF"/>
                </a:solidFill>
                <a:latin typeface="Calibri"/>
                <a:ea typeface="Calibri"/>
                <a:cs typeface="Calibri"/>
              </a:rPr>
              <a:t>DK Maaş ve Nakit Yönetimi</a:t>
            </a:r>
            <a:endParaRPr lang="en-US" sz="1400" dirty="0"/>
          </a:p>
        </p:txBody>
      </p:sp>
      <p:pic>
        <p:nvPicPr>
          <p:cNvPr id="6" name="Image 1" descr="c:\Users\edalk\OneDrive\Masaüstü\sunum\görsel\template_logo_white_clean.png"/>
          <p:cNvPicPr>
            <a:picLocks noChangeAspect="1"/>
          </p:cNvPicPr>
          <p:nvPr/>
        </p:nvPicPr>
        <p:blipFill>
          <a:blip r:embed="rId4"/>
          <a:stretch>
            <a:fillRect/>
          </a:stretch>
        </p:blipFill>
        <p:spPr>
          <a:xfrm>
            <a:off x="1527048" y="5074920"/>
            <a:ext cx="3291840" cy="16733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5F8FC"/>
        </a:solidFill>
        <a:effectLst/>
      </p:bgPr>
    </p:bg>
    <p:spTree>
      <p:nvGrpSpPr>
        <p:cNvPr id="1" name=""/>
        <p:cNvGrpSpPr/>
        <p:nvPr/>
      </p:nvGrpSpPr>
      <p:grpSpPr>
        <a:xfrm>
          <a:off x="0" y="0"/>
          <a:ext cx="0" cy="0"/>
          <a:chOff x="0" y="0"/>
          <a:chExt cx="0" cy="0"/>
        </a:xfrm>
      </p:grpSpPr>
      <p:sp>
        <p:nvSpPr>
          <p:cNvPr id="34" name="Shape 27">
            <a:extLst>
              <a:ext uri="{FF2B5EF4-FFF2-40B4-BE49-F238E27FC236}">
                <a16:creationId xmlns:a16="http://schemas.microsoft.com/office/drawing/2014/main" id="{2405F9FB-36AE-BBE4-83B2-4EBC5A56701B}"/>
              </a:ext>
            </a:extLst>
          </p:cNvPr>
          <p:cNvSpPr/>
          <p:nvPr/>
        </p:nvSpPr>
        <p:spPr>
          <a:xfrm>
            <a:off x="7995607" y="1677221"/>
            <a:ext cx="3419856" cy="2066544"/>
          </a:xfrm>
          <a:prstGeom prst="roundRect">
            <a:avLst>
              <a:gd name="adj" fmla="val 2020"/>
            </a:avLst>
          </a:prstGeom>
          <a:solidFill>
            <a:srgbClr val="0A192F"/>
          </a:solidFill>
          <a:ln w="15240">
            <a:solidFill>
              <a:srgbClr val="004B93"/>
            </a:solidFill>
            <a:prstDash val="solid"/>
          </a:ln>
        </p:spPr>
        <p:txBody>
          <a:bodyPr/>
          <a:lstStyle/>
          <a:p>
            <a:endParaRPr lang="tr-TR"/>
          </a:p>
        </p:txBody>
      </p:sp>
      <p:sp>
        <p:nvSpPr>
          <p:cNvPr id="33" name="Shape 27">
            <a:extLst>
              <a:ext uri="{FF2B5EF4-FFF2-40B4-BE49-F238E27FC236}">
                <a16:creationId xmlns:a16="http://schemas.microsoft.com/office/drawing/2014/main" id="{49F82E73-06AD-39DD-68DA-73D82A7934C6}"/>
              </a:ext>
            </a:extLst>
          </p:cNvPr>
          <p:cNvSpPr/>
          <p:nvPr/>
        </p:nvSpPr>
        <p:spPr>
          <a:xfrm>
            <a:off x="4384897" y="1677221"/>
            <a:ext cx="3419856" cy="2066544"/>
          </a:xfrm>
          <a:prstGeom prst="roundRect">
            <a:avLst>
              <a:gd name="adj" fmla="val 2020"/>
            </a:avLst>
          </a:prstGeom>
          <a:solidFill>
            <a:srgbClr val="0A192F"/>
          </a:solidFill>
          <a:ln w="15240">
            <a:solidFill>
              <a:srgbClr val="004B93"/>
            </a:solidFill>
            <a:prstDash val="solid"/>
          </a:ln>
        </p:spPr>
        <p:txBody>
          <a:bodyPr/>
          <a:lstStyle/>
          <a:p>
            <a:endParaRPr lang="tr-TR"/>
          </a:p>
        </p:txBody>
      </p:sp>
      <p:sp>
        <p:nvSpPr>
          <p:cNvPr id="32" name="Shape 27">
            <a:extLst>
              <a:ext uri="{FF2B5EF4-FFF2-40B4-BE49-F238E27FC236}">
                <a16:creationId xmlns:a16="http://schemas.microsoft.com/office/drawing/2014/main" id="{16B911BC-C7DA-2E01-7059-836EFD26755B}"/>
              </a:ext>
            </a:extLst>
          </p:cNvPr>
          <p:cNvSpPr/>
          <p:nvPr/>
        </p:nvSpPr>
        <p:spPr>
          <a:xfrm>
            <a:off x="758952" y="1663446"/>
            <a:ext cx="3419856" cy="2066544"/>
          </a:xfrm>
          <a:prstGeom prst="roundRect">
            <a:avLst>
              <a:gd name="adj" fmla="val 2020"/>
            </a:avLst>
          </a:prstGeom>
          <a:solidFill>
            <a:srgbClr val="0A192F"/>
          </a:solidFill>
          <a:ln w="15240">
            <a:solidFill>
              <a:srgbClr val="004B93"/>
            </a:solidFill>
            <a:prstDash val="solid"/>
          </a:ln>
        </p:spPr>
        <p:txBody>
          <a:bodyPr/>
          <a:lstStyle/>
          <a:p>
            <a:endParaRPr lang="tr-TR"/>
          </a:p>
        </p:txBody>
      </p:sp>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02</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813816" y="1737360"/>
            <a:ext cx="3310128" cy="1920240"/>
          </a:xfrm>
          <a:prstGeom prst="roundRect">
            <a:avLst>
              <a:gd name="adj" fmla="val 3810"/>
            </a:avLst>
          </a:prstGeom>
          <a:solidFill>
            <a:srgbClr val="FFFFFF"/>
          </a:solidFill>
          <a:ln w="9525">
            <a:solidFill>
              <a:srgbClr val="D5E2F1"/>
            </a:solidFill>
            <a:prstDash val="solid"/>
          </a:ln>
        </p:spPr>
        <p:txBody>
          <a:bodyPr/>
          <a:lstStyle/>
          <a:p>
            <a:endParaRPr lang="tr-TR"/>
          </a:p>
        </p:txBody>
      </p:sp>
      <p:sp>
        <p:nvSpPr>
          <p:cNvPr id="7" name="Text 5"/>
          <p:cNvSpPr/>
          <p:nvPr/>
        </p:nvSpPr>
        <p:spPr>
          <a:xfrm>
            <a:off x="1069848" y="1965960"/>
            <a:ext cx="2798064"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KURULUMSUZ YAPI</a:t>
            </a:r>
            <a:endParaRPr lang="en-US" sz="1100" dirty="0"/>
          </a:p>
        </p:txBody>
      </p:sp>
      <p:sp>
        <p:nvSpPr>
          <p:cNvPr id="8" name="Text 6"/>
          <p:cNvSpPr/>
          <p:nvPr/>
        </p:nvSpPr>
        <p:spPr>
          <a:xfrm>
            <a:off x="1069848" y="2240280"/>
            <a:ext cx="2798064" cy="384048"/>
          </a:xfrm>
          <a:prstGeom prst="rect">
            <a:avLst/>
          </a:prstGeom>
          <a:noFill/>
          <a:ln/>
        </p:spPr>
        <p:txBody>
          <a:bodyPr wrap="square" lIns="0" tIns="0" rIns="0" bIns="0" rtlCol="0" anchor="t"/>
          <a:lstStyle/>
          <a:p>
            <a:pPr marL="0" indent="0">
              <a:buNone/>
            </a:pPr>
            <a:r>
              <a:rPr lang="en-US" sz="1700" b="1" dirty="0">
                <a:solidFill>
                  <a:srgbClr val="0B2A55"/>
                </a:solidFill>
                <a:latin typeface="Calibri"/>
                <a:ea typeface="Calibri"/>
                <a:cs typeface="Calibri"/>
              </a:rPr>
              <a:t>Tek Dosya ile Çalışma</a:t>
            </a:r>
            <a:endParaRPr lang="en-US" sz="1700" dirty="0"/>
          </a:p>
        </p:txBody>
      </p:sp>
      <p:sp>
        <p:nvSpPr>
          <p:cNvPr id="9" name="Text 7"/>
          <p:cNvSpPr/>
          <p:nvPr/>
        </p:nvSpPr>
        <p:spPr>
          <a:xfrm>
            <a:off x="1069848" y="2715768"/>
            <a:ext cx="2798064" cy="758952"/>
          </a:xfrm>
          <a:prstGeom prst="rect">
            <a:avLst/>
          </a:prstGeom>
          <a:noFill/>
          <a:ln/>
        </p:spPr>
        <p:txBody>
          <a:bodyPr wrap="square" lIns="0" tIns="0" rIns="0" bIns="0" rtlCol="0" anchor="t"/>
          <a:lstStyle/>
          <a:p>
            <a:pPr marL="0" indent="0">
              <a:lnSpc>
                <a:spcPct val="115000"/>
              </a:lnSpc>
              <a:buNone/>
            </a:pPr>
            <a:r>
              <a:rPr lang="en-US" sz="1350" dirty="0">
                <a:solidFill>
                  <a:srgbClr val="3C4B63"/>
                </a:solidFill>
                <a:latin typeface="Calibri"/>
                <a:ea typeface="Calibri"/>
                <a:cs typeface="Calibri"/>
              </a:rPr>
              <a:t>Sunucu veya kurulum gerektirmez. Tarayıcıda doğrudan açılır, tüm geçmiş cihazda güvenle saklanır.</a:t>
            </a:r>
            <a:endParaRPr lang="en-US" sz="1350" dirty="0"/>
          </a:p>
        </p:txBody>
      </p:sp>
      <p:sp>
        <p:nvSpPr>
          <p:cNvPr id="10" name="Shape 8"/>
          <p:cNvSpPr/>
          <p:nvPr/>
        </p:nvSpPr>
        <p:spPr>
          <a:xfrm>
            <a:off x="4434840" y="1737360"/>
            <a:ext cx="3310128" cy="1920240"/>
          </a:xfrm>
          <a:prstGeom prst="roundRect">
            <a:avLst>
              <a:gd name="adj" fmla="val 3810"/>
            </a:avLst>
          </a:prstGeom>
          <a:solidFill>
            <a:srgbClr val="FFFFFF"/>
          </a:solidFill>
          <a:ln w="9525">
            <a:solidFill>
              <a:srgbClr val="D5E2F1"/>
            </a:solidFill>
            <a:prstDash val="solid"/>
          </a:ln>
        </p:spPr>
        <p:txBody>
          <a:bodyPr/>
          <a:lstStyle/>
          <a:p>
            <a:endParaRPr lang="tr-TR"/>
          </a:p>
        </p:txBody>
      </p:sp>
      <p:sp>
        <p:nvSpPr>
          <p:cNvPr id="11" name="Text 9"/>
          <p:cNvSpPr/>
          <p:nvPr/>
        </p:nvSpPr>
        <p:spPr>
          <a:xfrm>
            <a:off x="4690872" y="1965960"/>
            <a:ext cx="2798064"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ÇOKLU MODEL VE DALLANMA</a:t>
            </a:r>
            <a:endParaRPr lang="en-US" sz="1100" dirty="0"/>
          </a:p>
        </p:txBody>
      </p:sp>
      <p:sp>
        <p:nvSpPr>
          <p:cNvPr id="12" name="Text 10"/>
          <p:cNvSpPr/>
          <p:nvPr/>
        </p:nvSpPr>
        <p:spPr>
          <a:xfrm>
            <a:off x="4690872" y="2240280"/>
            <a:ext cx="2798064" cy="384048"/>
          </a:xfrm>
          <a:prstGeom prst="rect">
            <a:avLst/>
          </a:prstGeom>
          <a:noFill/>
          <a:ln/>
        </p:spPr>
        <p:txBody>
          <a:bodyPr wrap="square" lIns="0" tIns="0" rIns="0" bIns="0" rtlCol="0" anchor="t"/>
          <a:lstStyle/>
          <a:p>
            <a:pPr marL="0" indent="0">
              <a:buNone/>
            </a:pPr>
            <a:r>
              <a:rPr lang="en-US" sz="1700" b="1" dirty="0">
                <a:solidFill>
                  <a:srgbClr val="0B2A55"/>
                </a:solidFill>
                <a:latin typeface="Calibri"/>
                <a:ea typeface="Calibri"/>
                <a:cs typeface="Calibri"/>
              </a:rPr>
              <a:t>Sohbet Klonlama</a:t>
            </a:r>
            <a:endParaRPr lang="en-US" sz="1700" dirty="0"/>
          </a:p>
        </p:txBody>
      </p:sp>
      <p:sp>
        <p:nvSpPr>
          <p:cNvPr id="13" name="Text 11"/>
          <p:cNvSpPr/>
          <p:nvPr/>
        </p:nvSpPr>
        <p:spPr>
          <a:xfrm>
            <a:off x="4690872" y="2715768"/>
            <a:ext cx="2798064" cy="758952"/>
          </a:xfrm>
          <a:prstGeom prst="rect">
            <a:avLst/>
          </a:prstGeom>
          <a:noFill/>
          <a:ln/>
        </p:spPr>
        <p:txBody>
          <a:bodyPr wrap="square" lIns="0" tIns="0" rIns="0" bIns="0" rtlCol="0" anchor="t"/>
          <a:lstStyle/>
          <a:p>
            <a:pPr marL="0" indent="0">
              <a:lnSpc>
                <a:spcPct val="115000"/>
              </a:lnSpc>
              <a:buNone/>
            </a:pPr>
            <a:r>
              <a:rPr lang="en-US" sz="1350" dirty="0">
                <a:solidFill>
                  <a:srgbClr val="3C4B63"/>
                </a:solidFill>
                <a:latin typeface="Calibri"/>
                <a:ea typeface="Calibri"/>
                <a:cs typeface="Calibri"/>
              </a:rPr>
              <a:t>Sohbeti ortasından kopyalayıp farklı bir yapay zeka modeliyle alternatif senaryoları test etme.</a:t>
            </a:r>
            <a:endParaRPr lang="en-US" sz="1350" dirty="0"/>
          </a:p>
        </p:txBody>
      </p:sp>
      <p:sp>
        <p:nvSpPr>
          <p:cNvPr id="14" name="Shape 12"/>
          <p:cNvSpPr/>
          <p:nvPr/>
        </p:nvSpPr>
        <p:spPr>
          <a:xfrm>
            <a:off x="8055864" y="1737360"/>
            <a:ext cx="3310128" cy="1920240"/>
          </a:xfrm>
          <a:prstGeom prst="roundRect">
            <a:avLst>
              <a:gd name="adj" fmla="val 3810"/>
            </a:avLst>
          </a:prstGeom>
          <a:solidFill>
            <a:srgbClr val="FFFFFF"/>
          </a:solidFill>
          <a:ln w="9525">
            <a:solidFill>
              <a:srgbClr val="D5E2F1"/>
            </a:solidFill>
            <a:prstDash val="solid"/>
          </a:ln>
        </p:spPr>
        <p:txBody>
          <a:bodyPr/>
          <a:lstStyle/>
          <a:p>
            <a:endParaRPr lang="tr-TR"/>
          </a:p>
        </p:txBody>
      </p:sp>
      <p:sp>
        <p:nvSpPr>
          <p:cNvPr id="15" name="Text 13"/>
          <p:cNvSpPr/>
          <p:nvPr/>
        </p:nvSpPr>
        <p:spPr>
          <a:xfrm>
            <a:off x="8311896" y="1965960"/>
            <a:ext cx="2798064"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BELGE OKUMA</a:t>
            </a:r>
            <a:endParaRPr lang="en-US" sz="1100" dirty="0"/>
          </a:p>
        </p:txBody>
      </p:sp>
      <p:sp>
        <p:nvSpPr>
          <p:cNvPr id="16" name="Text 14"/>
          <p:cNvSpPr/>
          <p:nvPr/>
        </p:nvSpPr>
        <p:spPr>
          <a:xfrm>
            <a:off x="8311896" y="2240280"/>
            <a:ext cx="2798064" cy="384048"/>
          </a:xfrm>
          <a:prstGeom prst="rect">
            <a:avLst/>
          </a:prstGeom>
          <a:noFill/>
          <a:ln/>
        </p:spPr>
        <p:txBody>
          <a:bodyPr wrap="square" lIns="0" tIns="0" rIns="0" bIns="0" rtlCol="0" anchor="t"/>
          <a:lstStyle/>
          <a:p>
            <a:pPr marL="0" indent="0">
              <a:buNone/>
            </a:pPr>
            <a:r>
              <a:rPr lang="en-US" sz="1700" b="1" dirty="0">
                <a:solidFill>
                  <a:srgbClr val="0B2A55"/>
                </a:solidFill>
                <a:latin typeface="Calibri"/>
                <a:ea typeface="Calibri"/>
                <a:cs typeface="Calibri"/>
              </a:rPr>
              <a:t>PDF, Word ve Excel</a:t>
            </a:r>
            <a:endParaRPr lang="en-US" sz="1700" dirty="0"/>
          </a:p>
        </p:txBody>
      </p:sp>
      <p:sp>
        <p:nvSpPr>
          <p:cNvPr id="17" name="Text 15"/>
          <p:cNvSpPr/>
          <p:nvPr/>
        </p:nvSpPr>
        <p:spPr>
          <a:xfrm>
            <a:off x="8311896" y="2715768"/>
            <a:ext cx="2798064" cy="758952"/>
          </a:xfrm>
          <a:prstGeom prst="rect">
            <a:avLst/>
          </a:prstGeom>
          <a:noFill/>
          <a:ln/>
        </p:spPr>
        <p:txBody>
          <a:bodyPr wrap="square" lIns="0" tIns="0" rIns="0" bIns="0" rtlCol="0" anchor="t"/>
          <a:lstStyle/>
          <a:p>
            <a:pPr marL="0" indent="0">
              <a:lnSpc>
                <a:spcPct val="115000"/>
              </a:lnSpc>
              <a:buNone/>
            </a:pPr>
            <a:r>
              <a:rPr lang="en-US" sz="1350" dirty="0">
                <a:solidFill>
                  <a:srgbClr val="3C4B63"/>
                </a:solidFill>
                <a:latin typeface="Calibri"/>
                <a:ea typeface="Calibri"/>
                <a:cs typeface="Calibri"/>
              </a:rPr>
              <a:t>Çok sayfalı raporları ve tabloları sohbete sürükleyip içerikleri hakkında doğrudan soru sorma.</a:t>
            </a:r>
            <a:endParaRPr lang="en-US" sz="1350" dirty="0"/>
          </a:p>
        </p:txBody>
      </p:sp>
      <p:sp>
        <p:nvSpPr>
          <p:cNvPr id="18" name="Shape 16"/>
          <p:cNvSpPr/>
          <p:nvPr/>
        </p:nvSpPr>
        <p:spPr>
          <a:xfrm>
            <a:off x="813816" y="3931920"/>
            <a:ext cx="3310128" cy="1920240"/>
          </a:xfrm>
          <a:prstGeom prst="roundRect">
            <a:avLst>
              <a:gd name="adj" fmla="val 3810"/>
            </a:avLst>
          </a:prstGeom>
          <a:solidFill>
            <a:srgbClr val="0B2A55"/>
          </a:solidFill>
          <a:ln w="12700">
            <a:solidFill>
              <a:srgbClr val="0B2A55"/>
            </a:solidFill>
            <a:prstDash val="solid"/>
          </a:ln>
        </p:spPr>
        <p:txBody>
          <a:bodyPr/>
          <a:lstStyle/>
          <a:p>
            <a:endParaRPr lang="tr-TR"/>
          </a:p>
        </p:txBody>
      </p:sp>
      <p:sp>
        <p:nvSpPr>
          <p:cNvPr id="19" name="Text 17"/>
          <p:cNvSpPr/>
          <p:nvPr/>
        </p:nvSpPr>
        <p:spPr>
          <a:xfrm>
            <a:off x="1069848" y="4160520"/>
            <a:ext cx="2798064" cy="219456"/>
          </a:xfrm>
          <a:prstGeom prst="rect">
            <a:avLst/>
          </a:prstGeom>
          <a:noFill/>
          <a:ln/>
        </p:spPr>
        <p:txBody>
          <a:bodyPr wrap="square" lIns="0" tIns="0" rIns="0" bIns="0" rtlCol="0" anchor="ctr"/>
          <a:lstStyle/>
          <a:p>
            <a:pPr marL="0" indent="0">
              <a:buNone/>
            </a:pPr>
            <a:r>
              <a:rPr lang="en-US" sz="1100" b="1" dirty="0">
                <a:solidFill>
                  <a:srgbClr val="8CC4F2"/>
                </a:solidFill>
                <a:latin typeface="Calibri"/>
                <a:ea typeface="Calibri"/>
                <a:cs typeface="Calibri"/>
              </a:rPr>
              <a:t>GÖRSELLEŞTİRME</a:t>
            </a:r>
            <a:endParaRPr lang="en-US" sz="1100" dirty="0"/>
          </a:p>
        </p:txBody>
      </p:sp>
      <p:sp>
        <p:nvSpPr>
          <p:cNvPr id="20" name="Text 18"/>
          <p:cNvSpPr/>
          <p:nvPr/>
        </p:nvSpPr>
        <p:spPr>
          <a:xfrm>
            <a:off x="1069848" y="4434840"/>
            <a:ext cx="2798064" cy="384048"/>
          </a:xfrm>
          <a:prstGeom prst="rect">
            <a:avLst/>
          </a:prstGeom>
          <a:noFill/>
          <a:ln/>
        </p:spPr>
        <p:txBody>
          <a:bodyPr wrap="square" lIns="0" tIns="0" rIns="0" bIns="0" rtlCol="0" anchor="t"/>
          <a:lstStyle/>
          <a:p>
            <a:pPr marL="0" indent="0">
              <a:buNone/>
            </a:pPr>
            <a:r>
              <a:rPr lang="en-US" sz="1700" b="1" dirty="0">
                <a:solidFill>
                  <a:srgbClr val="FFFFFF"/>
                </a:solidFill>
                <a:latin typeface="Calibri"/>
                <a:ea typeface="Calibri"/>
                <a:cs typeface="Calibri"/>
              </a:rPr>
              <a:t>Canlı Diyagram Çizimi</a:t>
            </a:r>
            <a:endParaRPr lang="en-US" sz="1700" dirty="0"/>
          </a:p>
        </p:txBody>
      </p:sp>
      <p:sp>
        <p:nvSpPr>
          <p:cNvPr id="21" name="Text 19"/>
          <p:cNvSpPr/>
          <p:nvPr/>
        </p:nvSpPr>
        <p:spPr>
          <a:xfrm>
            <a:off x="1069848" y="4910328"/>
            <a:ext cx="2798064" cy="758952"/>
          </a:xfrm>
          <a:prstGeom prst="rect">
            <a:avLst/>
          </a:prstGeom>
          <a:noFill/>
          <a:ln/>
        </p:spPr>
        <p:txBody>
          <a:bodyPr wrap="square" lIns="0" tIns="0" rIns="0" bIns="0" rtlCol="0" anchor="t"/>
          <a:lstStyle/>
          <a:p>
            <a:pPr marL="0" indent="0">
              <a:lnSpc>
                <a:spcPct val="115000"/>
              </a:lnSpc>
              <a:buNone/>
            </a:pPr>
            <a:r>
              <a:rPr lang="en-US" sz="1350" dirty="0">
                <a:solidFill>
                  <a:srgbClr val="E3EEF9"/>
                </a:solidFill>
                <a:latin typeface="Calibri"/>
                <a:ea typeface="Calibri"/>
                <a:cs typeface="Calibri"/>
              </a:rPr>
              <a:t>Yanıt içindeki akış şemalarını tek tıkla tam ekran açma, yakınlaştırma ve görsel olarak indirme.</a:t>
            </a:r>
            <a:endParaRPr lang="en-US" sz="1350" dirty="0"/>
          </a:p>
        </p:txBody>
      </p:sp>
      <p:sp>
        <p:nvSpPr>
          <p:cNvPr id="22" name="Shape 20"/>
          <p:cNvSpPr/>
          <p:nvPr/>
        </p:nvSpPr>
        <p:spPr>
          <a:xfrm>
            <a:off x="4434840" y="3931920"/>
            <a:ext cx="3310128" cy="1920240"/>
          </a:xfrm>
          <a:prstGeom prst="roundRect">
            <a:avLst>
              <a:gd name="adj" fmla="val 3810"/>
            </a:avLst>
          </a:prstGeom>
          <a:solidFill>
            <a:srgbClr val="0B2A55"/>
          </a:solidFill>
          <a:ln w="12700">
            <a:solidFill>
              <a:srgbClr val="0B2A55"/>
            </a:solidFill>
            <a:prstDash val="solid"/>
          </a:ln>
        </p:spPr>
        <p:txBody>
          <a:bodyPr/>
          <a:lstStyle/>
          <a:p>
            <a:endParaRPr lang="tr-TR"/>
          </a:p>
        </p:txBody>
      </p:sp>
      <p:sp>
        <p:nvSpPr>
          <p:cNvPr id="23" name="Text 21"/>
          <p:cNvSpPr/>
          <p:nvPr/>
        </p:nvSpPr>
        <p:spPr>
          <a:xfrm>
            <a:off x="4690872" y="4160520"/>
            <a:ext cx="2798064" cy="219456"/>
          </a:xfrm>
          <a:prstGeom prst="rect">
            <a:avLst/>
          </a:prstGeom>
          <a:noFill/>
          <a:ln/>
        </p:spPr>
        <p:txBody>
          <a:bodyPr wrap="square" lIns="0" tIns="0" rIns="0" bIns="0" rtlCol="0" anchor="ctr"/>
          <a:lstStyle/>
          <a:p>
            <a:pPr marL="0" indent="0">
              <a:buNone/>
            </a:pPr>
            <a:r>
              <a:rPr lang="en-US" sz="1100" b="1" dirty="0">
                <a:solidFill>
                  <a:srgbClr val="8CC4F2"/>
                </a:solidFill>
                <a:latin typeface="Calibri"/>
                <a:ea typeface="Calibri"/>
                <a:cs typeface="Calibri"/>
              </a:rPr>
              <a:t>VERİ ANALİZİ</a:t>
            </a:r>
            <a:endParaRPr lang="en-US" sz="1100" dirty="0"/>
          </a:p>
        </p:txBody>
      </p:sp>
      <p:sp>
        <p:nvSpPr>
          <p:cNvPr id="24" name="Text 22"/>
          <p:cNvSpPr/>
          <p:nvPr/>
        </p:nvSpPr>
        <p:spPr>
          <a:xfrm>
            <a:off x="4690872" y="4434840"/>
            <a:ext cx="2798064" cy="384048"/>
          </a:xfrm>
          <a:prstGeom prst="rect">
            <a:avLst/>
          </a:prstGeom>
          <a:noFill/>
          <a:ln/>
        </p:spPr>
        <p:txBody>
          <a:bodyPr wrap="square" lIns="0" tIns="0" rIns="0" bIns="0" rtlCol="0" anchor="t"/>
          <a:lstStyle/>
          <a:p>
            <a:pPr marL="0" indent="0">
              <a:buNone/>
            </a:pPr>
            <a:r>
              <a:rPr lang="en-US" sz="1700" b="1" dirty="0">
                <a:solidFill>
                  <a:srgbClr val="FFFFFF"/>
                </a:solidFill>
                <a:latin typeface="Calibri"/>
                <a:ea typeface="Calibri"/>
                <a:cs typeface="Calibri"/>
              </a:rPr>
              <a:t>Etkileşimli Grafik</a:t>
            </a:r>
            <a:endParaRPr lang="en-US" sz="1700" dirty="0"/>
          </a:p>
        </p:txBody>
      </p:sp>
      <p:sp>
        <p:nvSpPr>
          <p:cNvPr id="25" name="Text 23"/>
          <p:cNvSpPr/>
          <p:nvPr/>
        </p:nvSpPr>
        <p:spPr>
          <a:xfrm>
            <a:off x="4690872" y="4910328"/>
            <a:ext cx="2798064" cy="758952"/>
          </a:xfrm>
          <a:prstGeom prst="rect">
            <a:avLst/>
          </a:prstGeom>
          <a:noFill/>
          <a:ln/>
        </p:spPr>
        <p:txBody>
          <a:bodyPr wrap="square" lIns="0" tIns="0" rIns="0" bIns="0" rtlCol="0" anchor="t"/>
          <a:lstStyle/>
          <a:p>
            <a:pPr marL="0" indent="0">
              <a:lnSpc>
                <a:spcPct val="115000"/>
              </a:lnSpc>
              <a:buNone/>
            </a:pPr>
            <a:r>
              <a:rPr lang="en-US" sz="1350" dirty="0">
                <a:solidFill>
                  <a:srgbClr val="E3EEF9"/>
                </a:solidFill>
                <a:latin typeface="Calibri"/>
                <a:ea typeface="Calibri"/>
                <a:cs typeface="Calibri"/>
              </a:rPr>
              <a:t>Tablo verilerini anında sütun, çizgi veya pasta grafiğe dönüştürüp sunuma hazır kaydetme.</a:t>
            </a:r>
            <a:endParaRPr lang="en-US" sz="1350" dirty="0"/>
          </a:p>
        </p:txBody>
      </p:sp>
      <p:sp>
        <p:nvSpPr>
          <p:cNvPr id="26" name="Shape 24"/>
          <p:cNvSpPr/>
          <p:nvPr/>
        </p:nvSpPr>
        <p:spPr>
          <a:xfrm>
            <a:off x="8055864" y="3931920"/>
            <a:ext cx="3310128" cy="1920240"/>
          </a:xfrm>
          <a:prstGeom prst="roundRect">
            <a:avLst>
              <a:gd name="adj" fmla="val 3810"/>
            </a:avLst>
          </a:prstGeom>
          <a:solidFill>
            <a:srgbClr val="0B2A55"/>
          </a:solidFill>
          <a:ln w="12700">
            <a:solidFill>
              <a:srgbClr val="0B2A55"/>
            </a:solidFill>
            <a:prstDash val="solid"/>
          </a:ln>
        </p:spPr>
        <p:txBody>
          <a:bodyPr/>
          <a:lstStyle/>
          <a:p>
            <a:endParaRPr lang="tr-TR"/>
          </a:p>
        </p:txBody>
      </p:sp>
      <p:sp>
        <p:nvSpPr>
          <p:cNvPr id="27" name="Text 25"/>
          <p:cNvSpPr/>
          <p:nvPr/>
        </p:nvSpPr>
        <p:spPr>
          <a:xfrm>
            <a:off x="8311896" y="4160520"/>
            <a:ext cx="2798064" cy="219456"/>
          </a:xfrm>
          <a:prstGeom prst="rect">
            <a:avLst/>
          </a:prstGeom>
          <a:noFill/>
          <a:ln/>
        </p:spPr>
        <p:txBody>
          <a:bodyPr wrap="square" lIns="0" tIns="0" rIns="0" bIns="0" rtlCol="0" anchor="ctr"/>
          <a:lstStyle/>
          <a:p>
            <a:pPr marL="0" indent="0">
              <a:buNone/>
            </a:pPr>
            <a:r>
              <a:rPr lang="en-US" sz="1100" b="1" dirty="0">
                <a:solidFill>
                  <a:srgbClr val="8CC4F2"/>
                </a:solidFill>
                <a:latin typeface="Calibri"/>
                <a:ea typeface="Calibri"/>
                <a:cs typeface="Calibri"/>
              </a:rPr>
              <a:t>HAZIR ROLLER VE ÇIKTI</a:t>
            </a:r>
            <a:endParaRPr lang="en-US" sz="1100" dirty="0"/>
          </a:p>
        </p:txBody>
      </p:sp>
      <p:sp>
        <p:nvSpPr>
          <p:cNvPr id="28" name="Text 26"/>
          <p:cNvSpPr/>
          <p:nvPr/>
        </p:nvSpPr>
        <p:spPr>
          <a:xfrm>
            <a:off x="8311896" y="4434840"/>
            <a:ext cx="2798064" cy="384048"/>
          </a:xfrm>
          <a:prstGeom prst="rect">
            <a:avLst/>
          </a:prstGeom>
          <a:noFill/>
          <a:ln/>
        </p:spPr>
        <p:txBody>
          <a:bodyPr wrap="square" lIns="0" tIns="0" rIns="0" bIns="0" rtlCol="0" anchor="t"/>
          <a:lstStyle/>
          <a:p>
            <a:pPr marL="0" indent="0">
              <a:buNone/>
            </a:pPr>
            <a:r>
              <a:rPr lang="en-US" sz="1700" b="1" dirty="0">
                <a:solidFill>
                  <a:srgbClr val="FFFFFF"/>
                </a:solidFill>
                <a:latin typeface="Calibri"/>
                <a:ea typeface="Calibri"/>
                <a:cs typeface="Calibri"/>
              </a:rPr>
              <a:t>Şablonlar ve PDF Rapor</a:t>
            </a:r>
            <a:endParaRPr lang="en-US" sz="1700" dirty="0"/>
          </a:p>
        </p:txBody>
      </p:sp>
      <p:sp>
        <p:nvSpPr>
          <p:cNvPr id="29" name="Text 27"/>
          <p:cNvSpPr/>
          <p:nvPr/>
        </p:nvSpPr>
        <p:spPr>
          <a:xfrm>
            <a:off x="8311896" y="4910328"/>
            <a:ext cx="2798064" cy="758952"/>
          </a:xfrm>
          <a:prstGeom prst="rect">
            <a:avLst/>
          </a:prstGeom>
          <a:noFill/>
          <a:ln/>
        </p:spPr>
        <p:txBody>
          <a:bodyPr wrap="square" lIns="0" tIns="0" rIns="0" bIns="0" rtlCol="0" anchor="t"/>
          <a:lstStyle/>
          <a:p>
            <a:pPr marL="0" indent="0">
              <a:lnSpc>
                <a:spcPct val="115000"/>
              </a:lnSpc>
              <a:buNone/>
            </a:pPr>
            <a:r>
              <a:rPr lang="tr-TR" sz="1350" dirty="0">
                <a:solidFill>
                  <a:srgbClr val="E3EEF9"/>
                </a:solidFill>
                <a:latin typeface="Calibri"/>
                <a:ea typeface="Calibri"/>
                <a:cs typeface="Calibri"/>
              </a:rPr>
              <a:t>Kod İnceleyici ve SQL Uzmanı gibi hazır rollerle hızlı başlangıç; sohbeti temiz PDF raporuna dönüştürme.</a:t>
            </a:r>
            <a:endParaRPr lang="tr-TR" sz="1350" dirty="0"/>
          </a:p>
        </p:txBody>
      </p:sp>
      <p:sp>
        <p:nvSpPr>
          <p:cNvPr id="36" name="Shape 0">
            <a:extLst>
              <a:ext uri="{FF2B5EF4-FFF2-40B4-BE49-F238E27FC236}">
                <a16:creationId xmlns:a16="http://schemas.microsoft.com/office/drawing/2014/main" id="{49F76E63-C701-3A31-9874-82CAF9DB604A}"/>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37" name="Shape 1">
            <a:extLst>
              <a:ext uri="{FF2B5EF4-FFF2-40B4-BE49-F238E27FC236}">
                <a16:creationId xmlns:a16="http://schemas.microsoft.com/office/drawing/2014/main" id="{DC4A9235-A50A-E628-84A3-CFBBF1285887}"/>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35" name="Image 0" descr="c:\Users\edalk\OneDrive\Masaüstü\sunum\görsel\ykb_teknoloji_logo.png">
            <a:extLst>
              <a:ext uri="{FF2B5EF4-FFF2-40B4-BE49-F238E27FC236}">
                <a16:creationId xmlns:a16="http://schemas.microsoft.com/office/drawing/2014/main" id="{2FC0F07A-AE3A-4FC8-F43F-8D02CAB2261D}"/>
              </a:ext>
            </a:extLst>
          </p:cNvPr>
          <p:cNvPicPr>
            <a:picLocks noChangeAspect="1"/>
          </p:cNvPicPr>
          <p:nvPr/>
        </p:nvPicPr>
        <p:blipFill>
          <a:blip r:embed="rId3"/>
          <a:stretch>
            <a:fillRect/>
          </a:stretch>
        </p:blipFill>
        <p:spPr>
          <a:xfrm>
            <a:off x="10232136" y="233172"/>
            <a:ext cx="1755648" cy="704088"/>
          </a:xfrm>
          <a:prstGeom prst="rect">
            <a:avLst/>
          </a:prstGeom>
        </p:spPr>
      </p:pic>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Kurulumsuz çalışma alanı ve öne çıkan özellikler</a:t>
            </a:r>
            <a:endParaRPr lang="en-US" sz="2800" dirty="0"/>
          </a:p>
        </p:txBody>
      </p:sp>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1 - AI SOHBET PANELİ</a:t>
            </a:r>
            <a:endParaRPr lang="en-US" sz="1200" dirty="0"/>
          </a:p>
        </p:txBody>
      </p:sp>
    </p:spTree>
    <p:extLst>
      <p:ext uri="{BB962C8B-B14F-4D97-AF65-F5344CB8AC3E}">
        <p14:creationId xmlns:p14="http://schemas.microsoft.com/office/powerpoint/2010/main" val="633208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5F8FC"/>
        </a:solidFill>
        <a:effectLst/>
      </p:bgPr>
    </p:bg>
    <p:spTree>
      <p:nvGrpSpPr>
        <p:cNvPr id="1" name=""/>
        <p:cNvGrpSpPr/>
        <p:nvPr/>
      </p:nvGrpSpPr>
      <p:grpSpPr>
        <a:xfrm>
          <a:off x="0" y="0"/>
          <a:ext cx="0" cy="0"/>
          <a:chOff x="0" y="0"/>
          <a:chExt cx="0" cy="0"/>
        </a:xfrm>
      </p:grpSpPr>
      <p:sp>
        <p:nvSpPr>
          <p:cNvPr id="13" name="Shape 27">
            <a:extLst>
              <a:ext uri="{FF2B5EF4-FFF2-40B4-BE49-F238E27FC236}">
                <a16:creationId xmlns:a16="http://schemas.microsoft.com/office/drawing/2014/main" id="{9DED1880-151C-77C6-B3AE-E29D666226FB}"/>
              </a:ext>
            </a:extLst>
          </p:cNvPr>
          <p:cNvSpPr/>
          <p:nvPr/>
        </p:nvSpPr>
        <p:spPr>
          <a:xfrm>
            <a:off x="6210300" y="1527048"/>
            <a:ext cx="5524500" cy="4005072"/>
          </a:xfrm>
          <a:prstGeom prst="roundRect">
            <a:avLst>
              <a:gd name="adj" fmla="val 2020"/>
            </a:avLst>
          </a:prstGeom>
          <a:solidFill>
            <a:srgbClr val="0A192F"/>
          </a:solidFill>
          <a:ln w="15240">
            <a:solidFill>
              <a:srgbClr val="004B93"/>
            </a:solidFill>
            <a:prstDash val="solid"/>
          </a:ln>
        </p:spPr>
        <p:txBody>
          <a:bodyPr/>
          <a:lstStyle/>
          <a:p>
            <a:endParaRPr lang="tr-TR"/>
          </a:p>
        </p:txBody>
      </p:sp>
      <p:sp>
        <p:nvSpPr>
          <p:cNvPr id="12" name="Shape 27">
            <a:extLst>
              <a:ext uri="{FF2B5EF4-FFF2-40B4-BE49-F238E27FC236}">
                <a16:creationId xmlns:a16="http://schemas.microsoft.com/office/drawing/2014/main" id="{6BB8F53A-251B-0131-CB98-F9AB6ED57458}"/>
              </a:ext>
            </a:extLst>
          </p:cNvPr>
          <p:cNvSpPr/>
          <p:nvPr/>
        </p:nvSpPr>
        <p:spPr>
          <a:xfrm>
            <a:off x="457200" y="1527048"/>
            <a:ext cx="5524500" cy="4005072"/>
          </a:xfrm>
          <a:prstGeom prst="roundRect">
            <a:avLst>
              <a:gd name="adj" fmla="val 2020"/>
            </a:avLst>
          </a:prstGeom>
          <a:solidFill>
            <a:srgbClr val="0A192F"/>
          </a:solidFill>
          <a:ln w="15240">
            <a:solidFill>
              <a:srgbClr val="004B93"/>
            </a:solidFill>
            <a:prstDash val="solid"/>
          </a:ln>
        </p:spPr>
        <p:txBody>
          <a:bodyPr/>
          <a:lstStyle/>
          <a:p>
            <a:endParaRPr lang="tr-TR"/>
          </a:p>
        </p:txBody>
      </p:sp>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03</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530352" y="1595628"/>
            <a:ext cx="5378196" cy="3867912"/>
          </a:xfrm>
          <a:prstGeom prst="roundRect">
            <a:avLst>
              <a:gd name="adj" fmla="val 1928"/>
            </a:avLst>
          </a:prstGeom>
          <a:solidFill>
            <a:srgbClr val="FFFFFF"/>
          </a:solidFill>
          <a:ln w="9525">
            <a:solidFill>
              <a:srgbClr val="D5E2F1"/>
            </a:solidFill>
            <a:prstDash val="solid"/>
          </a:ln>
        </p:spPr>
        <p:txBody>
          <a:bodyPr/>
          <a:lstStyle/>
          <a:p>
            <a:endParaRPr lang="tr-TR"/>
          </a:p>
        </p:txBody>
      </p:sp>
      <p:pic>
        <p:nvPicPr>
          <p:cNvPr id="7" name="Image 0" descr="c:\Users\edalk\OneDrive\Masaüstü\sunum\görsel\chat_1_main_diagram.png"/>
          <p:cNvPicPr>
            <a:picLocks noChangeAspect="1"/>
          </p:cNvPicPr>
          <p:nvPr/>
        </p:nvPicPr>
        <p:blipFill>
          <a:blip r:embed="rId3"/>
          <a:stretch>
            <a:fillRect/>
          </a:stretch>
        </p:blipFill>
        <p:spPr>
          <a:xfrm>
            <a:off x="576072" y="1641348"/>
            <a:ext cx="5286756" cy="3776472"/>
          </a:xfrm>
          <a:prstGeom prst="rect">
            <a:avLst/>
          </a:prstGeom>
        </p:spPr>
      </p:pic>
      <p:sp>
        <p:nvSpPr>
          <p:cNvPr id="8" name="Text 5"/>
          <p:cNvSpPr/>
          <p:nvPr/>
        </p:nvSpPr>
        <p:spPr>
          <a:xfrm>
            <a:off x="530352" y="5650992"/>
            <a:ext cx="5378196" cy="274320"/>
          </a:xfrm>
          <a:prstGeom prst="rect">
            <a:avLst/>
          </a:prstGeom>
          <a:noFill/>
          <a:ln/>
        </p:spPr>
        <p:txBody>
          <a:bodyPr wrap="square" lIns="0" tIns="0" rIns="0" bIns="0" rtlCol="0" anchor="ctr"/>
          <a:lstStyle/>
          <a:p>
            <a:pPr marL="0" indent="0">
              <a:buNone/>
            </a:pPr>
            <a:r>
              <a:rPr lang="en-US" sz="1350" b="1" dirty="0">
                <a:solidFill>
                  <a:srgbClr val="0B2A55"/>
                </a:solidFill>
                <a:latin typeface="Calibri"/>
                <a:ea typeface="Calibri"/>
                <a:cs typeface="Calibri"/>
              </a:rPr>
              <a:t>01 - Canlı Diyagram ve Akış Şeması Çizimi</a:t>
            </a:r>
            <a:endParaRPr lang="en-US" sz="1350" dirty="0"/>
          </a:p>
        </p:txBody>
      </p:sp>
      <p:sp>
        <p:nvSpPr>
          <p:cNvPr id="9" name="Shape 6"/>
          <p:cNvSpPr/>
          <p:nvPr/>
        </p:nvSpPr>
        <p:spPr>
          <a:xfrm>
            <a:off x="6283452" y="1595628"/>
            <a:ext cx="5378196" cy="3867912"/>
          </a:xfrm>
          <a:prstGeom prst="roundRect">
            <a:avLst>
              <a:gd name="adj" fmla="val 1928"/>
            </a:avLst>
          </a:prstGeom>
          <a:solidFill>
            <a:srgbClr val="FFFFFF"/>
          </a:solidFill>
          <a:ln w="9525">
            <a:solidFill>
              <a:srgbClr val="D5E2F1"/>
            </a:solidFill>
            <a:prstDash val="solid"/>
          </a:ln>
        </p:spPr>
        <p:txBody>
          <a:bodyPr/>
          <a:lstStyle/>
          <a:p>
            <a:endParaRPr lang="tr-TR"/>
          </a:p>
        </p:txBody>
      </p:sp>
      <p:pic>
        <p:nvPicPr>
          <p:cNvPr id="10" name="Image 1" descr="c:\Users\edalk\OneDrive\Masaüstü\sunum\görsel\chat_4_chart_export.png"/>
          <p:cNvPicPr>
            <a:picLocks noChangeAspect="1"/>
          </p:cNvPicPr>
          <p:nvPr/>
        </p:nvPicPr>
        <p:blipFill>
          <a:blip r:embed="rId4"/>
          <a:stretch>
            <a:fillRect/>
          </a:stretch>
        </p:blipFill>
        <p:spPr>
          <a:xfrm>
            <a:off x="6329172" y="1641348"/>
            <a:ext cx="5286756" cy="3776472"/>
          </a:xfrm>
          <a:prstGeom prst="rect">
            <a:avLst/>
          </a:prstGeom>
        </p:spPr>
      </p:pic>
      <p:sp>
        <p:nvSpPr>
          <p:cNvPr id="11" name="Text 7"/>
          <p:cNvSpPr/>
          <p:nvPr/>
        </p:nvSpPr>
        <p:spPr>
          <a:xfrm>
            <a:off x="6283452" y="5650992"/>
            <a:ext cx="5378196" cy="274320"/>
          </a:xfrm>
          <a:prstGeom prst="rect">
            <a:avLst/>
          </a:prstGeom>
          <a:noFill/>
          <a:ln/>
        </p:spPr>
        <p:txBody>
          <a:bodyPr wrap="square" lIns="0" tIns="0" rIns="0" bIns="0" rtlCol="0" anchor="ctr"/>
          <a:lstStyle/>
          <a:p>
            <a:pPr marL="0" indent="0">
              <a:buNone/>
            </a:pPr>
            <a:r>
              <a:rPr lang="en-US" sz="1350" b="1" dirty="0">
                <a:solidFill>
                  <a:srgbClr val="0B2A55"/>
                </a:solidFill>
                <a:latin typeface="Calibri"/>
                <a:ea typeface="Calibri"/>
                <a:cs typeface="Calibri"/>
              </a:rPr>
              <a:t>02 - Dokümandan Tablo Halinde Test Case Üretimi</a:t>
            </a:r>
            <a:endParaRPr lang="en-US" sz="1350" dirty="0"/>
          </a:p>
        </p:txBody>
      </p:sp>
      <p:sp>
        <p:nvSpPr>
          <p:cNvPr id="15" name="Shape 0">
            <a:extLst>
              <a:ext uri="{FF2B5EF4-FFF2-40B4-BE49-F238E27FC236}">
                <a16:creationId xmlns:a16="http://schemas.microsoft.com/office/drawing/2014/main" id="{B63A2A0D-25E7-2A66-E06D-8E11DD22EF59}"/>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16" name="Shape 1">
            <a:extLst>
              <a:ext uri="{FF2B5EF4-FFF2-40B4-BE49-F238E27FC236}">
                <a16:creationId xmlns:a16="http://schemas.microsoft.com/office/drawing/2014/main" id="{BD675A46-34F3-FE4D-4BAD-0FA0DC1348C6}"/>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17" name="Image 0" descr="c:\Users\edalk\OneDrive\Masaüstü\sunum\görsel\ykb_teknoloji_logo.png">
            <a:extLst>
              <a:ext uri="{FF2B5EF4-FFF2-40B4-BE49-F238E27FC236}">
                <a16:creationId xmlns:a16="http://schemas.microsoft.com/office/drawing/2014/main" id="{AE5CD9E5-60B6-C411-39CC-5643512A5005}"/>
              </a:ext>
            </a:extLst>
          </p:cNvPr>
          <p:cNvPicPr>
            <a:picLocks noChangeAspect="1"/>
          </p:cNvPicPr>
          <p:nvPr/>
        </p:nvPicPr>
        <p:blipFill>
          <a:blip r:embed="rId5"/>
          <a:stretch>
            <a:fillRect/>
          </a:stretch>
        </p:blipFill>
        <p:spPr>
          <a:xfrm>
            <a:off x="10232136" y="233172"/>
            <a:ext cx="1755648" cy="704088"/>
          </a:xfrm>
          <a:prstGeom prst="rect">
            <a:avLst/>
          </a:prstGeom>
        </p:spPr>
      </p:pic>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1 - EKRANLAR</a:t>
            </a:r>
            <a:endParaRPr lang="en-US" sz="1200" dirty="0"/>
          </a:p>
        </p:txBody>
      </p:sp>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Canlı diyagram önizleme ve test case tablosu</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5F8FC"/>
        </a:solidFill>
        <a:effectLst/>
      </p:bgPr>
    </p:bg>
    <p:spTree>
      <p:nvGrpSpPr>
        <p:cNvPr id="1" name=""/>
        <p:cNvGrpSpPr/>
        <p:nvPr/>
      </p:nvGrpSpPr>
      <p:grpSpPr>
        <a:xfrm>
          <a:off x="0" y="0"/>
          <a:ext cx="0" cy="0"/>
          <a:chOff x="0" y="0"/>
          <a:chExt cx="0" cy="0"/>
        </a:xfrm>
      </p:grpSpPr>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04</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8" name="Text 5"/>
          <p:cNvSpPr/>
          <p:nvPr/>
        </p:nvSpPr>
        <p:spPr>
          <a:xfrm>
            <a:off x="813816" y="5623560"/>
            <a:ext cx="5120640" cy="274320"/>
          </a:xfrm>
          <a:prstGeom prst="rect">
            <a:avLst/>
          </a:prstGeom>
          <a:noFill/>
          <a:ln/>
        </p:spPr>
        <p:txBody>
          <a:bodyPr wrap="square" lIns="0" tIns="0" rIns="0" bIns="0" rtlCol="0" anchor="ctr"/>
          <a:lstStyle/>
          <a:p>
            <a:pPr marL="0" indent="0">
              <a:buNone/>
            </a:pPr>
            <a:r>
              <a:rPr lang="en-US" sz="1350" b="1" dirty="0">
                <a:solidFill>
                  <a:srgbClr val="0B2A55"/>
                </a:solidFill>
                <a:latin typeface="Calibri"/>
                <a:ea typeface="Calibri"/>
                <a:cs typeface="Calibri"/>
              </a:rPr>
              <a:t>03 - Doküman Yükleme ve Kaynak Gösterimli Yanıt</a:t>
            </a:r>
            <a:endParaRPr lang="en-US" sz="1350" dirty="0"/>
          </a:p>
        </p:txBody>
      </p:sp>
      <p:sp>
        <p:nvSpPr>
          <p:cNvPr id="11" name="Text 7"/>
          <p:cNvSpPr/>
          <p:nvPr/>
        </p:nvSpPr>
        <p:spPr>
          <a:xfrm>
            <a:off x="6254496" y="5623560"/>
            <a:ext cx="5120640" cy="274320"/>
          </a:xfrm>
          <a:prstGeom prst="rect">
            <a:avLst/>
          </a:prstGeom>
          <a:noFill/>
          <a:ln/>
        </p:spPr>
        <p:txBody>
          <a:bodyPr wrap="square" lIns="0" tIns="0" rIns="0" bIns="0" rtlCol="0" anchor="ctr"/>
          <a:lstStyle/>
          <a:p>
            <a:pPr marL="0" indent="0">
              <a:buNone/>
            </a:pPr>
            <a:r>
              <a:rPr lang="en-US" sz="1350" b="1" dirty="0">
                <a:solidFill>
                  <a:srgbClr val="0B2A55"/>
                </a:solidFill>
                <a:latin typeface="Calibri"/>
                <a:ea typeface="Calibri"/>
                <a:cs typeface="Calibri"/>
              </a:rPr>
              <a:t>04 - Hata Analizi ve Kod Düzeltme Önerisi</a:t>
            </a:r>
            <a:endParaRPr lang="en-US" sz="1350" dirty="0"/>
          </a:p>
        </p:txBody>
      </p:sp>
      <p:sp>
        <p:nvSpPr>
          <p:cNvPr id="14" name="Shape 27">
            <a:extLst>
              <a:ext uri="{FF2B5EF4-FFF2-40B4-BE49-F238E27FC236}">
                <a16:creationId xmlns:a16="http://schemas.microsoft.com/office/drawing/2014/main" id="{2D60FFE1-2C9A-EE49-8659-77AEAFC1D2E4}"/>
              </a:ext>
            </a:extLst>
          </p:cNvPr>
          <p:cNvSpPr/>
          <p:nvPr/>
        </p:nvSpPr>
        <p:spPr>
          <a:xfrm>
            <a:off x="548640" y="1730905"/>
            <a:ext cx="5468112" cy="3621024"/>
          </a:xfrm>
          <a:prstGeom prst="roundRect">
            <a:avLst>
              <a:gd name="adj" fmla="val 2020"/>
            </a:avLst>
          </a:prstGeom>
          <a:solidFill>
            <a:srgbClr val="0A192F"/>
          </a:solidFill>
          <a:ln w="15240">
            <a:solidFill>
              <a:srgbClr val="004B93"/>
            </a:solidFill>
            <a:prstDash val="solid"/>
          </a:ln>
        </p:spPr>
        <p:txBody>
          <a:bodyPr/>
          <a:lstStyle/>
          <a:p>
            <a:endParaRPr lang="tr-TR"/>
          </a:p>
        </p:txBody>
      </p:sp>
      <p:pic>
        <p:nvPicPr>
          <p:cNvPr id="16" name="Image 1" descr="c:\Users\edalk\OneDrive\Masaüstü\sunum\görsel\chat_2_rag_kb.png">
            <a:extLst>
              <a:ext uri="{FF2B5EF4-FFF2-40B4-BE49-F238E27FC236}">
                <a16:creationId xmlns:a16="http://schemas.microsoft.com/office/drawing/2014/main" id="{291BDFC8-1F0C-5CA6-FB91-3C051C7E159C}"/>
              </a:ext>
            </a:extLst>
          </p:cNvPr>
          <p:cNvPicPr>
            <a:picLocks noChangeAspect="1"/>
          </p:cNvPicPr>
          <p:nvPr/>
        </p:nvPicPr>
        <p:blipFill>
          <a:blip r:embed="rId3"/>
          <a:stretch>
            <a:fillRect/>
          </a:stretch>
        </p:blipFill>
        <p:spPr>
          <a:xfrm>
            <a:off x="630936" y="1979676"/>
            <a:ext cx="5303520" cy="3119051"/>
          </a:xfrm>
          <a:prstGeom prst="rect">
            <a:avLst/>
          </a:prstGeom>
        </p:spPr>
      </p:pic>
      <p:sp>
        <p:nvSpPr>
          <p:cNvPr id="17" name="Shape 30">
            <a:extLst>
              <a:ext uri="{FF2B5EF4-FFF2-40B4-BE49-F238E27FC236}">
                <a16:creationId xmlns:a16="http://schemas.microsoft.com/office/drawing/2014/main" id="{AB9683A0-60C7-C3A9-DBCF-6B8532535227}"/>
              </a:ext>
            </a:extLst>
          </p:cNvPr>
          <p:cNvSpPr/>
          <p:nvPr/>
        </p:nvSpPr>
        <p:spPr>
          <a:xfrm>
            <a:off x="6254496" y="1730905"/>
            <a:ext cx="5468112" cy="3621024"/>
          </a:xfrm>
          <a:prstGeom prst="roundRect">
            <a:avLst>
              <a:gd name="adj" fmla="val 2020"/>
            </a:avLst>
          </a:prstGeom>
          <a:solidFill>
            <a:srgbClr val="0A192F"/>
          </a:solidFill>
          <a:ln w="15240">
            <a:solidFill>
              <a:srgbClr val="6D28D9"/>
            </a:solidFill>
            <a:prstDash val="solid"/>
          </a:ln>
        </p:spPr>
        <p:txBody>
          <a:bodyPr/>
          <a:lstStyle/>
          <a:p>
            <a:endParaRPr lang="tr-TR"/>
          </a:p>
        </p:txBody>
      </p:sp>
      <p:pic>
        <p:nvPicPr>
          <p:cNvPr id="19" name="Image 2" descr="c:\Users\edalk\OneDrive\Masaüstü\sunum\görsel\chat_3_templates_slash.png">
            <a:extLst>
              <a:ext uri="{FF2B5EF4-FFF2-40B4-BE49-F238E27FC236}">
                <a16:creationId xmlns:a16="http://schemas.microsoft.com/office/drawing/2014/main" id="{1E889970-0326-EE89-E041-0E1B03E75B6F}"/>
              </a:ext>
            </a:extLst>
          </p:cNvPr>
          <p:cNvPicPr>
            <a:picLocks noChangeAspect="1"/>
          </p:cNvPicPr>
          <p:nvPr/>
        </p:nvPicPr>
        <p:blipFill>
          <a:blip r:embed="rId4"/>
          <a:stretch>
            <a:fillRect/>
          </a:stretch>
        </p:blipFill>
        <p:spPr>
          <a:xfrm>
            <a:off x="6336792" y="1979676"/>
            <a:ext cx="5303520" cy="3119052"/>
          </a:xfrm>
          <a:prstGeom prst="rect">
            <a:avLst/>
          </a:prstGeom>
        </p:spPr>
      </p:pic>
      <p:sp>
        <p:nvSpPr>
          <p:cNvPr id="34" name="Shape 0">
            <a:extLst>
              <a:ext uri="{FF2B5EF4-FFF2-40B4-BE49-F238E27FC236}">
                <a16:creationId xmlns:a16="http://schemas.microsoft.com/office/drawing/2014/main" id="{6850B767-259A-3F47-D923-FEB60330DB6A}"/>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35" name="Shape 1">
            <a:extLst>
              <a:ext uri="{FF2B5EF4-FFF2-40B4-BE49-F238E27FC236}">
                <a16:creationId xmlns:a16="http://schemas.microsoft.com/office/drawing/2014/main" id="{E44881B0-C49B-8C9B-9A6E-C856961145C3}"/>
              </a:ext>
            </a:extLst>
          </p:cNvPr>
          <p:cNvSpPr/>
          <p:nvPr/>
        </p:nvSpPr>
        <p:spPr>
          <a:xfrm>
            <a:off x="-18745"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36" name="Image 0" descr="c:\Users\edalk\OneDrive\Masaüstü\sunum\görsel\ykb_teknoloji_logo.png">
            <a:extLst>
              <a:ext uri="{FF2B5EF4-FFF2-40B4-BE49-F238E27FC236}">
                <a16:creationId xmlns:a16="http://schemas.microsoft.com/office/drawing/2014/main" id="{522BFFDC-EA95-44C5-2665-31F877729360}"/>
              </a:ext>
            </a:extLst>
          </p:cNvPr>
          <p:cNvPicPr>
            <a:picLocks noChangeAspect="1"/>
          </p:cNvPicPr>
          <p:nvPr/>
        </p:nvPicPr>
        <p:blipFill>
          <a:blip r:embed="rId5"/>
          <a:stretch>
            <a:fillRect/>
          </a:stretch>
        </p:blipFill>
        <p:spPr>
          <a:xfrm>
            <a:off x="10232136" y="233172"/>
            <a:ext cx="1755648" cy="704088"/>
          </a:xfrm>
          <a:prstGeom prst="rect">
            <a:avLst/>
          </a:prstGeom>
        </p:spPr>
      </p:pic>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Bilgi tabanı yönetimi ve hata analizi</a:t>
            </a:r>
            <a:endParaRPr lang="en-US" sz="2800" dirty="0"/>
          </a:p>
        </p:txBody>
      </p:sp>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1 - EKRANLAR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5F8FC"/>
        </a:solidFill>
        <a:effectLst/>
      </p:bgPr>
    </p:bg>
    <p:spTree>
      <p:nvGrpSpPr>
        <p:cNvPr id="1" name=""/>
        <p:cNvGrpSpPr/>
        <p:nvPr/>
      </p:nvGrpSpPr>
      <p:grpSpPr>
        <a:xfrm>
          <a:off x="0" y="0"/>
          <a:ext cx="0" cy="0"/>
          <a:chOff x="0" y="0"/>
          <a:chExt cx="0" cy="0"/>
        </a:xfrm>
      </p:grpSpPr>
      <p:sp>
        <p:nvSpPr>
          <p:cNvPr id="12" name="Shape 27">
            <a:extLst>
              <a:ext uri="{FF2B5EF4-FFF2-40B4-BE49-F238E27FC236}">
                <a16:creationId xmlns:a16="http://schemas.microsoft.com/office/drawing/2014/main" id="{6BB8F53A-251B-0131-CB98-F9AB6ED57458}"/>
              </a:ext>
            </a:extLst>
          </p:cNvPr>
          <p:cNvSpPr/>
          <p:nvPr/>
        </p:nvSpPr>
        <p:spPr>
          <a:xfrm>
            <a:off x="548640" y="1545336"/>
            <a:ext cx="5023842" cy="4443984"/>
          </a:xfrm>
          <a:prstGeom prst="roundRect">
            <a:avLst>
              <a:gd name="adj" fmla="val 2020"/>
            </a:avLst>
          </a:prstGeom>
          <a:solidFill>
            <a:srgbClr val="0A192F"/>
          </a:solidFill>
          <a:ln w="15240">
            <a:solidFill>
              <a:srgbClr val="004B93"/>
            </a:solidFill>
            <a:prstDash val="solid"/>
          </a:ln>
        </p:spPr>
        <p:txBody>
          <a:bodyPr/>
          <a:lstStyle/>
          <a:p>
            <a:endParaRPr lang="tr-TR"/>
          </a:p>
        </p:txBody>
      </p:sp>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05</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621792" y="1618488"/>
            <a:ext cx="4877538" cy="4297680"/>
          </a:xfrm>
          <a:prstGeom prst="roundRect">
            <a:avLst>
              <a:gd name="adj" fmla="val 1928"/>
            </a:avLst>
          </a:prstGeom>
          <a:solidFill>
            <a:srgbClr val="FFFFFF"/>
          </a:solidFill>
          <a:ln w="9525">
            <a:solidFill>
              <a:srgbClr val="D5E2F1"/>
            </a:solidFill>
            <a:prstDash val="solid"/>
          </a:ln>
        </p:spPr>
        <p:txBody>
          <a:bodyPr/>
          <a:lstStyle/>
          <a:p>
            <a:endParaRPr lang="tr-TR"/>
          </a:p>
        </p:txBody>
      </p:sp>
      <p:pic>
        <p:nvPicPr>
          <p:cNvPr id="7" name="Image 0" descr="DevTools IndexedDB chunks tablosu"/>
          <p:cNvPicPr>
            <a:picLocks noChangeAspect="1"/>
          </p:cNvPicPr>
          <p:nvPr/>
        </p:nvPicPr>
        <p:blipFill>
          <a:blip r:embed="rId3"/>
          <a:stretch>
            <a:fillRect/>
          </a:stretch>
        </p:blipFill>
        <p:spPr>
          <a:xfrm>
            <a:off x="745236" y="1709928"/>
            <a:ext cx="4630650" cy="4114800"/>
          </a:xfrm>
          <a:prstGeom prst="rect">
            <a:avLst/>
          </a:prstGeom>
        </p:spPr>
      </p:pic>
      <p:sp>
        <p:nvSpPr>
          <p:cNvPr id="15" name="Shape 0">
            <a:extLst>
              <a:ext uri="{FF2B5EF4-FFF2-40B4-BE49-F238E27FC236}">
                <a16:creationId xmlns:a16="http://schemas.microsoft.com/office/drawing/2014/main" id="{B63A2A0D-25E7-2A66-E06D-8E11DD22EF59}"/>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16" name="Shape 1">
            <a:extLst>
              <a:ext uri="{FF2B5EF4-FFF2-40B4-BE49-F238E27FC236}">
                <a16:creationId xmlns:a16="http://schemas.microsoft.com/office/drawing/2014/main" id="{BD675A46-34F3-FE4D-4BAD-0FA0DC1348C6}"/>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17" name="Image 0" descr="c:\Users\edalk\OneDrive\Masaüstü\sunum\görsel\ykb_teknoloji_logo.png">
            <a:extLst>
              <a:ext uri="{FF2B5EF4-FFF2-40B4-BE49-F238E27FC236}">
                <a16:creationId xmlns:a16="http://schemas.microsoft.com/office/drawing/2014/main" id="{AE5CD9E5-60B6-C411-39CC-5643512A5005}"/>
              </a:ext>
            </a:extLst>
          </p:cNvPr>
          <p:cNvPicPr>
            <a:picLocks noChangeAspect="1"/>
          </p:cNvPicPr>
          <p:nvPr/>
        </p:nvPicPr>
        <p:blipFill>
          <a:blip r:embed="rId4"/>
          <a:stretch>
            <a:fillRect/>
          </a:stretch>
        </p:blipFill>
        <p:spPr>
          <a:xfrm>
            <a:off x="10232136" y="233172"/>
            <a:ext cx="1755648" cy="704088"/>
          </a:xfrm>
          <a:prstGeom prst="rect">
            <a:avLst/>
          </a:prstGeom>
        </p:spPr>
      </p:pic>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1 - KULLANIM ÖRNEKLERİ</a:t>
            </a:r>
            <a:endParaRPr lang="en-US" sz="1200" dirty="0"/>
          </a:p>
        </p:txBody>
      </p:sp>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Analistler ve yazılımcılar için kullanım örnekleri</a:t>
            </a:r>
            <a:endParaRPr lang="en-US" sz="2800" dirty="0"/>
          </a:p>
        </p:txBody>
      </p:sp>
      <p:sp>
        <p:nvSpPr>
          <p:cNvPr id="701" name="Callout 1"/>
          <p:cNvSpPr/>
          <p:nvPr/>
        </p:nvSpPr>
        <p:spPr>
          <a:xfrm>
            <a:off x="5846802" y="1545336"/>
            <a:ext cx="5887998" cy="2148840"/>
          </a:xfrm>
          <a:prstGeom prst="roundRect">
            <a:avLst>
              <a:gd name="adj" fmla="val 6000"/>
            </a:avLst>
          </a:prstGeom>
          <a:solidFill>
            <a:srgbClr val="E8F1FB"/>
          </a:solidFill>
          <a:ln>
            <a:noFill/>
          </a:ln>
        </p:spPr>
        <p:txBody>
          <a:bodyPr wrap="square" lIns="137160" tIns="118872" rIns="137160" bIns="91440" rtlCol="0" anchor="t">
            <a:normAutofit/>
          </a:bodyPr>
          <a:lstStyle/>
          <a:p>
            <a:pPr marL="0" indent="0">
              <a:spcAft>
                <a:spcPts val="200"/>
              </a:spcAft>
              <a:buNone/>
            </a:pPr>
            <a:r>
              <a:rPr lang="tr-TR" sz="1000" b="1" dirty="0">
                <a:solidFill>
                  <a:srgbClr val="0062B8"/>
                </a:solidFill>
                <a:latin typeface="Calibri"/>
                <a:ea typeface="Calibri"/>
                <a:cs typeface="Calibri"/>
              </a:rPr>
              <a:t>01 · ANALİSTLER</a:t>
            </a:r>
          </a:p>
          <a:p>
            <a:pPr marL="0" indent="0">
              <a:spcAft>
                <a:spcPts val="600"/>
              </a:spcAft>
              <a:buNone/>
            </a:pPr>
            <a:r>
              <a:rPr lang="tr-TR" sz="1600" b="1" dirty="0">
                <a:solidFill>
                  <a:srgbClr val="0B2A55"/>
                </a:solidFill>
                <a:latin typeface="Calibri"/>
                <a:ea typeface="Calibri"/>
                <a:cs typeface="Calibri"/>
              </a:rPr>
              <a:t>Doküman odaklı kullanım</a:t>
            </a:r>
          </a:p>
          <a:p>
            <a:pPr marL="171450" indent="-171450">
              <a:spcAft>
                <a:spcPts val="600"/>
              </a:spcAft>
              <a:buFont typeface="Arial"/>
              <a:buChar char="•"/>
            </a:pPr>
            <a:r>
              <a:rPr lang="tr-TR" sz="1500" dirty="0">
                <a:solidFill>
                  <a:srgbClr val="3C4B63"/>
                </a:solidFill>
                <a:latin typeface="Calibri"/>
                <a:ea typeface="Calibri"/>
                <a:cs typeface="Calibri"/>
              </a:rPr>
              <a:t>Analiz dokümanından iş akışı ve ekran diyagramı çıkarma</a:t>
            </a:r>
          </a:p>
          <a:p>
            <a:pPr marL="171450" indent="-171450">
              <a:spcAft>
                <a:spcPts val="600"/>
              </a:spcAft>
              <a:buFont typeface="Arial"/>
              <a:buChar char="•"/>
            </a:pPr>
            <a:r>
              <a:rPr lang="tr-TR" sz="1500" dirty="0">
                <a:solidFill>
                  <a:srgbClr val="3C4B63"/>
                </a:solidFill>
                <a:latin typeface="Calibri"/>
                <a:ea typeface="Calibri"/>
                <a:cs typeface="Calibri"/>
              </a:rPr>
              <a:t>Gereksinimlerden test case tablosu üretme</a:t>
            </a:r>
          </a:p>
          <a:p>
            <a:pPr marL="171450" indent="-171450">
              <a:spcAft>
                <a:spcPts val="600"/>
              </a:spcAft>
              <a:buFont typeface="Arial"/>
              <a:buChar char="•"/>
            </a:pPr>
            <a:r>
              <a:rPr lang="tr-TR" sz="1500" dirty="0">
                <a:solidFill>
                  <a:srgbClr val="3C4B63"/>
                </a:solidFill>
                <a:latin typeface="Calibri"/>
                <a:ea typeface="Calibri"/>
                <a:cs typeface="Calibri"/>
              </a:rPr>
              <a:t>Dokümandaki iş kurallarını kaynağıyla sorgulama</a:t>
            </a:r>
          </a:p>
          <a:p>
            <a:pPr marL="171450" indent="-171450">
              <a:spcAft>
                <a:spcPts val="600"/>
              </a:spcAft>
              <a:buFont typeface="Arial"/>
              <a:buChar char="•"/>
            </a:pPr>
            <a:r>
              <a:rPr lang="tr-TR" sz="1500" dirty="0">
                <a:solidFill>
                  <a:srgbClr val="3C4B63"/>
                </a:solidFill>
                <a:latin typeface="Calibri"/>
                <a:ea typeface="Calibri"/>
                <a:cs typeface="Calibri"/>
              </a:rPr>
              <a:t>Analizdeki eksik ve çelişkili noktaları bulma</a:t>
            </a:r>
          </a:p>
        </p:txBody>
      </p:sp>
      <p:sp>
        <p:nvSpPr>
          <p:cNvPr id="703" name="Callout 3"/>
          <p:cNvSpPr/>
          <p:nvPr/>
        </p:nvSpPr>
        <p:spPr>
          <a:xfrm>
            <a:off x="5846802" y="3840480"/>
            <a:ext cx="5887998" cy="2148840"/>
          </a:xfrm>
          <a:prstGeom prst="roundRect">
            <a:avLst>
              <a:gd name="adj" fmla="val 6000"/>
            </a:avLst>
          </a:prstGeom>
          <a:solidFill>
            <a:srgbClr val="0B2A55"/>
          </a:solidFill>
          <a:ln>
            <a:noFill/>
          </a:ln>
        </p:spPr>
        <p:txBody>
          <a:bodyPr wrap="square" lIns="137160" tIns="118872" rIns="137160" bIns="91440" rtlCol="0" anchor="t">
            <a:normAutofit/>
          </a:bodyPr>
          <a:lstStyle/>
          <a:p>
            <a:pPr marL="0" indent="0">
              <a:spcAft>
                <a:spcPts val="200"/>
              </a:spcAft>
              <a:buNone/>
            </a:pPr>
            <a:r>
              <a:rPr lang="tr-TR" sz="1000" b="1" dirty="0">
                <a:solidFill>
                  <a:srgbClr val="CFE3F7"/>
                </a:solidFill>
                <a:latin typeface="Calibri"/>
                <a:ea typeface="Calibri"/>
                <a:cs typeface="Calibri"/>
              </a:rPr>
              <a:t>02 · YAZILIMCILAR</a:t>
            </a:r>
          </a:p>
          <a:p>
            <a:pPr marL="0" indent="0">
              <a:spcAft>
                <a:spcPts val="600"/>
              </a:spcAft>
              <a:buNone/>
            </a:pPr>
            <a:r>
              <a:rPr lang="tr-TR" sz="1600" b="1" dirty="0">
                <a:solidFill>
                  <a:srgbClr val="FFFFFF"/>
                </a:solidFill>
                <a:latin typeface="Calibri"/>
                <a:ea typeface="Calibri"/>
                <a:cs typeface="Calibri"/>
              </a:rPr>
              <a:t>Kod ve hata odaklı kullanım</a:t>
            </a:r>
          </a:p>
          <a:p>
            <a:pPr marL="171450" indent="-171450">
              <a:spcAft>
                <a:spcPts val="600"/>
              </a:spcAft>
              <a:buFont typeface="Arial"/>
              <a:buChar char="•"/>
            </a:pPr>
            <a:r>
              <a:rPr lang="tr-TR" sz="1500" dirty="0">
                <a:solidFill>
                  <a:srgbClr val="EAF3FD"/>
                </a:solidFill>
                <a:latin typeface="Calibri"/>
                <a:ea typeface="Calibri"/>
                <a:cs typeface="Calibri"/>
              </a:rPr>
              <a:t>Log ve stack trace’ten hatanın kök nedenini bulma</a:t>
            </a:r>
          </a:p>
          <a:p>
            <a:pPr marL="171450" indent="-171450">
              <a:spcAft>
                <a:spcPts val="600"/>
              </a:spcAft>
              <a:buFont typeface="Arial"/>
              <a:buChar char="•"/>
            </a:pPr>
            <a:r>
              <a:rPr lang="tr-TR" sz="1500" dirty="0">
                <a:solidFill>
                  <a:srgbClr val="EAF3FD"/>
                </a:solidFill>
                <a:latin typeface="Calibri"/>
                <a:ea typeface="Calibri"/>
                <a:cs typeface="Calibri"/>
              </a:rPr>
              <a:t>Kodu hata, güvenlik ve performans açısından inceletme</a:t>
            </a:r>
          </a:p>
          <a:p>
            <a:pPr marL="171450" indent="-171450">
              <a:spcAft>
                <a:spcPts val="600"/>
              </a:spcAft>
              <a:buFont typeface="Arial"/>
              <a:buChar char="•"/>
            </a:pPr>
            <a:r>
              <a:rPr lang="tr-TR" sz="1500" dirty="0">
                <a:solidFill>
                  <a:srgbClr val="EAF3FD"/>
                </a:solidFill>
                <a:latin typeface="Calibri"/>
                <a:ea typeface="Calibri"/>
                <a:cs typeface="Calibri"/>
              </a:rPr>
              <a:t>Sıralama, sınıf ve veri modeli diyagramı çizdirme</a:t>
            </a:r>
          </a:p>
          <a:p>
            <a:pPr marL="171450" indent="-171450">
              <a:spcAft>
                <a:spcPts val="600"/>
              </a:spcAft>
              <a:buFont typeface="Arial"/>
              <a:buChar char="•"/>
            </a:pPr>
            <a:r>
              <a:rPr lang="tr-TR" sz="1500" dirty="0">
                <a:solidFill>
                  <a:srgbClr val="EAF3FD"/>
                </a:solidFill>
                <a:latin typeface="Calibri"/>
                <a:ea typeface="Calibri"/>
                <a:cs typeface="Calibri"/>
              </a:rPr>
              <a:t>Koda veya gereksinime dayalı test senaryosu önerisi alma</a:t>
            </a:r>
          </a:p>
        </p:txBody>
      </p:sp>
    </p:spTree>
    <p:extLst>
      <p:ext uri="{BB962C8B-B14F-4D97-AF65-F5344CB8AC3E}">
        <p14:creationId xmlns:p14="http://schemas.microsoft.com/office/powerpoint/2010/main" val="21470229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C"/>
        </a:solidFill>
        <a:effectLst/>
      </p:bgPr>
    </p:bg>
    <p:spTree>
      <p:nvGrpSpPr>
        <p:cNvPr id="1" name=""/>
        <p:cNvGrpSpPr/>
        <p:nvPr/>
      </p:nvGrpSpPr>
      <p:grpSpPr>
        <a:xfrm>
          <a:off x="0" y="0"/>
          <a:ext cx="0" cy="0"/>
          <a:chOff x="0" y="0"/>
          <a:chExt cx="0" cy="0"/>
        </a:xfrm>
      </p:grpSpPr>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06</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35" name="Shape 0">
            <a:extLst>
              <a:ext uri="{FF2B5EF4-FFF2-40B4-BE49-F238E27FC236}">
                <a16:creationId xmlns:a16="http://schemas.microsoft.com/office/drawing/2014/main" id="{DB601452-3577-E6EB-8A00-083F229C1496}"/>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36" name="Shape 1">
            <a:extLst>
              <a:ext uri="{FF2B5EF4-FFF2-40B4-BE49-F238E27FC236}">
                <a16:creationId xmlns:a16="http://schemas.microsoft.com/office/drawing/2014/main" id="{641903E3-F62F-BEF3-16C4-D9D7647ADDAA}"/>
              </a:ext>
            </a:extLst>
          </p:cNvPr>
          <p:cNvSpPr/>
          <p:nvPr/>
        </p:nvSpPr>
        <p:spPr>
          <a:xfrm>
            <a:off x="0" y="82296"/>
            <a:ext cx="12191695" cy="1192589"/>
          </a:xfrm>
          <a:prstGeom prst="rect">
            <a:avLst/>
          </a:prstGeom>
          <a:solidFill>
            <a:srgbClr val="FFFFFF"/>
          </a:solidFill>
          <a:ln w="6350">
            <a:solidFill>
              <a:srgbClr val="D8E2EF"/>
            </a:solidFill>
            <a:prstDash val="solid"/>
          </a:ln>
        </p:spPr>
        <p:txBody>
          <a:bodyPr/>
          <a:lstStyle/>
          <a:p>
            <a:endParaRPr lang="tr-TR"/>
          </a:p>
        </p:txBody>
      </p:sp>
      <p:pic>
        <p:nvPicPr>
          <p:cNvPr id="37" name="Image 0" descr="c:\Users\edalk\OneDrive\Masaüstü\sunum\görsel\ykb_teknoloji_logo.png">
            <a:extLst>
              <a:ext uri="{FF2B5EF4-FFF2-40B4-BE49-F238E27FC236}">
                <a16:creationId xmlns:a16="http://schemas.microsoft.com/office/drawing/2014/main" id="{9320D7C8-5647-961F-129D-04A16295E27A}"/>
              </a:ext>
            </a:extLst>
          </p:cNvPr>
          <p:cNvPicPr>
            <a:picLocks noChangeAspect="1"/>
          </p:cNvPicPr>
          <p:nvPr/>
        </p:nvPicPr>
        <p:blipFill>
          <a:blip r:embed="rId3"/>
          <a:stretch>
            <a:fillRect/>
          </a:stretch>
        </p:blipFill>
        <p:spPr>
          <a:xfrm>
            <a:off x="10232136" y="233172"/>
            <a:ext cx="1755648" cy="704088"/>
          </a:xfrm>
          <a:prstGeom prst="rect">
            <a:avLst/>
          </a:prstGeom>
        </p:spPr>
      </p:pic>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Tarayıcı içi yerel RAG akışı ve mimari denge</a:t>
            </a:r>
            <a:endParaRPr lang="en-US" sz="2800" dirty="0"/>
          </a:p>
        </p:txBody>
      </p:sp>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1 - RAG MİMARİSİ</a:t>
            </a:r>
            <a:endParaRPr lang="en-US" sz="1200" dirty="0"/>
          </a:p>
        </p:txBody>
      </p:sp>
      <p:sp>
        <p:nvSpPr>
          <p:cNvPr id="501" name="Browser Boundary"/>
          <p:cNvSpPr/>
          <p:nvPr/>
        </p:nvSpPr>
        <p:spPr>
          <a:xfrm>
            <a:off x="548640" y="1463040"/>
            <a:ext cx="8942832" cy="3200400"/>
          </a:xfrm>
          <a:prstGeom prst="roundRect">
            <a:avLst>
              <a:gd name="adj" fmla="val 3000"/>
            </a:avLst>
          </a:prstGeom>
          <a:solidFill>
            <a:srgbClr val="FFFFFF"/>
          </a:solidFill>
          <a:ln w="15875">
            <a:solidFill>
              <a:srgbClr val="0062B8"/>
            </a:solidFill>
            <a:prstDash val="dash"/>
          </a:ln>
        </p:spPr>
        <p:txBody>
          <a:bodyPr wrap="square" lIns="109728" tIns="109728" rIns="109728" bIns="109728" rtlCol="0" anchor="t">
            <a:normAutofit/>
          </a:bodyPr>
          <a:lstStyle/>
          <a:p>
            <a:endParaRPr lang="tr-TR"/>
          </a:p>
        </p:txBody>
      </p:sp>
      <p:sp>
        <p:nvSpPr>
          <p:cNvPr id="502" name="Browser Label"/>
          <p:cNvSpPr txBox="1"/>
          <p:nvPr/>
        </p:nvSpPr>
        <p:spPr>
          <a:xfrm>
            <a:off x="777240" y="1554480"/>
            <a:ext cx="5486400" cy="219456"/>
          </a:xfrm>
          <a:prstGeom prst="roundRect">
            <a:avLst>
              <a:gd name="adj" fmla="val 6000"/>
            </a:avLst>
          </a:prstGeom>
          <a:noFill/>
          <a:ln>
            <a:noFill/>
          </a:ln>
        </p:spPr>
        <p:txBody>
          <a:bodyPr wrap="square" lIns="0" tIns="0" rIns="0" bIns="0" rtlCol="0" anchor="ctr">
            <a:normAutofit/>
          </a:bodyPr>
          <a:lstStyle/>
          <a:p>
            <a:pPr marL="0" indent="0" algn="l">
              <a:buNone/>
            </a:pPr>
            <a:r>
              <a:rPr lang="tr-TR" sz="1050" b="1" dirty="0">
                <a:solidFill>
                  <a:srgbClr val="0062B8"/>
                </a:solidFill>
                <a:latin typeface="Calibri"/>
                <a:ea typeface="Calibri"/>
                <a:cs typeface="Calibri"/>
              </a:rPr>
              <a:t>TARAYICI İÇİNDE  ·  SUNUCU VE EMBEDDING API YOK</a:t>
            </a:r>
          </a:p>
        </p:txBody>
      </p:sp>
      <p:sp>
        <p:nvSpPr>
          <p:cNvPr id="503" name="Lane 1 Label"/>
          <p:cNvSpPr txBox="1"/>
          <p:nvPr/>
        </p:nvSpPr>
        <p:spPr>
          <a:xfrm>
            <a:off x="777240" y="1828800"/>
            <a:ext cx="3657600" cy="219456"/>
          </a:xfrm>
          <a:prstGeom prst="roundRect">
            <a:avLst>
              <a:gd name="adj" fmla="val 6000"/>
            </a:avLst>
          </a:prstGeom>
          <a:noFill/>
          <a:ln>
            <a:noFill/>
          </a:ln>
        </p:spPr>
        <p:txBody>
          <a:bodyPr wrap="square" lIns="0" tIns="0" rIns="0" bIns="0" rtlCol="0" anchor="ctr">
            <a:normAutofit/>
          </a:bodyPr>
          <a:lstStyle/>
          <a:p>
            <a:pPr marL="0" indent="0" algn="l">
              <a:buNone/>
            </a:pPr>
            <a:r>
              <a:rPr lang="tr-TR" sz="1000" b="1" dirty="0">
                <a:solidFill>
                  <a:srgbClr val="0B2A55"/>
                </a:solidFill>
                <a:latin typeface="Calibri"/>
                <a:ea typeface="Calibri"/>
                <a:cs typeface="Calibri"/>
              </a:rPr>
              <a:t>1 · İNDEKSLEME  —  belge yüklendiğinde bir kez</a:t>
            </a:r>
          </a:p>
        </p:txBody>
      </p:sp>
      <p:sp>
        <p:nvSpPr>
          <p:cNvPr id="504" name="Lane 2 Label"/>
          <p:cNvSpPr txBox="1"/>
          <p:nvPr/>
        </p:nvSpPr>
        <p:spPr>
          <a:xfrm>
            <a:off x="777240" y="3246120"/>
            <a:ext cx="3657600" cy="219456"/>
          </a:xfrm>
          <a:prstGeom prst="roundRect">
            <a:avLst>
              <a:gd name="adj" fmla="val 6000"/>
            </a:avLst>
          </a:prstGeom>
          <a:noFill/>
          <a:ln>
            <a:noFill/>
          </a:ln>
        </p:spPr>
        <p:txBody>
          <a:bodyPr wrap="square" lIns="0" tIns="0" rIns="0" bIns="0" rtlCol="0" anchor="ctr">
            <a:normAutofit/>
          </a:bodyPr>
          <a:lstStyle/>
          <a:p>
            <a:pPr marL="0" indent="0" algn="l">
              <a:buNone/>
            </a:pPr>
            <a:r>
              <a:rPr lang="tr-TR" sz="1000" b="1" dirty="0">
                <a:solidFill>
                  <a:srgbClr val="0B2A55"/>
                </a:solidFill>
                <a:latin typeface="Calibri"/>
                <a:ea typeface="Calibri"/>
                <a:cs typeface="Calibri"/>
              </a:rPr>
              <a:t>2 · SORGU  —  her soruda</a:t>
            </a:r>
          </a:p>
        </p:txBody>
      </p:sp>
      <p:sp>
        <p:nvSpPr>
          <p:cNvPr id="505" name="Node Docs"/>
          <p:cNvSpPr/>
          <p:nvPr/>
        </p:nvSpPr>
        <p:spPr>
          <a:xfrm>
            <a:off x="777240" y="2103120"/>
            <a:ext cx="1828800" cy="1024128"/>
          </a:xfrm>
          <a:prstGeom prst="roundRect">
            <a:avLst>
              <a:gd name="adj" fmla="val 6000"/>
            </a:avLst>
          </a:prstGeom>
          <a:solidFill>
            <a:srgbClr val="E8F1FB"/>
          </a:solidFill>
          <a:ln>
            <a:noFill/>
          </a:ln>
        </p:spPr>
        <p:txBody>
          <a:bodyPr wrap="square" lIns="109728" tIns="109728" rIns="109728" bIns="109728" rtlCol="0" anchor="t">
            <a:normAutofit/>
          </a:bodyPr>
          <a:lstStyle/>
          <a:p>
            <a:pPr marL="0" indent="0" algn="l">
              <a:spcAft>
                <a:spcPts val="300"/>
              </a:spcAft>
              <a:buNone/>
            </a:pPr>
            <a:r>
              <a:rPr lang="tr-TR" sz="1400" b="1" dirty="0">
                <a:solidFill>
                  <a:srgbClr val="0B2A55"/>
                </a:solidFill>
                <a:latin typeface="Calibri"/>
                <a:ea typeface="Calibri"/>
                <a:cs typeface="Calibri"/>
              </a:rPr>
              <a:t>Belgeler</a:t>
            </a:r>
          </a:p>
          <a:p>
            <a:pPr marL="0" indent="0" algn="l">
              <a:buNone/>
            </a:pPr>
            <a:r>
              <a:rPr lang="tr-TR" sz="1100" dirty="0">
                <a:solidFill>
                  <a:srgbClr val="3C4B63"/>
                </a:solidFill>
                <a:latin typeface="Calibri"/>
                <a:ea typeface="Calibri"/>
                <a:cs typeface="Calibri"/>
              </a:rPr>
              <a:t>PDF, Word, Excel, MD; dosya başına en fazla 10 MB</a:t>
            </a:r>
          </a:p>
        </p:txBody>
      </p:sp>
      <p:sp>
        <p:nvSpPr>
          <p:cNvPr id="506" name="Node Chunk"/>
          <p:cNvSpPr/>
          <p:nvPr/>
        </p:nvSpPr>
        <p:spPr>
          <a:xfrm>
            <a:off x="2990088" y="2103120"/>
            <a:ext cx="1828800" cy="1024128"/>
          </a:xfrm>
          <a:prstGeom prst="roundRect">
            <a:avLst>
              <a:gd name="adj" fmla="val 6000"/>
            </a:avLst>
          </a:prstGeom>
          <a:solidFill>
            <a:srgbClr val="E8F1FB"/>
          </a:solidFill>
          <a:ln>
            <a:noFill/>
          </a:ln>
        </p:spPr>
        <p:txBody>
          <a:bodyPr wrap="square" lIns="109728" tIns="109728" rIns="109728" bIns="109728" rtlCol="0" anchor="t">
            <a:normAutofit/>
          </a:bodyPr>
          <a:lstStyle/>
          <a:p>
            <a:pPr marL="0" indent="0" algn="l">
              <a:spcAft>
                <a:spcPts val="300"/>
              </a:spcAft>
              <a:buNone/>
            </a:pPr>
            <a:r>
              <a:rPr lang="tr-TR" sz="1400" b="1" dirty="0">
                <a:solidFill>
                  <a:srgbClr val="0B2A55"/>
                </a:solidFill>
                <a:latin typeface="Calibri"/>
                <a:ea typeface="Calibri"/>
                <a:cs typeface="Calibri"/>
              </a:rPr>
              <a:t>Parçalama</a:t>
            </a:r>
          </a:p>
          <a:p>
            <a:pPr marL="0" indent="0" algn="l">
              <a:buNone/>
            </a:pPr>
            <a:r>
              <a:rPr lang="tr-TR" sz="1100" dirty="0">
                <a:solidFill>
                  <a:srgbClr val="3C4B63"/>
                </a:solidFill>
                <a:latin typeface="Calibri"/>
                <a:ea typeface="Calibri"/>
                <a:cs typeface="Calibri"/>
              </a:rPr>
              <a:t>800 karakterlik parçalar, 100 karakter örtüşme</a:t>
            </a:r>
          </a:p>
        </p:txBody>
      </p:sp>
      <p:sp>
        <p:nvSpPr>
          <p:cNvPr id="507" name="Node IDB"/>
          <p:cNvSpPr/>
          <p:nvPr/>
        </p:nvSpPr>
        <p:spPr>
          <a:xfrm>
            <a:off x="5202936" y="2103120"/>
            <a:ext cx="1828800" cy="1024128"/>
          </a:xfrm>
          <a:prstGeom prst="roundRect">
            <a:avLst>
              <a:gd name="adj" fmla="val 6000"/>
            </a:avLst>
          </a:prstGeom>
          <a:solidFill>
            <a:srgbClr val="E8F1FB"/>
          </a:solidFill>
          <a:ln>
            <a:noFill/>
          </a:ln>
        </p:spPr>
        <p:txBody>
          <a:bodyPr wrap="square" lIns="109728" tIns="109728" rIns="109728" bIns="109728" rtlCol="0" anchor="t">
            <a:normAutofit/>
          </a:bodyPr>
          <a:lstStyle/>
          <a:p>
            <a:pPr marL="0" indent="0" algn="l">
              <a:spcAft>
                <a:spcPts val="300"/>
              </a:spcAft>
              <a:buNone/>
            </a:pPr>
            <a:r>
              <a:rPr lang="tr-TR" sz="1400" b="1" dirty="0">
                <a:solidFill>
                  <a:srgbClr val="0B2A55"/>
                </a:solidFill>
                <a:latin typeface="Calibri"/>
                <a:ea typeface="Calibri"/>
                <a:cs typeface="Calibri"/>
              </a:rPr>
              <a:t>IndexedDB</a:t>
            </a:r>
          </a:p>
          <a:p>
            <a:pPr marL="0" indent="0" algn="l">
              <a:buNone/>
            </a:pPr>
            <a:r>
              <a:rPr lang="tr-TR" sz="1100" dirty="0">
                <a:solidFill>
                  <a:srgbClr val="3C4B63"/>
                </a:solidFill>
                <a:latin typeface="Calibri"/>
                <a:ea typeface="Calibri"/>
                <a:cs typeface="Calibri"/>
              </a:rPr>
              <a:t>Parçalar tarayıcıda, yalnızca bu cihazda saklanır</a:t>
            </a:r>
          </a:p>
        </p:txBody>
      </p:sp>
      <p:sp>
        <p:nvSpPr>
          <p:cNvPr id="508" name="Node Answer"/>
          <p:cNvSpPr/>
          <p:nvPr/>
        </p:nvSpPr>
        <p:spPr>
          <a:xfrm>
            <a:off x="7415784" y="2103120"/>
            <a:ext cx="1828800" cy="1024128"/>
          </a:xfrm>
          <a:prstGeom prst="roundRect">
            <a:avLst>
              <a:gd name="adj" fmla="val 6000"/>
            </a:avLst>
          </a:prstGeom>
          <a:solidFill>
            <a:srgbClr val="0062B8"/>
          </a:solidFill>
          <a:ln>
            <a:noFill/>
          </a:ln>
        </p:spPr>
        <p:txBody>
          <a:bodyPr wrap="square" lIns="109728" tIns="109728" rIns="109728" bIns="109728" rtlCol="0" anchor="t">
            <a:normAutofit/>
          </a:bodyPr>
          <a:lstStyle/>
          <a:p>
            <a:pPr marL="0" indent="0" algn="l">
              <a:spcAft>
                <a:spcPts val="300"/>
              </a:spcAft>
              <a:buNone/>
            </a:pPr>
            <a:r>
              <a:rPr lang="tr-TR" sz="1400" b="1" dirty="0">
                <a:solidFill>
                  <a:srgbClr val="FFFFFF"/>
                </a:solidFill>
                <a:latin typeface="Calibri"/>
                <a:ea typeface="Calibri"/>
                <a:cs typeface="Calibri"/>
              </a:rPr>
              <a:t>Kaynaklı Yanıt</a:t>
            </a:r>
          </a:p>
          <a:p>
            <a:pPr marL="0" indent="0" algn="l">
              <a:buNone/>
            </a:pPr>
            <a:r>
              <a:rPr lang="tr-TR" sz="1100" dirty="0">
                <a:solidFill>
                  <a:srgbClr val="EAF3FD"/>
                </a:solidFill>
                <a:latin typeface="Calibri"/>
                <a:ea typeface="Calibri"/>
                <a:cs typeface="Calibri"/>
              </a:rPr>
              <a:t>Model, [Kaynak N: dosya] etiketiyle kaynağını gösterir</a:t>
            </a:r>
          </a:p>
        </p:txBody>
      </p:sp>
      <p:sp>
        <p:nvSpPr>
          <p:cNvPr id="509" name="Node Query"/>
          <p:cNvSpPr/>
          <p:nvPr/>
        </p:nvSpPr>
        <p:spPr>
          <a:xfrm>
            <a:off x="777240" y="3520440"/>
            <a:ext cx="1828800" cy="1024128"/>
          </a:xfrm>
          <a:prstGeom prst="roundRect">
            <a:avLst>
              <a:gd name="adj" fmla="val 6000"/>
            </a:avLst>
          </a:prstGeom>
          <a:solidFill>
            <a:srgbClr val="E8F1FB"/>
          </a:solidFill>
          <a:ln>
            <a:noFill/>
          </a:ln>
        </p:spPr>
        <p:txBody>
          <a:bodyPr wrap="square" lIns="109728" tIns="109728" rIns="109728" bIns="109728" rtlCol="0" anchor="t">
            <a:normAutofit/>
          </a:bodyPr>
          <a:lstStyle/>
          <a:p>
            <a:pPr marL="0" indent="0" algn="l">
              <a:spcAft>
                <a:spcPts val="300"/>
              </a:spcAft>
              <a:buNone/>
            </a:pPr>
            <a:r>
              <a:rPr lang="tr-TR" sz="1400" b="1" dirty="0">
                <a:solidFill>
                  <a:srgbClr val="0B2A55"/>
                </a:solidFill>
                <a:latin typeface="Calibri"/>
                <a:ea typeface="Calibri"/>
                <a:cs typeface="Calibri"/>
              </a:rPr>
              <a:t>Kullanıcı Sorusu</a:t>
            </a:r>
          </a:p>
          <a:p>
            <a:pPr marL="0" indent="0" algn="l">
              <a:buNone/>
            </a:pPr>
            <a:r>
              <a:rPr lang="tr-TR" sz="1100" dirty="0">
                <a:solidFill>
                  <a:srgbClr val="3C4B63"/>
                </a:solidFill>
                <a:latin typeface="Calibri"/>
                <a:ea typeface="Calibri"/>
                <a:cs typeface="Calibri"/>
              </a:rPr>
              <a:t>Sohbete yazılan soru</a:t>
            </a:r>
          </a:p>
        </p:txBody>
      </p:sp>
      <p:sp>
        <p:nvSpPr>
          <p:cNvPr id="510" name="Node Stem"/>
          <p:cNvSpPr/>
          <p:nvPr/>
        </p:nvSpPr>
        <p:spPr>
          <a:xfrm>
            <a:off x="2990088" y="3520440"/>
            <a:ext cx="1828800" cy="1024128"/>
          </a:xfrm>
          <a:prstGeom prst="roundRect">
            <a:avLst>
              <a:gd name="adj" fmla="val 6000"/>
            </a:avLst>
          </a:prstGeom>
          <a:solidFill>
            <a:srgbClr val="E8F1FB"/>
          </a:solidFill>
          <a:ln>
            <a:noFill/>
          </a:ln>
        </p:spPr>
        <p:txBody>
          <a:bodyPr wrap="square" lIns="109728" tIns="109728" rIns="109728" bIns="109728" rtlCol="0" anchor="t">
            <a:normAutofit/>
          </a:bodyPr>
          <a:lstStyle/>
          <a:p>
            <a:pPr marL="0" indent="0" algn="l">
              <a:spcAft>
                <a:spcPts val="300"/>
              </a:spcAft>
              <a:buNone/>
            </a:pPr>
            <a:r>
              <a:rPr lang="tr-TR" sz="1400" b="1" dirty="0">
                <a:solidFill>
                  <a:srgbClr val="0B2A55"/>
                </a:solidFill>
                <a:latin typeface="Calibri"/>
                <a:ea typeface="Calibri"/>
                <a:cs typeface="Calibri"/>
              </a:rPr>
              <a:t>Türkçe Kök Bulucu</a:t>
            </a:r>
          </a:p>
          <a:p>
            <a:pPr marL="0" indent="0" algn="l">
              <a:buNone/>
            </a:pPr>
            <a:r>
              <a:rPr lang="tr-TR" sz="1100" dirty="0">
                <a:solidFill>
                  <a:srgbClr val="3C4B63"/>
                </a:solidFill>
                <a:latin typeface="Calibri"/>
                <a:ea typeface="Calibri"/>
                <a:cs typeface="Calibri"/>
              </a:rPr>
              <a:t>4 harfli kök kırpma: “kredileri” → “kred”</a:t>
            </a:r>
          </a:p>
        </p:txBody>
      </p:sp>
      <p:sp>
        <p:nvSpPr>
          <p:cNvPr id="511" name="Node BM25"/>
          <p:cNvSpPr/>
          <p:nvPr/>
        </p:nvSpPr>
        <p:spPr>
          <a:xfrm>
            <a:off x="5202936" y="3520440"/>
            <a:ext cx="1828800" cy="1024128"/>
          </a:xfrm>
          <a:prstGeom prst="roundRect">
            <a:avLst>
              <a:gd name="adj" fmla="val 6000"/>
            </a:avLst>
          </a:prstGeom>
          <a:solidFill>
            <a:srgbClr val="E8F1FB"/>
          </a:solidFill>
          <a:ln>
            <a:noFill/>
          </a:ln>
        </p:spPr>
        <p:txBody>
          <a:bodyPr wrap="square" lIns="109728" tIns="109728" rIns="109728" bIns="109728" rtlCol="0" anchor="t">
            <a:normAutofit/>
          </a:bodyPr>
          <a:lstStyle/>
          <a:p>
            <a:pPr marL="0" indent="0" algn="l">
              <a:spcAft>
                <a:spcPts val="300"/>
              </a:spcAft>
              <a:buNone/>
            </a:pPr>
            <a:r>
              <a:rPr lang="tr-TR" sz="1400" b="1" dirty="0">
                <a:solidFill>
                  <a:srgbClr val="0B2A55"/>
                </a:solidFill>
                <a:latin typeface="Calibri"/>
                <a:ea typeface="Calibri"/>
                <a:cs typeface="Calibri"/>
              </a:rPr>
              <a:t>BM25 Skorlama</a:t>
            </a:r>
          </a:p>
          <a:p>
            <a:pPr marL="0" indent="0" algn="l">
              <a:buNone/>
            </a:pPr>
            <a:r>
              <a:rPr lang="tr-TR" sz="1100" dirty="0">
                <a:solidFill>
                  <a:srgbClr val="3C4B63"/>
                </a:solidFill>
                <a:latin typeface="Calibri"/>
                <a:ea typeface="Calibri"/>
                <a:cs typeface="Calibri"/>
              </a:rPr>
              <a:t>Okapi BM25 ile tüm parçalar puanlanır</a:t>
            </a:r>
          </a:p>
        </p:txBody>
      </p:sp>
      <p:sp>
        <p:nvSpPr>
          <p:cNvPr id="512" name="Node Top8"/>
          <p:cNvSpPr/>
          <p:nvPr/>
        </p:nvSpPr>
        <p:spPr>
          <a:xfrm>
            <a:off x="7415784" y="3520440"/>
            <a:ext cx="1828800" cy="1024128"/>
          </a:xfrm>
          <a:prstGeom prst="roundRect">
            <a:avLst>
              <a:gd name="adj" fmla="val 6000"/>
            </a:avLst>
          </a:prstGeom>
          <a:solidFill>
            <a:srgbClr val="E8F1FB"/>
          </a:solidFill>
          <a:ln>
            <a:noFill/>
          </a:ln>
        </p:spPr>
        <p:txBody>
          <a:bodyPr wrap="square" lIns="109728" tIns="109728" rIns="109728" bIns="109728" rtlCol="0" anchor="t">
            <a:normAutofit/>
          </a:bodyPr>
          <a:lstStyle/>
          <a:p>
            <a:pPr marL="0" indent="0" algn="l">
              <a:spcAft>
                <a:spcPts val="300"/>
              </a:spcAft>
              <a:buNone/>
            </a:pPr>
            <a:r>
              <a:rPr lang="tr-TR" sz="1400" b="1" dirty="0">
                <a:solidFill>
                  <a:srgbClr val="0B2A55"/>
                </a:solidFill>
                <a:latin typeface="Calibri"/>
                <a:ea typeface="Calibri"/>
                <a:cs typeface="Calibri"/>
              </a:rPr>
              <a:t>En Alakalı 8 Parça</a:t>
            </a:r>
          </a:p>
          <a:p>
            <a:pPr marL="0" indent="0" algn="l">
              <a:buNone/>
            </a:pPr>
            <a:r>
              <a:rPr lang="tr-TR" sz="1100" dirty="0">
                <a:solidFill>
                  <a:srgbClr val="3C4B63"/>
                </a:solidFill>
                <a:latin typeface="Calibri"/>
                <a:ea typeface="Calibri"/>
                <a:cs typeface="Calibri"/>
              </a:rPr>
              <a:t>Skoru en yüksek parçalar bağlam olur</a:t>
            </a:r>
          </a:p>
        </p:txBody>
      </p:sp>
      <p:sp>
        <p:nvSpPr>
          <p:cNvPr id="513" name="Node Model"/>
          <p:cNvSpPr/>
          <p:nvPr/>
        </p:nvSpPr>
        <p:spPr>
          <a:xfrm>
            <a:off x="9802368" y="2103120"/>
            <a:ext cx="1828800" cy="2441448"/>
          </a:xfrm>
          <a:prstGeom prst="roundRect">
            <a:avLst>
              <a:gd name="adj" fmla="val 6000"/>
            </a:avLst>
          </a:prstGeom>
          <a:solidFill>
            <a:srgbClr val="0B2A55"/>
          </a:solidFill>
          <a:ln>
            <a:noFill/>
          </a:ln>
        </p:spPr>
        <p:txBody>
          <a:bodyPr wrap="square" lIns="109728" tIns="109728" rIns="109728" bIns="109728" rtlCol="0" anchor="ctr">
            <a:normAutofit/>
          </a:bodyPr>
          <a:lstStyle/>
          <a:p>
            <a:pPr marL="0" indent="0" algn="l">
              <a:spcAft>
                <a:spcPts val="200"/>
              </a:spcAft>
              <a:buNone/>
            </a:pPr>
            <a:r>
              <a:rPr lang="tr-TR" sz="1000" b="1" dirty="0">
                <a:solidFill>
                  <a:srgbClr val="CFE3F7"/>
                </a:solidFill>
                <a:latin typeface="Calibri"/>
                <a:ea typeface="Calibri"/>
                <a:cs typeface="Calibri"/>
              </a:rPr>
              <a:t>TARAYICI DIŞI</a:t>
            </a:r>
          </a:p>
          <a:p>
            <a:pPr marL="0" indent="0" algn="l">
              <a:spcAft>
                <a:spcPts val="300"/>
              </a:spcAft>
              <a:buNone/>
            </a:pPr>
            <a:r>
              <a:rPr lang="tr-TR" sz="1400" b="1" dirty="0">
                <a:solidFill>
                  <a:srgbClr val="FFFFFF"/>
                </a:solidFill>
                <a:latin typeface="Calibri"/>
                <a:ea typeface="Calibri"/>
                <a:cs typeface="Calibri"/>
              </a:rPr>
              <a:t>Yapay Zeka Modeli</a:t>
            </a:r>
          </a:p>
          <a:p>
            <a:pPr marL="0" indent="0" algn="l">
              <a:buNone/>
            </a:pPr>
            <a:r>
              <a:rPr lang="tr-TR" sz="1100" dirty="0">
                <a:solidFill>
                  <a:srgbClr val="EAF3FD"/>
                </a:solidFill>
                <a:latin typeface="Calibri"/>
                <a:ea typeface="Calibri"/>
                <a:cs typeface="Calibri"/>
              </a:rPr>
              <a:t>Soru ve seçilen 8 parça bağlam olarak verilir; model yanıtı bu parçalara dayanarak üretir.</a:t>
            </a:r>
          </a:p>
        </p:txBody>
      </p:sp>
      <p:cxnSp>
        <p:nvCxnSpPr>
          <p:cNvPr id="514" name="Arrow L1-0"/>
          <p:cNvCxnSpPr/>
          <p:nvPr/>
        </p:nvCxnSpPr>
        <p:spPr>
          <a:xfrm>
            <a:off x="2651760" y="2615184"/>
            <a:ext cx="292608" cy="0"/>
          </a:xfrm>
          <a:prstGeom prst="straightConnector1">
            <a:avLst/>
          </a:prstGeom>
          <a:ln w="22225">
            <a:solidFill>
              <a:srgbClr val="0062B8"/>
            </a:solidFill>
            <a:tailEnd type="triangle" w="med" len="med"/>
          </a:ln>
        </p:spPr>
      </p:cxnSp>
      <p:cxnSp>
        <p:nvCxnSpPr>
          <p:cNvPr id="515" name="Arrow L1-1"/>
          <p:cNvCxnSpPr/>
          <p:nvPr/>
        </p:nvCxnSpPr>
        <p:spPr>
          <a:xfrm>
            <a:off x="4864608" y="2615184"/>
            <a:ext cx="292608" cy="0"/>
          </a:xfrm>
          <a:prstGeom prst="straightConnector1">
            <a:avLst/>
          </a:prstGeom>
          <a:ln w="22225">
            <a:solidFill>
              <a:srgbClr val="0062B8"/>
            </a:solidFill>
            <a:tailEnd type="triangle" w="med" len="med"/>
          </a:ln>
        </p:spPr>
      </p:cxnSp>
      <p:cxnSp>
        <p:nvCxnSpPr>
          <p:cNvPr id="516" name="Arrow L2-0"/>
          <p:cNvCxnSpPr/>
          <p:nvPr/>
        </p:nvCxnSpPr>
        <p:spPr>
          <a:xfrm>
            <a:off x="2651760" y="4032504"/>
            <a:ext cx="292608" cy="0"/>
          </a:xfrm>
          <a:prstGeom prst="straightConnector1">
            <a:avLst/>
          </a:prstGeom>
          <a:ln w="22225">
            <a:solidFill>
              <a:srgbClr val="0062B8"/>
            </a:solidFill>
            <a:tailEnd type="triangle" w="med" len="med"/>
          </a:ln>
        </p:spPr>
      </p:cxnSp>
      <p:cxnSp>
        <p:nvCxnSpPr>
          <p:cNvPr id="517" name="Arrow L2-1"/>
          <p:cNvCxnSpPr/>
          <p:nvPr/>
        </p:nvCxnSpPr>
        <p:spPr>
          <a:xfrm>
            <a:off x="4864608" y="4032504"/>
            <a:ext cx="292608" cy="0"/>
          </a:xfrm>
          <a:prstGeom prst="straightConnector1">
            <a:avLst/>
          </a:prstGeom>
          <a:ln w="22225">
            <a:solidFill>
              <a:srgbClr val="0062B8"/>
            </a:solidFill>
            <a:tailEnd type="triangle" w="med" len="med"/>
          </a:ln>
        </p:spPr>
      </p:cxnSp>
      <p:cxnSp>
        <p:nvCxnSpPr>
          <p:cNvPr id="518" name="Arrow L2-2"/>
          <p:cNvCxnSpPr/>
          <p:nvPr/>
        </p:nvCxnSpPr>
        <p:spPr>
          <a:xfrm>
            <a:off x="7077456" y="4032504"/>
            <a:ext cx="292608" cy="0"/>
          </a:xfrm>
          <a:prstGeom prst="straightConnector1">
            <a:avLst/>
          </a:prstGeom>
          <a:ln w="22225">
            <a:solidFill>
              <a:srgbClr val="0062B8"/>
            </a:solidFill>
            <a:tailEnd type="triangle" w="med" len="med"/>
          </a:ln>
        </p:spPr>
      </p:cxnSp>
      <p:cxnSp>
        <p:nvCxnSpPr>
          <p:cNvPr id="519" name="Arrow IDB-BM25"/>
          <p:cNvCxnSpPr/>
          <p:nvPr/>
        </p:nvCxnSpPr>
        <p:spPr>
          <a:xfrm>
            <a:off x="6117336" y="3172968"/>
            <a:ext cx="0" cy="301752"/>
          </a:xfrm>
          <a:prstGeom prst="straightConnector1">
            <a:avLst/>
          </a:prstGeom>
          <a:ln w="22225">
            <a:solidFill>
              <a:srgbClr val="0062B8"/>
            </a:solidFill>
            <a:tailEnd type="triangle" w="med" len="med"/>
          </a:ln>
        </p:spPr>
      </p:cxnSp>
      <p:cxnSp>
        <p:nvCxnSpPr>
          <p:cNvPr id="520" name="Arrow Top8-Model"/>
          <p:cNvCxnSpPr/>
          <p:nvPr/>
        </p:nvCxnSpPr>
        <p:spPr>
          <a:xfrm>
            <a:off x="9290304" y="4032504"/>
            <a:ext cx="466344" cy="0"/>
          </a:xfrm>
          <a:prstGeom prst="straightConnector1">
            <a:avLst/>
          </a:prstGeom>
          <a:ln w="22225">
            <a:solidFill>
              <a:srgbClr val="0062B8"/>
            </a:solidFill>
            <a:tailEnd type="triangle" w="med" len="med"/>
          </a:ln>
        </p:spPr>
      </p:cxnSp>
      <p:cxnSp>
        <p:nvCxnSpPr>
          <p:cNvPr id="521" name="Arrow Model-Answer"/>
          <p:cNvCxnSpPr/>
          <p:nvPr/>
        </p:nvCxnSpPr>
        <p:spPr>
          <a:xfrm flipH="1">
            <a:off x="9290304" y="2615184"/>
            <a:ext cx="466344" cy="0"/>
          </a:xfrm>
          <a:prstGeom prst="straightConnector1">
            <a:avLst/>
          </a:prstGeom>
          <a:ln w="22225">
            <a:solidFill>
              <a:srgbClr val="0062B8"/>
            </a:solidFill>
            <a:tailEnd type="triangle" w="med" len="med"/>
          </a:ln>
        </p:spPr>
      </p:cxnSp>
      <p:sp>
        <p:nvSpPr>
          <p:cNvPr id="522" name="Tradeoff Card"/>
          <p:cNvSpPr/>
          <p:nvPr/>
        </p:nvSpPr>
        <p:spPr>
          <a:xfrm>
            <a:off x="548640" y="4864608"/>
            <a:ext cx="5349240" cy="1115568"/>
          </a:xfrm>
          <a:prstGeom prst="roundRect">
            <a:avLst>
              <a:gd name="adj" fmla="val 6000"/>
            </a:avLst>
          </a:prstGeom>
          <a:solidFill>
            <a:srgbClr val="E8F1FB"/>
          </a:solidFill>
          <a:ln>
            <a:noFill/>
          </a:ln>
        </p:spPr>
        <p:txBody>
          <a:bodyPr wrap="square" lIns="137160" tIns="137160" rIns="137160" bIns="137160" rtlCol="0" anchor="t">
            <a:normAutofit/>
          </a:bodyPr>
          <a:lstStyle/>
          <a:p>
            <a:pPr marL="0" indent="0" algn="l">
              <a:spcAft>
                <a:spcPts val="200"/>
              </a:spcAft>
              <a:buNone/>
            </a:pPr>
            <a:r>
              <a:rPr lang="tr-TR" sz="1000" b="1" dirty="0">
                <a:solidFill>
                  <a:srgbClr val="0062B8"/>
                </a:solidFill>
                <a:latin typeface="Calibri"/>
                <a:ea typeface="Calibri"/>
                <a:cs typeface="Calibri"/>
              </a:rPr>
              <a:t>MİMARİ KISIT (TRADE-OFF)</a:t>
            </a:r>
          </a:p>
          <a:p>
            <a:pPr marL="0" indent="0" algn="l">
              <a:spcAft>
                <a:spcPts val="200"/>
              </a:spcAft>
              <a:buNone/>
            </a:pPr>
            <a:r>
              <a:rPr lang="tr-TR" sz="1300" b="1" dirty="0">
                <a:solidFill>
                  <a:srgbClr val="0B2A55"/>
                </a:solidFill>
                <a:latin typeface="Calibri"/>
                <a:ea typeface="Calibri"/>
                <a:cs typeface="Calibri"/>
              </a:rPr>
              <a:t>Tarayıcı sınırları ve donanım yükü</a:t>
            </a:r>
          </a:p>
          <a:p>
            <a:pPr marL="0" indent="0" algn="l">
              <a:buNone/>
            </a:pPr>
            <a:r>
              <a:rPr lang="tr-TR" sz="1100" dirty="0">
                <a:solidFill>
                  <a:srgbClr val="3C4B63"/>
                </a:solidFill>
                <a:latin typeface="Calibri"/>
                <a:ea typeface="Calibri"/>
                <a:cs typeface="Calibri"/>
              </a:rPr>
              <a:t>Harici sunucu kullanmama kararı: depolama kotası var, veri yalnızca yüklendiği cihazda kalır.</a:t>
            </a:r>
          </a:p>
        </p:txBody>
      </p:sp>
      <p:cxnSp>
        <p:nvCxnSpPr>
          <p:cNvPr id="523" name="Arrow Tradeoff"/>
          <p:cNvCxnSpPr/>
          <p:nvPr/>
        </p:nvCxnSpPr>
        <p:spPr>
          <a:xfrm>
            <a:off x="5943600" y="5422392"/>
            <a:ext cx="301752" cy="0"/>
          </a:xfrm>
          <a:prstGeom prst="straightConnector1">
            <a:avLst/>
          </a:prstGeom>
          <a:ln w="22225">
            <a:solidFill>
              <a:srgbClr val="0062B8"/>
            </a:solidFill>
            <a:tailEnd type="triangle" w="med" len="med"/>
          </a:ln>
        </p:spPr>
      </p:cxnSp>
      <p:sp>
        <p:nvSpPr>
          <p:cNvPr id="524" name="Solution Card"/>
          <p:cNvSpPr/>
          <p:nvPr/>
        </p:nvSpPr>
        <p:spPr>
          <a:xfrm>
            <a:off x="6291072" y="4864608"/>
            <a:ext cx="5349240" cy="1115568"/>
          </a:xfrm>
          <a:prstGeom prst="roundRect">
            <a:avLst>
              <a:gd name="adj" fmla="val 6000"/>
            </a:avLst>
          </a:prstGeom>
          <a:solidFill>
            <a:srgbClr val="0B2A55"/>
          </a:solidFill>
          <a:ln>
            <a:noFill/>
          </a:ln>
        </p:spPr>
        <p:txBody>
          <a:bodyPr wrap="square" lIns="137160" tIns="137160" rIns="137160" bIns="137160" rtlCol="0" anchor="t">
            <a:normAutofit/>
          </a:bodyPr>
          <a:lstStyle/>
          <a:p>
            <a:pPr marL="0" indent="0" algn="l">
              <a:spcAft>
                <a:spcPts val="200"/>
              </a:spcAft>
              <a:buNone/>
            </a:pPr>
            <a:r>
              <a:rPr lang="tr-TR" sz="1000" b="1" dirty="0">
                <a:solidFill>
                  <a:srgbClr val="CFE3F7"/>
                </a:solidFill>
                <a:latin typeface="Calibri"/>
                <a:ea typeface="Calibri"/>
                <a:cs typeface="Calibri"/>
              </a:rPr>
              <a:t>UYGULANAN ÇÖZÜM</a:t>
            </a:r>
          </a:p>
          <a:p>
            <a:pPr marL="0" indent="0" algn="l">
              <a:spcAft>
                <a:spcPts val="200"/>
              </a:spcAft>
              <a:buNone/>
            </a:pPr>
            <a:r>
              <a:rPr lang="tr-TR" sz="1300" b="1" dirty="0">
                <a:solidFill>
                  <a:srgbClr val="FFFFFF"/>
                </a:solidFill>
                <a:latin typeface="Calibri"/>
                <a:ea typeface="Calibri"/>
                <a:cs typeface="Calibri"/>
              </a:rPr>
              <a:t>Boyut sınırları ve JSON yedekleme</a:t>
            </a:r>
          </a:p>
          <a:p>
            <a:pPr marL="0" indent="0" algn="l">
              <a:buNone/>
            </a:pPr>
            <a:r>
              <a:rPr lang="tr-TR" sz="1100" dirty="0">
                <a:solidFill>
                  <a:srgbClr val="EAF3FD"/>
                </a:solidFill>
                <a:latin typeface="Calibri"/>
                <a:ea typeface="Calibri"/>
                <a:cs typeface="Calibri"/>
              </a:rPr>
              <a:t>800 karakter parçalama ve 10 MB sınırıyla hız korundu; JSON yedekleme ile veriler dışa aktarılıp geri yüklenebiliyor.</a:t>
            </a:r>
          </a:p>
        </p:txBody>
      </p:sp>
    </p:spTree>
    <p:extLst>
      <p:ext uri="{BB962C8B-B14F-4D97-AF65-F5344CB8AC3E}">
        <p14:creationId xmlns:p14="http://schemas.microsoft.com/office/powerpoint/2010/main" val="1940540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5F8FC"/>
        </a:solidFill>
        <a:effectLst/>
      </p:bgPr>
    </p:bg>
    <p:spTree>
      <p:nvGrpSpPr>
        <p:cNvPr id="1" name=""/>
        <p:cNvGrpSpPr/>
        <p:nvPr/>
      </p:nvGrpSpPr>
      <p:grpSpPr>
        <a:xfrm>
          <a:off x="0" y="0"/>
          <a:ext cx="0" cy="0"/>
          <a:chOff x="0" y="0"/>
          <a:chExt cx="0" cy="0"/>
        </a:xfrm>
      </p:grpSpPr>
      <p:sp>
        <p:nvSpPr>
          <p:cNvPr id="13" name="Shape 27">
            <a:extLst>
              <a:ext uri="{FF2B5EF4-FFF2-40B4-BE49-F238E27FC236}">
                <a16:creationId xmlns:a16="http://schemas.microsoft.com/office/drawing/2014/main" id="{9DED1880-151C-77C6-B3AE-E29D666226FB}"/>
              </a:ext>
            </a:extLst>
          </p:cNvPr>
          <p:cNvSpPr/>
          <p:nvPr/>
        </p:nvSpPr>
        <p:spPr>
          <a:xfrm>
            <a:off x="5175504" y="1618488"/>
            <a:ext cx="6272784" cy="3931920"/>
          </a:xfrm>
          <a:prstGeom prst="roundRect">
            <a:avLst>
              <a:gd name="adj" fmla="val 2020"/>
            </a:avLst>
          </a:prstGeom>
          <a:solidFill>
            <a:srgbClr val="0A192F"/>
          </a:solidFill>
          <a:ln w="15240">
            <a:solidFill>
              <a:srgbClr val="004B93"/>
            </a:solidFill>
            <a:prstDash val="solid"/>
          </a:ln>
        </p:spPr>
        <p:txBody>
          <a:bodyPr/>
          <a:lstStyle/>
          <a:p>
            <a:endParaRPr lang="tr-TR"/>
          </a:p>
        </p:txBody>
      </p:sp>
      <p:sp>
        <p:nvSpPr>
          <p:cNvPr id="12" name="Shape 27">
            <a:extLst>
              <a:ext uri="{FF2B5EF4-FFF2-40B4-BE49-F238E27FC236}">
                <a16:creationId xmlns:a16="http://schemas.microsoft.com/office/drawing/2014/main" id="{6BB8F53A-251B-0131-CB98-F9AB6ED57458}"/>
              </a:ext>
            </a:extLst>
          </p:cNvPr>
          <p:cNvSpPr/>
          <p:nvPr/>
        </p:nvSpPr>
        <p:spPr>
          <a:xfrm>
            <a:off x="740664" y="1618488"/>
            <a:ext cx="4261104" cy="3931920"/>
          </a:xfrm>
          <a:prstGeom prst="roundRect">
            <a:avLst>
              <a:gd name="adj" fmla="val 2020"/>
            </a:avLst>
          </a:prstGeom>
          <a:solidFill>
            <a:srgbClr val="0A192F"/>
          </a:solidFill>
          <a:ln w="15240">
            <a:solidFill>
              <a:srgbClr val="004B93"/>
            </a:solidFill>
            <a:prstDash val="solid"/>
          </a:ln>
        </p:spPr>
        <p:txBody>
          <a:bodyPr/>
          <a:lstStyle/>
          <a:p>
            <a:endParaRPr lang="tr-TR"/>
          </a:p>
        </p:txBody>
      </p:sp>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07</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813816" y="1691640"/>
            <a:ext cx="4114800" cy="3794760"/>
          </a:xfrm>
          <a:prstGeom prst="roundRect">
            <a:avLst>
              <a:gd name="adj" fmla="val 1928"/>
            </a:avLst>
          </a:prstGeom>
          <a:solidFill>
            <a:srgbClr val="FFFFFF"/>
          </a:solidFill>
          <a:ln w="9525">
            <a:solidFill>
              <a:srgbClr val="D5E2F1"/>
            </a:solidFill>
            <a:prstDash val="solid"/>
          </a:ln>
        </p:spPr>
        <p:txBody>
          <a:bodyPr/>
          <a:lstStyle/>
          <a:p>
            <a:endParaRPr lang="tr-TR"/>
          </a:p>
        </p:txBody>
      </p:sp>
      <p:pic>
        <p:nvPicPr>
          <p:cNvPr id="7" name="Image 0" descr="Bilgi Tabanı (RAG) penceresi"/>
          <p:cNvPicPr>
            <a:picLocks noChangeAspect="1"/>
          </p:cNvPicPr>
          <p:nvPr/>
        </p:nvPicPr>
        <p:blipFill>
          <a:blip r:embed="rId3"/>
          <a:stretch>
            <a:fillRect/>
          </a:stretch>
        </p:blipFill>
        <p:spPr>
          <a:xfrm>
            <a:off x="905256" y="2002536"/>
            <a:ext cx="3931920" cy="3172968"/>
          </a:xfrm>
          <a:prstGeom prst="rect">
            <a:avLst/>
          </a:prstGeom>
        </p:spPr>
      </p:pic>
      <p:sp>
        <p:nvSpPr>
          <p:cNvPr id="8" name="Text 5"/>
          <p:cNvSpPr/>
          <p:nvPr/>
        </p:nvSpPr>
        <p:spPr>
          <a:xfrm>
            <a:off x="813816" y="5623560"/>
            <a:ext cx="4114800" cy="274320"/>
          </a:xfrm>
          <a:prstGeom prst="rect">
            <a:avLst/>
          </a:prstGeom>
          <a:noFill/>
          <a:ln/>
        </p:spPr>
        <p:txBody>
          <a:bodyPr wrap="square" lIns="0" tIns="0" rIns="0" bIns="0" rtlCol="0" anchor="ctr"/>
          <a:lstStyle/>
          <a:p>
            <a:pPr marL="0" indent="0">
              <a:buNone/>
            </a:pPr>
            <a:r>
              <a:rPr lang="en-US" sz="1350" b="1" dirty="0">
                <a:solidFill>
                  <a:srgbClr val="0B2A55"/>
                </a:solidFill>
                <a:latin typeface="Calibri"/>
                <a:ea typeface="Calibri"/>
                <a:cs typeface="Calibri"/>
              </a:rPr>
              <a:t>1 · İndeksleme: belgeler parçalanıp tarayıcıda saklanır</a:t>
            </a:r>
            <a:endParaRPr lang="en-US" sz="1350" dirty="0"/>
          </a:p>
        </p:txBody>
      </p:sp>
      <p:sp>
        <p:nvSpPr>
          <p:cNvPr id="9" name="Shape 6"/>
          <p:cNvSpPr/>
          <p:nvPr/>
        </p:nvSpPr>
        <p:spPr>
          <a:xfrm>
            <a:off x="5248656" y="1691640"/>
            <a:ext cx="6126480" cy="3794760"/>
          </a:xfrm>
          <a:prstGeom prst="roundRect">
            <a:avLst>
              <a:gd name="adj" fmla="val 1928"/>
            </a:avLst>
          </a:prstGeom>
          <a:solidFill>
            <a:srgbClr val="FFFFFF"/>
          </a:solidFill>
          <a:ln w="9525">
            <a:solidFill>
              <a:srgbClr val="D5E2F1"/>
            </a:solidFill>
            <a:prstDash val="solid"/>
          </a:ln>
        </p:spPr>
        <p:txBody>
          <a:bodyPr/>
          <a:lstStyle/>
          <a:p>
            <a:endParaRPr lang="tr-TR"/>
          </a:p>
        </p:txBody>
      </p:sp>
      <p:pic>
        <p:nvPicPr>
          <p:cNvPr id="10" name="Image 1" descr="Kaynak gösteren yanıt"/>
          <p:cNvPicPr>
            <a:picLocks noChangeAspect="1"/>
          </p:cNvPicPr>
          <p:nvPr/>
        </p:nvPicPr>
        <p:blipFill>
          <a:blip r:embed="rId4"/>
          <a:stretch>
            <a:fillRect/>
          </a:stretch>
        </p:blipFill>
        <p:spPr>
          <a:xfrm>
            <a:off x="5340096" y="1993392"/>
            <a:ext cx="5943600" cy="3191256"/>
          </a:xfrm>
          <a:prstGeom prst="rect">
            <a:avLst/>
          </a:prstGeom>
        </p:spPr>
      </p:pic>
      <p:sp>
        <p:nvSpPr>
          <p:cNvPr id="11" name="Text 7"/>
          <p:cNvSpPr/>
          <p:nvPr/>
        </p:nvSpPr>
        <p:spPr>
          <a:xfrm>
            <a:off x="5248656" y="5623560"/>
            <a:ext cx="6126480" cy="274320"/>
          </a:xfrm>
          <a:prstGeom prst="rect">
            <a:avLst/>
          </a:prstGeom>
          <a:noFill/>
          <a:ln/>
        </p:spPr>
        <p:txBody>
          <a:bodyPr wrap="square" lIns="0" tIns="0" rIns="0" bIns="0" rtlCol="0" anchor="ctr"/>
          <a:lstStyle/>
          <a:p>
            <a:pPr marL="0" indent="0">
              <a:buNone/>
            </a:pPr>
            <a:r>
              <a:rPr lang="en-US" sz="1350" b="1" dirty="0">
                <a:solidFill>
                  <a:srgbClr val="0B2A55"/>
                </a:solidFill>
                <a:latin typeface="Calibri"/>
                <a:ea typeface="Calibri"/>
                <a:cs typeface="Calibri"/>
              </a:rPr>
              <a:t>2 · Sorgu: BM25’in seçtiği parçalarla kaynak gösteren yanıt</a:t>
            </a:r>
            <a:endParaRPr lang="en-US" sz="1350" dirty="0"/>
          </a:p>
        </p:txBody>
      </p:sp>
      <p:sp>
        <p:nvSpPr>
          <p:cNvPr id="15" name="Shape 0">
            <a:extLst>
              <a:ext uri="{FF2B5EF4-FFF2-40B4-BE49-F238E27FC236}">
                <a16:creationId xmlns:a16="http://schemas.microsoft.com/office/drawing/2014/main" id="{B63A2A0D-25E7-2A66-E06D-8E11DD22EF59}"/>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16" name="Shape 1">
            <a:extLst>
              <a:ext uri="{FF2B5EF4-FFF2-40B4-BE49-F238E27FC236}">
                <a16:creationId xmlns:a16="http://schemas.microsoft.com/office/drawing/2014/main" id="{BD675A46-34F3-FE4D-4BAD-0FA0DC1348C6}"/>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17" name="Image 0" descr="c:\Users\edalk\OneDrive\Masaüstü\sunum\görsel\ykb_teknoloji_logo.png">
            <a:extLst>
              <a:ext uri="{FF2B5EF4-FFF2-40B4-BE49-F238E27FC236}">
                <a16:creationId xmlns:a16="http://schemas.microsoft.com/office/drawing/2014/main" id="{AE5CD9E5-60B6-C411-39CC-5643512A5005}"/>
              </a:ext>
            </a:extLst>
          </p:cNvPr>
          <p:cNvPicPr>
            <a:picLocks noChangeAspect="1"/>
          </p:cNvPicPr>
          <p:nvPr/>
        </p:nvPicPr>
        <p:blipFill>
          <a:blip r:embed="rId5"/>
          <a:stretch>
            <a:fillRect/>
          </a:stretch>
        </p:blipFill>
        <p:spPr>
          <a:xfrm>
            <a:off x="10232136" y="233172"/>
            <a:ext cx="1755648" cy="704088"/>
          </a:xfrm>
          <a:prstGeom prst="rect">
            <a:avLst/>
          </a:prstGeom>
        </p:spPr>
      </p:pic>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1 - RAG UYGULAMADA</a:t>
            </a:r>
            <a:endParaRPr lang="en-US" sz="1200" dirty="0"/>
          </a:p>
        </p:txBody>
      </p:sp>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Akışın uygulamadaki karşılığı</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bg>
      <p:bgPr>
        <a:solidFill>
          <a:srgbClr val="F5F8FC"/>
        </a:solidFill>
        <a:effectLst/>
      </p:bgPr>
    </p:bg>
    <p:spTree>
      <p:nvGrpSpPr>
        <p:cNvPr id="1" name=""/>
        <p:cNvGrpSpPr/>
        <p:nvPr/>
      </p:nvGrpSpPr>
      <p:grpSpPr>
        <a:xfrm>
          <a:off x="0" y="0"/>
          <a:ext cx="0" cy="0"/>
          <a:chOff x="0" y="0"/>
          <a:chExt cx="0" cy="0"/>
        </a:xfrm>
      </p:grpSpPr>
      <p:sp>
        <p:nvSpPr>
          <p:cNvPr id="12" name="Shape 27">
            <a:extLst>
              <a:ext uri="{FF2B5EF4-FFF2-40B4-BE49-F238E27FC236}">
                <a16:creationId xmlns:a16="http://schemas.microsoft.com/office/drawing/2014/main" id="{6BB8F53A-251B-0131-CB98-F9AB6ED57458}"/>
              </a:ext>
            </a:extLst>
          </p:cNvPr>
          <p:cNvSpPr/>
          <p:nvPr/>
        </p:nvSpPr>
        <p:spPr>
          <a:xfrm>
            <a:off x="740664" y="1545336"/>
            <a:ext cx="7507224" cy="4443984"/>
          </a:xfrm>
          <a:prstGeom prst="roundRect">
            <a:avLst>
              <a:gd name="adj" fmla="val 2020"/>
            </a:avLst>
          </a:prstGeom>
          <a:solidFill>
            <a:srgbClr val="0A192F"/>
          </a:solidFill>
          <a:ln w="15240">
            <a:solidFill>
              <a:srgbClr val="004B93"/>
            </a:solidFill>
            <a:prstDash val="solid"/>
          </a:ln>
        </p:spPr>
        <p:txBody>
          <a:bodyPr/>
          <a:lstStyle/>
          <a:p>
            <a:endParaRPr lang="tr-TR"/>
          </a:p>
        </p:txBody>
      </p:sp>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08</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813816" y="1618488"/>
            <a:ext cx="7360920" cy="4297680"/>
          </a:xfrm>
          <a:prstGeom prst="roundRect">
            <a:avLst>
              <a:gd name="adj" fmla="val 1928"/>
            </a:avLst>
          </a:prstGeom>
          <a:solidFill>
            <a:srgbClr val="FFFFFF"/>
          </a:solidFill>
          <a:ln w="9525">
            <a:solidFill>
              <a:srgbClr val="D5E2F1"/>
            </a:solidFill>
            <a:prstDash val="solid"/>
          </a:ln>
        </p:spPr>
        <p:txBody>
          <a:bodyPr/>
          <a:lstStyle/>
          <a:p>
            <a:endParaRPr lang="tr-TR"/>
          </a:p>
        </p:txBody>
      </p:sp>
      <p:pic>
        <p:nvPicPr>
          <p:cNvPr id="7" name="Image 0" descr="DevTools IndexedDB chunks tablosu"/>
          <p:cNvPicPr>
            <a:picLocks noChangeAspect="1"/>
          </p:cNvPicPr>
          <p:nvPr/>
        </p:nvPicPr>
        <p:blipFill>
          <a:blip r:embed="rId3"/>
          <a:stretch>
            <a:fillRect/>
          </a:stretch>
        </p:blipFill>
        <p:spPr>
          <a:xfrm>
            <a:off x="937260" y="1709928"/>
            <a:ext cx="7114032" cy="4114800"/>
          </a:xfrm>
          <a:prstGeom prst="rect">
            <a:avLst/>
          </a:prstGeom>
        </p:spPr>
      </p:pic>
      <p:sp>
        <p:nvSpPr>
          <p:cNvPr id="15" name="Shape 0">
            <a:extLst>
              <a:ext uri="{FF2B5EF4-FFF2-40B4-BE49-F238E27FC236}">
                <a16:creationId xmlns:a16="http://schemas.microsoft.com/office/drawing/2014/main" id="{B63A2A0D-25E7-2A66-E06D-8E11DD22EF59}"/>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16" name="Shape 1">
            <a:extLst>
              <a:ext uri="{FF2B5EF4-FFF2-40B4-BE49-F238E27FC236}">
                <a16:creationId xmlns:a16="http://schemas.microsoft.com/office/drawing/2014/main" id="{BD675A46-34F3-FE4D-4BAD-0FA0DC1348C6}"/>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17" name="Image 0" descr="c:\Users\edalk\OneDrive\Masaüstü\sunum\görsel\ykb_teknoloji_logo.png">
            <a:extLst>
              <a:ext uri="{FF2B5EF4-FFF2-40B4-BE49-F238E27FC236}">
                <a16:creationId xmlns:a16="http://schemas.microsoft.com/office/drawing/2014/main" id="{AE5CD9E5-60B6-C411-39CC-5643512A5005}"/>
              </a:ext>
            </a:extLst>
          </p:cNvPr>
          <p:cNvPicPr>
            <a:picLocks noChangeAspect="1"/>
          </p:cNvPicPr>
          <p:nvPr/>
        </p:nvPicPr>
        <p:blipFill>
          <a:blip r:embed="rId4"/>
          <a:stretch>
            <a:fillRect/>
          </a:stretch>
        </p:blipFill>
        <p:spPr>
          <a:xfrm>
            <a:off x="10232136" y="233172"/>
            <a:ext cx="1755648" cy="704088"/>
          </a:xfrm>
          <a:prstGeom prst="rect">
            <a:avLst/>
          </a:prstGeom>
        </p:spPr>
      </p:pic>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1 - INDEXEDDB</a:t>
            </a:r>
            <a:endParaRPr lang="en-US" sz="1200" dirty="0"/>
          </a:p>
        </p:txBody>
      </p:sp>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Yüklenen belgenin tarayıcıda saklanan parçaları</a:t>
            </a:r>
            <a:endParaRPr lang="en-US" sz="2800" dirty="0"/>
          </a:p>
        </p:txBody>
      </p:sp>
      <p:sp>
        <p:nvSpPr>
          <p:cNvPr id="721" name="Highlight 1"/>
          <p:cNvSpPr/>
          <p:nvPr/>
        </p:nvSpPr>
        <p:spPr>
          <a:xfrm>
            <a:off x="2994863" y="2402058"/>
            <a:ext cx="1202907" cy="211015"/>
          </a:xfrm>
          <a:prstGeom prst="roundRect">
            <a:avLst>
              <a:gd name="adj" fmla="val 12000"/>
            </a:avLst>
          </a:prstGeom>
          <a:noFill/>
          <a:ln w="28575">
            <a:solidFill>
              <a:srgbClr val="F59E0B"/>
            </a:solidFill>
          </a:ln>
        </p:spPr>
        <p:txBody>
          <a:bodyPr/>
          <a:lstStyle/>
          <a:p>
            <a:endParaRPr lang="tr-TR"/>
          </a:p>
        </p:txBody>
      </p:sp>
      <p:sp>
        <p:nvSpPr>
          <p:cNvPr id="722" name="Highlight 2"/>
          <p:cNvSpPr/>
          <p:nvPr/>
        </p:nvSpPr>
        <p:spPr>
          <a:xfrm>
            <a:off x="4187218" y="2207924"/>
            <a:ext cx="3851412" cy="202575"/>
          </a:xfrm>
          <a:prstGeom prst="roundRect">
            <a:avLst>
              <a:gd name="adj" fmla="val 12000"/>
            </a:avLst>
          </a:prstGeom>
          <a:noFill/>
          <a:ln w="28575">
            <a:solidFill>
              <a:srgbClr val="F59E0B"/>
            </a:solidFill>
          </a:ln>
        </p:spPr>
        <p:txBody>
          <a:bodyPr/>
          <a:lstStyle/>
          <a:p>
            <a:endParaRPr lang="tr-TR"/>
          </a:p>
        </p:txBody>
      </p:sp>
      <p:sp>
        <p:nvSpPr>
          <p:cNvPr id="701" name="Callout 1"/>
          <p:cNvSpPr/>
          <p:nvPr/>
        </p:nvSpPr>
        <p:spPr>
          <a:xfrm>
            <a:off x="8458200" y="1618488"/>
            <a:ext cx="2916936" cy="1325880"/>
          </a:xfrm>
          <a:prstGeom prst="roundRect">
            <a:avLst>
              <a:gd name="adj" fmla="val 6000"/>
            </a:avLst>
          </a:prstGeom>
          <a:solidFill>
            <a:srgbClr val="E8F1FB"/>
          </a:solidFill>
          <a:ln>
            <a:noFill/>
          </a:ln>
        </p:spPr>
        <p:txBody>
          <a:bodyPr wrap="square" lIns="137160" tIns="118872" rIns="137160" bIns="91440" rtlCol="0" anchor="t">
            <a:normAutofit/>
          </a:bodyPr>
          <a:lstStyle/>
          <a:p>
            <a:pPr marL="0" indent="0">
              <a:spcAft>
                <a:spcPts val="200"/>
              </a:spcAft>
              <a:buNone/>
            </a:pPr>
            <a:r>
              <a:rPr lang="tr-TR" sz="1000" b="1" dirty="0">
                <a:solidFill>
                  <a:srgbClr val="0062B8"/>
                </a:solidFill>
                <a:latin typeface="Calibri"/>
                <a:ea typeface="Calibri"/>
                <a:cs typeface="Calibri"/>
              </a:rPr>
              <a:t>01 · BELGE → PARÇALAR</a:t>
            </a:r>
          </a:p>
          <a:p>
            <a:pPr marL="0" indent="0">
              <a:spcAft>
                <a:spcPts val="200"/>
              </a:spcAft>
              <a:buNone/>
            </a:pPr>
            <a:r>
              <a:rPr lang="tr-TR" sz="1300" b="1" dirty="0">
                <a:solidFill>
                  <a:srgbClr val="0B2A55"/>
                </a:solidFill>
                <a:latin typeface="Calibri"/>
                <a:ea typeface="Calibri"/>
                <a:cs typeface="Calibri"/>
              </a:rPr>
              <a:t>1 belge = 270 kayıt</a:t>
            </a:r>
          </a:p>
          <a:p>
            <a:pPr marL="0" indent="0">
              <a:buNone/>
            </a:pPr>
            <a:r>
              <a:rPr lang="tr-TR" sz="1100" dirty="0">
                <a:solidFill>
                  <a:srgbClr val="3C4B63"/>
                </a:solidFill>
                <a:latin typeface="Calibri"/>
                <a:ea typeface="Calibri"/>
                <a:cs typeface="Calibri"/>
              </a:rPr>
              <a:t>ÖFS İşlemleri analiz dokümanı (.docx, 7,4 MB) 270 parçaya bölündü; tabloda index 0–269 olarak duruyor.</a:t>
            </a:r>
          </a:p>
        </p:txBody>
      </p:sp>
      <p:sp>
        <p:nvSpPr>
          <p:cNvPr id="702" name="Callout 2"/>
          <p:cNvSpPr/>
          <p:nvPr/>
        </p:nvSpPr>
        <p:spPr>
          <a:xfrm>
            <a:off x="8458200" y="3108960"/>
            <a:ext cx="2916936" cy="1325880"/>
          </a:xfrm>
          <a:prstGeom prst="roundRect">
            <a:avLst>
              <a:gd name="adj" fmla="val 6000"/>
            </a:avLst>
          </a:prstGeom>
          <a:solidFill>
            <a:srgbClr val="E8F1FB"/>
          </a:solidFill>
          <a:ln>
            <a:noFill/>
          </a:ln>
        </p:spPr>
        <p:txBody>
          <a:bodyPr wrap="square" lIns="137160" tIns="118872" rIns="137160" bIns="91440" rtlCol="0" anchor="t">
            <a:normAutofit/>
          </a:bodyPr>
          <a:lstStyle/>
          <a:p>
            <a:pPr marL="0" indent="0">
              <a:spcAft>
                <a:spcPts val="200"/>
              </a:spcAft>
              <a:buNone/>
            </a:pPr>
            <a:r>
              <a:rPr lang="tr-TR" sz="1000" b="1" dirty="0">
                <a:solidFill>
                  <a:srgbClr val="0062B8"/>
                </a:solidFill>
                <a:latin typeface="Calibri"/>
                <a:ea typeface="Calibri"/>
                <a:cs typeface="Calibri"/>
              </a:rPr>
              <a:t>02 · KAYIT YAPISI</a:t>
            </a:r>
          </a:p>
          <a:p>
            <a:pPr marL="0" indent="0">
              <a:spcAft>
                <a:spcPts val="200"/>
              </a:spcAft>
              <a:buNone/>
            </a:pPr>
            <a:r>
              <a:rPr lang="tr-TR" sz="1300" b="1" dirty="0">
                <a:solidFill>
                  <a:srgbClr val="0B2A55"/>
                </a:solidFill>
                <a:latin typeface="Calibri"/>
                <a:ea typeface="Calibri"/>
                <a:cs typeface="Calibri"/>
              </a:rPr>
              <a:t>Yalnızca metin</a:t>
            </a:r>
          </a:p>
          <a:p>
            <a:pPr marL="0" indent="0">
              <a:buNone/>
            </a:pPr>
            <a:r>
              <a:rPr lang="tr-TR" sz="1100" dirty="0">
                <a:solidFill>
                  <a:srgbClr val="3C4B63"/>
                </a:solidFill>
                <a:latin typeface="Calibri"/>
                <a:ea typeface="Calibri"/>
                <a:cs typeface="Calibri"/>
              </a:rPr>
              <a:t>Her parça id, docId, index ve text alanlarını taşır; vektör (embedding) alanı yok.</a:t>
            </a:r>
          </a:p>
        </p:txBody>
      </p:sp>
      <p:sp>
        <p:nvSpPr>
          <p:cNvPr id="703" name="Callout 3"/>
          <p:cNvSpPr/>
          <p:nvPr/>
        </p:nvSpPr>
        <p:spPr>
          <a:xfrm>
            <a:off x="8458200" y="4599432"/>
            <a:ext cx="2916936" cy="1325880"/>
          </a:xfrm>
          <a:prstGeom prst="roundRect">
            <a:avLst>
              <a:gd name="adj" fmla="val 6000"/>
            </a:avLst>
          </a:prstGeom>
          <a:solidFill>
            <a:srgbClr val="0B2A55"/>
          </a:solidFill>
          <a:ln>
            <a:noFill/>
          </a:ln>
        </p:spPr>
        <p:txBody>
          <a:bodyPr wrap="square" lIns="137160" tIns="118872" rIns="137160" bIns="91440" rtlCol="0" anchor="t">
            <a:normAutofit/>
          </a:bodyPr>
          <a:lstStyle/>
          <a:p>
            <a:pPr marL="0" indent="0">
              <a:spcAft>
                <a:spcPts val="200"/>
              </a:spcAft>
              <a:buNone/>
            </a:pPr>
            <a:r>
              <a:rPr lang="tr-TR" sz="1000" b="1" dirty="0">
                <a:solidFill>
                  <a:srgbClr val="CFE3F7"/>
                </a:solidFill>
                <a:latin typeface="Calibri"/>
                <a:ea typeface="Calibri"/>
                <a:cs typeface="Calibri"/>
              </a:rPr>
              <a:t>03 · KONUM</a:t>
            </a:r>
          </a:p>
          <a:p>
            <a:pPr marL="0" indent="0">
              <a:spcAft>
                <a:spcPts val="200"/>
              </a:spcAft>
              <a:buNone/>
            </a:pPr>
            <a:r>
              <a:rPr lang="tr-TR" sz="1300" b="1" dirty="0">
                <a:solidFill>
                  <a:srgbClr val="FFFFFF"/>
                </a:solidFill>
                <a:latin typeface="Calibri"/>
                <a:ea typeface="Calibri"/>
                <a:cs typeface="Calibri"/>
              </a:rPr>
              <a:t>aiChat_RAG_v1 › chunks</a:t>
            </a:r>
          </a:p>
          <a:p>
            <a:pPr marL="0" indent="0">
              <a:buNone/>
            </a:pPr>
            <a:r>
              <a:rPr lang="tr-TR" sz="1100" dirty="0">
                <a:solidFill>
                  <a:srgbClr val="EAF3FD"/>
                </a:solidFill>
                <a:latin typeface="Calibri"/>
                <a:ea typeface="Calibri"/>
                <a:cs typeface="Calibri"/>
              </a:rPr>
              <a:t>Tarayıcının IndexedDB alanında tutulur; veri yalnızca bu cihazda kalır.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8FC"/>
        </a:solidFill>
        <a:effectLst/>
      </p:bgPr>
    </p:bg>
    <p:spTree>
      <p:nvGrpSpPr>
        <p:cNvPr id="1" name=""/>
        <p:cNvGrpSpPr/>
        <p:nvPr/>
      </p:nvGrpSpPr>
      <p:grpSpPr>
        <a:xfrm>
          <a:off x="0" y="0"/>
          <a:ext cx="0" cy="0"/>
          <a:chOff x="0" y="0"/>
          <a:chExt cx="0" cy="0"/>
        </a:xfrm>
      </p:grpSpPr>
      <p:sp>
        <p:nvSpPr>
          <p:cNvPr id="27" name="Shape 12">
            <a:extLst>
              <a:ext uri="{FF2B5EF4-FFF2-40B4-BE49-F238E27FC236}">
                <a16:creationId xmlns:a16="http://schemas.microsoft.com/office/drawing/2014/main" id="{1F971C93-ACCE-C588-21B6-0DA5A2EC0DB5}"/>
              </a:ext>
            </a:extLst>
          </p:cNvPr>
          <p:cNvSpPr/>
          <p:nvPr/>
        </p:nvSpPr>
        <p:spPr>
          <a:xfrm>
            <a:off x="6176374" y="1682496"/>
            <a:ext cx="5258595" cy="2642616"/>
          </a:xfrm>
          <a:prstGeom prst="roundRect">
            <a:avLst>
              <a:gd name="adj" fmla="val 3721"/>
            </a:avLst>
          </a:prstGeom>
          <a:solidFill>
            <a:srgbClr val="0B2A55"/>
          </a:solidFill>
          <a:ln w="12700">
            <a:solidFill>
              <a:srgbClr val="0B2A55"/>
            </a:solidFill>
            <a:prstDash val="solid"/>
          </a:ln>
        </p:spPr>
        <p:txBody>
          <a:bodyPr/>
          <a:lstStyle/>
          <a:p>
            <a:endParaRPr lang="tr-TR"/>
          </a:p>
        </p:txBody>
      </p:sp>
      <p:sp>
        <p:nvSpPr>
          <p:cNvPr id="26" name="Shape 12">
            <a:extLst>
              <a:ext uri="{FF2B5EF4-FFF2-40B4-BE49-F238E27FC236}">
                <a16:creationId xmlns:a16="http://schemas.microsoft.com/office/drawing/2014/main" id="{1C4DDFCD-246A-DE00-59EC-7E9D5B9670E2}"/>
              </a:ext>
            </a:extLst>
          </p:cNvPr>
          <p:cNvSpPr/>
          <p:nvPr/>
        </p:nvSpPr>
        <p:spPr>
          <a:xfrm>
            <a:off x="745434" y="1682496"/>
            <a:ext cx="5258595" cy="2642616"/>
          </a:xfrm>
          <a:prstGeom prst="roundRect">
            <a:avLst>
              <a:gd name="adj" fmla="val 3721"/>
            </a:avLst>
          </a:prstGeom>
          <a:solidFill>
            <a:srgbClr val="0B2A55"/>
          </a:solidFill>
          <a:ln w="12700">
            <a:solidFill>
              <a:srgbClr val="0B2A55"/>
            </a:solidFill>
            <a:prstDash val="solid"/>
          </a:ln>
        </p:spPr>
        <p:txBody>
          <a:bodyPr/>
          <a:lstStyle/>
          <a:p>
            <a:endParaRPr lang="tr-TR"/>
          </a:p>
        </p:txBody>
      </p:sp>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09</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813816" y="1737360"/>
            <a:ext cx="5120640" cy="2514600"/>
          </a:xfrm>
          <a:prstGeom prst="roundRect">
            <a:avLst>
              <a:gd name="adj" fmla="val 3721"/>
            </a:avLst>
          </a:prstGeom>
          <a:solidFill>
            <a:srgbClr val="FFFFFF"/>
          </a:solidFill>
          <a:ln w="9525">
            <a:solidFill>
              <a:srgbClr val="D5E2F1"/>
            </a:solidFill>
            <a:prstDash val="solid"/>
          </a:ln>
        </p:spPr>
        <p:txBody>
          <a:bodyPr/>
          <a:lstStyle/>
          <a:p>
            <a:endParaRPr lang="tr-TR"/>
          </a:p>
        </p:txBody>
      </p:sp>
      <p:sp>
        <p:nvSpPr>
          <p:cNvPr id="7" name="Text 5"/>
          <p:cNvSpPr/>
          <p:nvPr/>
        </p:nvSpPr>
        <p:spPr>
          <a:xfrm>
            <a:off x="1069848" y="1965960"/>
            <a:ext cx="4608576"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01 - İSİMLENDİRME STANDARDI</a:t>
            </a:r>
            <a:endParaRPr lang="en-US" sz="1100" dirty="0"/>
          </a:p>
        </p:txBody>
      </p:sp>
      <p:sp>
        <p:nvSpPr>
          <p:cNvPr id="8" name="Text 6"/>
          <p:cNvSpPr/>
          <p:nvPr/>
        </p:nvSpPr>
        <p:spPr>
          <a:xfrm>
            <a:off x="1069848" y="2240280"/>
            <a:ext cx="4608576" cy="384048"/>
          </a:xfrm>
          <a:prstGeom prst="rect">
            <a:avLst/>
          </a:prstGeom>
          <a:noFill/>
          <a:ln/>
        </p:spPr>
        <p:txBody>
          <a:bodyPr wrap="square" lIns="0" tIns="0" rIns="0" bIns="0" rtlCol="0" anchor="t"/>
          <a:lstStyle/>
          <a:p>
            <a:pPr marL="0" indent="0">
              <a:buNone/>
            </a:pPr>
            <a:r>
              <a:rPr lang="en-US" sz="1700" b="1" dirty="0">
                <a:solidFill>
                  <a:srgbClr val="0B2A55"/>
                </a:solidFill>
                <a:latin typeface="Calibri"/>
                <a:ea typeface="Calibri"/>
                <a:cs typeface="Calibri"/>
              </a:rPr>
              <a:t>Katmana Göre Otomatik Adlandırma</a:t>
            </a:r>
            <a:endParaRPr lang="en-US" sz="1700" dirty="0"/>
          </a:p>
        </p:txBody>
      </p:sp>
      <p:sp>
        <p:nvSpPr>
          <p:cNvPr id="9" name="Text 7"/>
          <p:cNvSpPr/>
          <p:nvPr/>
        </p:nvSpPr>
        <p:spPr>
          <a:xfrm>
            <a:off x="1069848" y="2715768"/>
            <a:ext cx="4608576" cy="274320"/>
          </a:xfrm>
          <a:prstGeom prst="rect">
            <a:avLst/>
          </a:prstGeom>
          <a:noFill/>
          <a:ln/>
        </p:spPr>
        <p:txBody>
          <a:bodyPr wrap="square" lIns="0" tIns="0" rIns="0" bIns="0" rtlCol="0" anchor="t"/>
          <a:lstStyle/>
          <a:p>
            <a:pPr marL="0" indent="0">
              <a:lnSpc>
                <a:spcPct val="115000"/>
              </a:lnSpc>
              <a:buNone/>
            </a:pPr>
            <a:r>
              <a:rPr lang="en-US" sz="1250" dirty="0">
                <a:solidFill>
                  <a:srgbClr val="3C4B63"/>
                </a:solidFill>
                <a:latin typeface="Calibri"/>
                <a:ea typeface="Calibri"/>
                <a:cs typeface="Calibri"/>
              </a:rPr>
              <a:t>Dış katmanda Request / Response, iç katmanda Adc ekli sınıflar.</a:t>
            </a:r>
            <a:endParaRPr lang="en-US" sz="1250" dirty="0"/>
          </a:p>
        </p:txBody>
      </p:sp>
      <p:sp>
        <p:nvSpPr>
          <p:cNvPr id="10" name="Shape 8"/>
          <p:cNvSpPr/>
          <p:nvPr/>
        </p:nvSpPr>
        <p:spPr>
          <a:xfrm>
            <a:off x="6245352" y="1737360"/>
            <a:ext cx="5120640" cy="2514600"/>
          </a:xfrm>
          <a:prstGeom prst="roundRect">
            <a:avLst>
              <a:gd name="adj" fmla="val 3721"/>
            </a:avLst>
          </a:prstGeom>
          <a:solidFill>
            <a:srgbClr val="FFFFFF"/>
          </a:solidFill>
          <a:ln w="9525">
            <a:solidFill>
              <a:srgbClr val="D5E2F1"/>
            </a:solidFill>
            <a:prstDash val="solid"/>
          </a:ln>
        </p:spPr>
        <p:txBody>
          <a:bodyPr/>
          <a:lstStyle/>
          <a:p>
            <a:endParaRPr lang="tr-TR"/>
          </a:p>
        </p:txBody>
      </p:sp>
      <p:sp>
        <p:nvSpPr>
          <p:cNvPr id="11" name="Text 9"/>
          <p:cNvSpPr/>
          <p:nvPr/>
        </p:nvSpPr>
        <p:spPr>
          <a:xfrm>
            <a:off x="6501384" y="1965960"/>
            <a:ext cx="4608576"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02 - MİMARİ UYUM</a:t>
            </a:r>
            <a:endParaRPr lang="en-US" sz="1100" dirty="0"/>
          </a:p>
        </p:txBody>
      </p:sp>
      <p:sp>
        <p:nvSpPr>
          <p:cNvPr id="12" name="Text 10"/>
          <p:cNvSpPr/>
          <p:nvPr/>
        </p:nvSpPr>
        <p:spPr>
          <a:xfrm>
            <a:off x="6501384" y="2240280"/>
            <a:ext cx="4608576" cy="384048"/>
          </a:xfrm>
          <a:prstGeom prst="rect">
            <a:avLst/>
          </a:prstGeom>
          <a:noFill/>
          <a:ln/>
        </p:spPr>
        <p:txBody>
          <a:bodyPr wrap="square" lIns="0" tIns="0" rIns="0" bIns="0" rtlCol="0" anchor="t"/>
          <a:lstStyle/>
          <a:p>
            <a:pPr marL="0" indent="0">
              <a:buNone/>
            </a:pPr>
            <a:r>
              <a:rPr lang="en-US" sz="1700" b="1" dirty="0">
                <a:solidFill>
                  <a:srgbClr val="0B2A55"/>
                </a:solidFill>
                <a:latin typeface="Calibri"/>
                <a:ea typeface="Calibri"/>
                <a:cs typeface="Calibri"/>
              </a:rPr>
              <a:t>Temel Sınıf ve Veri Tipi Standardı</a:t>
            </a:r>
            <a:endParaRPr lang="en-US" sz="1700" dirty="0"/>
          </a:p>
        </p:txBody>
      </p:sp>
      <p:sp>
        <p:nvSpPr>
          <p:cNvPr id="13" name="Text 11"/>
          <p:cNvSpPr/>
          <p:nvPr/>
        </p:nvSpPr>
        <p:spPr>
          <a:xfrm>
            <a:off x="6501384" y="2715768"/>
            <a:ext cx="4608576" cy="274320"/>
          </a:xfrm>
          <a:prstGeom prst="rect">
            <a:avLst/>
          </a:prstGeom>
          <a:noFill/>
          <a:ln/>
        </p:spPr>
        <p:txBody>
          <a:bodyPr wrap="square" lIns="0" tIns="0" rIns="0" bIns="0" rtlCol="0" anchor="t"/>
          <a:lstStyle/>
          <a:p>
            <a:pPr marL="0" indent="0">
              <a:lnSpc>
                <a:spcPct val="115000"/>
              </a:lnSpc>
              <a:buNone/>
            </a:pPr>
            <a:r>
              <a:rPr lang="tr-TR" sz="1250" dirty="0">
                <a:solidFill>
                  <a:srgbClr val="3C4B63"/>
                </a:solidFill>
                <a:latin typeface="Calibri"/>
                <a:ea typeface="Calibri"/>
                <a:cs typeface="Calibri"/>
              </a:rPr>
              <a:t>T</a:t>
            </a:r>
            <a:r>
              <a:rPr lang="en-US" sz="1250" dirty="0" err="1">
                <a:solidFill>
                  <a:srgbClr val="3C4B63"/>
                </a:solidFill>
                <a:latin typeface="Calibri"/>
                <a:ea typeface="Calibri"/>
                <a:cs typeface="Calibri"/>
              </a:rPr>
              <a:t>emel</a:t>
            </a:r>
            <a:r>
              <a:rPr lang="en-US" sz="1250" dirty="0">
                <a:solidFill>
                  <a:srgbClr val="3C4B63"/>
                </a:solidFill>
                <a:latin typeface="Calibri"/>
                <a:ea typeface="Calibri"/>
                <a:cs typeface="Calibri"/>
              </a:rPr>
              <a:t> </a:t>
            </a:r>
            <a:r>
              <a:rPr lang="en-US" sz="1250" dirty="0" err="1">
                <a:solidFill>
                  <a:srgbClr val="3C4B63"/>
                </a:solidFill>
                <a:latin typeface="Calibri"/>
                <a:ea typeface="Calibri"/>
                <a:cs typeface="Calibri"/>
              </a:rPr>
              <a:t>sınıflardan</a:t>
            </a:r>
            <a:r>
              <a:rPr lang="en-US" sz="1250" dirty="0">
                <a:solidFill>
                  <a:srgbClr val="3C4B63"/>
                </a:solidFill>
                <a:latin typeface="Calibri"/>
                <a:ea typeface="Calibri"/>
                <a:cs typeface="Calibri"/>
              </a:rPr>
              <a:t> </a:t>
            </a:r>
            <a:r>
              <a:rPr lang="en-US" sz="1250" dirty="0" err="1">
                <a:solidFill>
                  <a:srgbClr val="3C4B63"/>
                </a:solidFill>
                <a:latin typeface="Calibri"/>
                <a:ea typeface="Calibri"/>
                <a:cs typeface="Calibri"/>
              </a:rPr>
              <a:t>türetme</a:t>
            </a:r>
            <a:endParaRPr lang="en-US" sz="1250" dirty="0"/>
          </a:p>
        </p:txBody>
      </p:sp>
      <p:sp>
        <p:nvSpPr>
          <p:cNvPr id="14" name="Shape 12"/>
          <p:cNvSpPr/>
          <p:nvPr/>
        </p:nvSpPr>
        <p:spPr>
          <a:xfrm>
            <a:off x="813816" y="4480560"/>
            <a:ext cx="5120640" cy="1463040"/>
          </a:xfrm>
          <a:prstGeom prst="roundRect">
            <a:avLst>
              <a:gd name="adj" fmla="val 3721"/>
            </a:avLst>
          </a:prstGeom>
          <a:solidFill>
            <a:srgbClr val="0B2A55"/>
          </a:solidFill>
          <a:ln w="12700">
            <a:solidFill>
              <a:srgbClr val="0B2A55"/>
            </a:solidFill>
            <a:prstDash val="solid"/>
          </a:ln>
        </p:spPr>
        <p:txBody>
          <a:bodyPr/>
          <a:lstStyle/>
          <a:p>
            <a:endParaRPr lang="tr-TR"/>
          </a:p>
        </p:txBody>
      </p:sp>
      <p:sp>
        <p:nvSpPr>
          <p:cNvPr id="15" name="Text 13"/>
          <p:cNvSpPr/>
          <p:nvPr/>
        </p:nvSpPr>
        <p:spPr>
          <a:xfrm>
            <a:off x="1069848" y="4663440"/>
            <a:ext cx="4608576" cy="219456"/>
          </a:xfrm>
          <a:prstGeom prst="rect">
            <a:avLst/>
          </a:prstGeom>
          <a:noFill/>
          <a:ln/>
        </p:spPr>
        <p:txBody>
          <a:bodyPr wrap="square" lIns="0" tIns="0" rIns="0" bIns="0" rtlCol="0" anchor="ctr"/>
          <a:lstStyle/>
          <a:p>
            <a:pPr marL="0" indent="0">
              <a:buNone/>
            </a:pPr>
            <a:r>
              <a:rPr lang="tr-TR" sz="1100" b="1" dirty="0">
                <a:solidFill>
                  <a:srgbClr val="8CC4F2"/>
                </a:solidFill>
                <a:latin typeface="Calibri"/>
                <a:ea typeface="Calibri"/>
                <a:cs typeface="Calibri"/>
              </a:rPr>
              <a:t>03 - DÖNÜŞTÜRÜCÜ ÜRETİMİ</a:t>
            </a:r>
            <a:endParaRPr lang="en-US" sz="1100" dirty="0"/>
          </a:p>
        </p:txBody>
      </p:sp>
      <p:sp>
        <p:nvSpPr>
          <p:cNvPr id="16" name="Text 14"/>
          <p:cNvSpPr/>
          <p:nvPr/>
        </p:nvSpPr>
        <p:spPr>
          <a:xfrm>
            <a:off x="1069848" y="4910328"/>
            <a:ext cx="4608576" cy="384048"/>
          </a:xfrm>
          <a:prstGeom prst="rect">
            <a:avLst/>
          </a:prstGeom>
          <a:noFill/>
          <a:ln/>
        </p:spPr>
        <p:txBody>
          <a:bodyPr wrap="square" lIns="0" tIns="0" rIns="0" bIns="0" rtlCol="0" anchor="t"/>
          <a:lstStyle/>
          <a:p>
            <a:pPr marL="0" indent="0">
              <a:buNone/>
            </a:pPr>
            <a:r>
              <a:rPr lang="tr-TR" sz="1700" b="1" dirty="0">
                <a:solidFill>
                  <a:srgbClr val="FFFFFF"/>
                </a:solidFill>
                <a:latin typeface="Calibri"/>
                <a:ea typeface="Calibri"/>
                <a:cs typeface="Calibri"/>
              </a:rPr>
              <a:t>Otomatik Mapper Metotları</a:t>
            </a:r>
            <a:endParaRPr lang="en-US" sz="1700" dirty="0"/>
          </a:p>
        </p:txBody>
      </p:sp>
      <p:sp>
        <p:nvSpPr>
          <p:cNvPr id="17" name="Text 15"/>
          <p:cNvSpPr/>
          <p:nvPr/>
        </p:nvSpPr>
        <p:spPr>
          <a:xfrm>
            <a:off x="1069848" y="5321808"/>
            <a:ext cx="4608576" cy="566928"/>
          </a:xfrm>
          <a:prstGeom prst="rect">
            <a:avLst/>
          </a:prstGeom>
          <a:noFill/>
          <a:ln/>
        </p:spPr>
        <p:txBody>
          <a:bodyPr wrap="square" lIns="0" tIns="0" rIns="0" bIns="0" rtlCol="0" anchor="t"/>
          <a:lstStyle/>
          <a:p>
            <a:pPr marL="0" indent="0">
              <a:lnSpc>
                <a:spcPct val="115000"/>
              </a:lnSpc>
              <a:buNone/>
            </a:pPr>
            <a:r>
              <a:rPr lang="tr-TR" sz="1250" dirty="0">
                <a:solidFill>
                  <a:srgbClr val="E3EEF9"/>
                </a:solidFill>
                <a:latin typeface="Calibri"/>
                <a:ea typeface="Calibri"/>
                <a:cs typeface="Calibri"/>
              </a:rPr>
              <a:t>Request ve Adc sınıfları arasındaki dönüşüm metotları otomatik yazılır; mevcut sınıflar değişmez, yalnızca yeni metotlar eklenir.</a:t>
            </a:r>
            <a:endParaRPr lang="en-US" sz="1250" dirty="0"/>
          </a:p>
        </p:txBody>
      </p:sp>
      <p:sp>
        <p:nvSpPr>
          <p:cNvPr id="18" name="Shape 16"/>
          <p:cNvSpPr/>
          <p:nvPr/>
        </p:nvSpPr>
        <p:spPr>
          <a:xfrm>
            <a:off x="6245352" y="4480560"/>
            <a:ext cx="5120640" cy="1463040"/>
          </a:xfrm>
          <a:prstGeom prst="roundRect">
            <a:avLst>
              <a:gd name="adj" fmla="val 3721"/>
            </a:avLst>
          </a:prstGeom>
          <a:solidFill>
            <a:srgbClr val="0B2A55"/>
          </a:solidFill>
          <a:ln w="12700">
            <a:solidFill>
              <a:srgbClr val="0B2A55"/>
            </a:solidFill>
            <a:prstDash val="solid"/>
          </a:ln>
        </p:spPr>
        <p:txBody>
          <a:bodyPr/>
          <a:lstStyle/>
          <a:p>
            <a:endParaRPr lang="tr-TR"/>
          </a:p>
        </p:txBody>
      </p:sp>
      <p:sp>
        <p:nvSpPr>
          <p:cNvPr id="19" name="Text 17"/>
          <p:cNvSpPr/>
          <p:nvPr/>
        </p:nvSpPr>
        <p:spPr>
          <a:xfrm>
            <a:off x="6501384" y="4663440"/>
            <a:ext cx="4608576" cy="219456"/>
          </a:xfrm>
          <a:prstGeom prst="rect">
            <a:avLst/>
          </a:prstGeom>
          <a:noFill/>
          <a:ln/>
        </p:spPr>
        <p:txBody>
          <a:bodyPr wrap="square" lIns="0" tIns="0" rIns="0" bIns="0" rtlCol="0" anchor="ctr"/>
          <a:lstStyle/>
          <a:p>
            <a:pPr marL="0" indent="0">
              <a:buNone/>
            </a:pPr>
            <a:r>
              <a:rPr lang="en-US" sz="1100" b="1" dirty="0">
                <a:solidFill>
                  <a:srgbClr val="8CC4F2"/>
                </a:solidFill>
                <a:latin typeface="Calibri"/>
                <a:ea typeface="Calibri"/>
                <a:cs typeface="Calibri"/>
              </a:rPr>
              <a:t>04 - VERİTABANI HAZIRLIĞI</a:t>
            </a:r>
            <a:endParaRPr lang="en-US" sz="1100" dirty="0"/>
          </a:p>
        </p:txBody>
      </p:sp>
      <p:sp>
        <p:nvSpPr>
          <p:cNvPr id="20" name="Text 18"/>
          <p:cNvSpPr/>
          <p:nvPr/>
        </p:nvSpPr>
        <p:spPr>
          <a:xfrm>
            <a:off x="6501384" y="4910328"/>
            <a:ext cx="4608576" cy="384048"/>
          </a:xfrm>
          <a:prstGeom prst="rect">
            <a:avLst/>
          </a:prstGeom>
          <a:noFill/>
          <a:ln/>
        </p:spPr>
        <p:txBody>
          <a:bodyPr wrap="square" lIns="0" tIns="0" rIns="0" bIns="0" rtlCol="0" anchor="t"/>
          <a:lstStyle/>
          <a:p>
            <a:pPr marL="0" indent="0">
              <a:buNone/>
            </a:pPr>
            <a:r>
              <a:rPr lang="en-US" sz="1700" b="1" dirty="0">
                <a:solidFill>
                  <a:srgbClr val="FFFFFF"/>
                </a:solidFill>
                <a:latin typeface="Calibri"/>
                <a:ea typeface="Calibri"/>
                <a:cs typeface="Calibri"/>
              </a:rPr>
              <a:t>Ortam Adresleri İçin Otomatik SQL</a:t>
            </a:r>
            <a:endParaRPr lang="en-US" sz="1700" dirty="0"/>
          </a:p>
        </p:txBody>
      </p:sp>
      <p:sp>
        <p:nvSpPr>
          <p:cNvPr id="21" name="Text 19"/>
          <p:cNvSpPr/>
          <p:nvPr/>
        </p:nvSpPr>
        <p:spPr>
          <a:xfrm>
            <a:off x="6501384" y="5321808"/>
            <a:ext cx="4608576" cy="566928"/>
          </a:xfrm>
          <a:prstGeom prst="rect">
            <a:avLst/>
          </a:prstGeom>
          <a:noFill/>
          <a:ln/>
        </p:spPr>
        <p:txBody>
          <a:bodyPr wrap="square" lIns="0" tIns="0" rIns="0" bIns="0" rtlCol="0" anchor="t"/>
          <a:lstStyle/>
          <a:p>
            <a:pPr marL="0" indent="0">
              <a:lnSpc>
                <a:spcPct val="115000"/>
              </a:lnSpc>
              <a:buNone/>
            </a:pPr>
            <a:r>
              <a:rPr lang="en-US" sz="1250" dirty="0">
                <a:solidFill>
                  <a:srgbClr val="E3EEF9"/>
                </a:solidFill>
                <a:latin typeface="Calibri"/>
                <a:ea typeface="Calibri"/>
                <a:cs typeface="Calibri"/>
              </a:rPr>
              <a:t>Girilen adresten Test, UAT ve Canlı ortam bağlantıları otomatik türetilir; veritabanı kayıt komutu yeni bir sekmede hazır olarak açılır.</a:t>
            </a:r>
            <a:endParaRPr lang="en-US" sz="1250" dirty="0"/>
          </a:p>
        </p:txBody>
      </p:sp>
      <p:sp>
        <p:nvSpPr>
          <p:cNvPr id="23" name="Shape 0">
            <a:extLst>
              <a:ext uri="{FF2B5EF4-FFF2-40B4-BE49-F238E27FC236}">
                <a16:creationId xmlns:a16="http://schemas.microsoft.com/office/drawing/2014/main" id="{5747B2C2-2262-7E71-EDF6-8FA797C0C6D8}"/>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24" name="Shape 1">
            <a:extLst>
              <a:ext uri="{FF2B5EF4-FFF2-40B4-BE49-F238E27FC236}">
                <a16:creationId xmlns:a16="http://schemas.microsoft.com/office/drawing/2014/main" id="{8DF4FF71-137E-FB43-2687-AB7807836B3C}"/>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25" name="Image 0" descr="c:\Users\edalk\OneDrive\Masaüstü\sunum\görsel\ykb_teknoloji_logo.png">
            <a:extLst>
              <a:ext uri="{FF2B5EF4-FFF2-40B4-BE49-F238E27FC236}">
                <a16:creationId xmlns:a16="http://schemas.microsoft.com/office/drawing/2014/main" id="{A337BA54-3F57-0D73-5C3E-AA70123725DF}"/>
              </a:ext>
            </a:extLst>
          </p:cNvPr>
          <p:cNvPicPr>
            <a:picLocks noChangeAspect="1"/>
          </p:cNvPicPr>
          <p:nvPr/>
        </p:nvPicPr>
        <p:blipFill>
          <a:blip r:embed="rId3"/>
          <a:stretch>
            <a:fillRect/>
          </a:stretch>
        </p:blipFill>
        <p:spPr>
          <a:xfrm>
            <a:off x="10232136" y="233172"/>
            <a:ext cx="1755648" cy="704088"/>
          </a:xfrm>
          <a:prstGeom prst="rect">
            <a:avLst/>
          </a:prstGeom>
        </p:spPr>
      </p:pic>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Proje yapısına uygun olarak otomatik yapılan işlemler</a:t>
            </a:r>
            <a:endParaRPr lang="en-US" sz="2800" dirty="0"/>
          </a:p>
        </p:txBody>
      </p:sp>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2 - PROJE STANDARTLARI</a:t>
            </a:r>
            <a:endParaRPr lang="en-US" sz="1200" dirty="0"/>
          </a:p>
        </p:txBody>
      </p:sp>
      <p:sp>
        <p:nvSpPr>
          <p:cNvPr id="801" name="Naming Example Bg"/>
          <p:cNvSpPr/>
          <p:nvPr/>
        </p:nvSpPr>
        <p:spPr>
          <a:xfrm>
            <a:off x="1069848" y="3072384"/>
            <a:ext cx="4608576" cy="1033272"/>
          </a:xfrm>
          <a:prstGeom prst="roundRect">
            <a:avLst>
              <a:gd name="adj" fmla="val 6000"/>
            </a:avLst>
          </a:prstGeom>
          <a:solidFill>
            <a:srgbClr val="EEF4FB"/>
          </a:solidFill>
          <a:ln>
            <a:noFill/>
          </a:ln>
        </p:spPr>
        <p:txBody>
          <a:bodyPr wrap="square" lIns="109728" tIns="73152" rIns="109728" bIns="73152" rtlCol="0" anchor="t"/>
          <a:lstStyle/>
          <a:p>
            <a:endParaRPr lang="tr-TR"/>
          </a:p>
        </p:txBody>
      </p:sp>
      <p:sp>
        <p:nvSpPr>
          <p:cNvPr id="802" name="Naming Example Endpoint"/>
          <p:cNvSpPr txBox="1"/>
          <p:nvPr/>
        </p:nvSpPr>
        <p:spPr>
          <a:xfrm>
            <a:off x="1069848" y="3127248"/>
            <a:ext cx="4608576" cy="219456"/>
          </a:xfrm>
          <a:prstGeom prst="roundRect">
            <a:avLst>
              <a:gd name="adj" fmla="val 6000"/>
            </a:avLst>
          </a:prstGeom>
          <a:noFill/>
          <a:ln>
            <a:noFill/>
          </a:ln>
        </p:spPr>
        <p:txBody>
          <a:bodyPr wrap="square" lIns="109728" tIns="18288" rIns="109728" bIns="18288" rtlCol="0" anchor="t"/>
          <a:lstStyle/>
          <a:p>
            <a:pPr marL="0" indent="0">
              <a:lnSpc>
                <a:spcPct val="100000"/>
              </a:lnSpc>
              <a:buNone/>
            </a:pPr>
            <a:r>
              <a:rPr lang="en-US" sz="900" b="1" dirty="0">
                <a:solidFill>
                  <a:srgbClr val="0062B8"/>
                </a:solidFill>
                <a:latin typeface="Calibri"/>
                <a:ea typeface="Calibri"/>
                <a:cs typeface="Calibri"/>
              </a:rPr>
              <a:t>ÖRNEK UÇ  </a:t>
            </a:r>
            <a:r>
              <a:rPr lang="en-US" sz="900" dirty="0">
                <a:solidFill>
                  <a:srgbClr val="0B2A55"/>
                </a:solidFill>
                <a:latin typeface="Consolas"/>
                <a:ea typeface="Consolas"/>
                <a:cs typeface="Consolas"/>
              </a:rPr>
              <a:t>POST /order/assignment/calculate-commission</a:t>
            </a:r>
          </a:p>
        </p:txBody>
      </p:sp>
      <p:sp>
        <p:nvSpPr>
          <p:cNvPr id="803" name="Naming Remote"/>
          <p:cNvSpPr txBox="1"/>
          <p:nvPr/>
        </p:nvSpPr>
        <p:spPr>
          <a:xfrm>
            <a:off x="1069848" y="3383280"/>
            <a:ext cx="2103120" cy="713232"/>
          </a:xfrm>
          <a:prstGeom prst="roundRect">
            <a:avLst>
              <a:gd name="adj" fmla="val 6000"/>
            </a:avLst>
          </a:prstGeom>
          <a:noFill/>
          <a:ln>
            <a:noFill/>
          </a:ln>
        </p:spPr>
        <p:txBody>
          <a:bodyPr wrap="square" lIns="109728" tIns="0" rIns="109728" bIns="0" rtlCol="0" anchor="t"/>
          <a:lstStyle/>
          <a:p>
            <a:pPr marL="0" indent="0">
              <a:lnSpc>
                <a:spcPct val="100000"/>
              </a:lnSpc>
              <a:spcAft>
                <a:spcPts val="200"/>
              </a:spcAft>
              <a:buNone/>
            </a:pPr>
            <a:r>
              <a:rPr lang="en-US" sz="900" b="1" dirty="0">
                <a:solidFill>
                  <a:srgbClr val="0062B8"/>
                </a:solidFill>
                <a:latin typeface="Calibri"/>
                <a:ea typeface="Calibri"/>
                <a:cs typeface="Calibri"/>
              </a:rPr>
              <a:t>uplift-remote</a:t>
            </a:r>
          </a:p>
          <a:p>
            <a:pPr marL="0" indent="0">
              <a:lnSpc>
                <a:spcPct val="100000"/>
              </a:lnSpc>
              <a:buNone/>
            </a:pPr>
            <a:r>
              <a:rPr lang="en-US" sz="850" dirty="0">
                <a:solidFill>
                  <a:srgbClr val="0B2A55"/>
                </a:solidFill>
                <a:latin typeface="Consolas"/>
                <a:ea typeface="Consolas"/>
                <a:cs typeface="Consolas"/>
              </a:rPr>
              <a:t>RequestCalculateCommission</a:t>
            </a:r>
          </a:p>
          <a:p>
            <a:pPr marL="0" indent="0">
              <a:lnSpc>
                <a:spcPct val="100000"/>
              </a:lnSpc>
              <a:buNone/>
            </a:pPr>
            <a:r>
              <a:rPr lang="en-US" sz="850" dirty="0">
                <a:solidFill>
                  <a:srgbClr val="0B2A55"/>
                </a:solidFill>
                <a:latin typeface="Consolas"/>
                <a:ea typeface="Consolas"/>
                <a:cs typeface="Consolas"/>
              </a:rPr>
              <a:t>ResponseCalculateCommission</a:t>
            </a:r>
          </a:p>
          <a:p>
            <a:pPr marL="0" indent="0">
              <a:lnSpc>
                <a:spcPct val="100000"/>
              </a:lnSpc>
              <a:buNone/>
            </a:pPr>
            <a:r>
              <a:rPr lang="en-US" sz="850" dirty="0">
                <a:solidFill>
                  <a:srgbClr val="0B2A55"/>
                </a:solidFill>
                <a:latin typeface="Consolas"/>
                <a:ea typeface="Consolas"/>
                <a:cs typeface="Consolas"/>
              </a:rPr>
              <a:t>MonetaryValueDto</a:t>
            </a:r>
          </a:p>
        </p:txBody>
      </p:sp>
      <p:sp>
        <p:nvSpPr>
          <p:cNvPr id="804" name="Naming Backend"/>
          <p:cNvSpPr txBox="1"/>
          <p:nvPr/>
        </p:nvSpPr>
        <p:spPr>
          <a:xfrm>
            <a:off x="3172968" y="3383280"/>
            <a:ext cx="2505456" cy="713232"/>
          </a:xfrm>
          <a:prstGeom prst="roundRect">
            <a:avLst>
              <a:gd name="adj" fmla="val 6000"/>
            </a:avLst>
          </a:prstGeom>
          <a:noFill/>
          <a:ln>
            <a:noFill/>
          </a:ln>
        </p:spPr>
        <p:txBody>
          <a:bodyPr wrap="square" lIns="109728" tIns="0" rIns="109728" bIns="0" rtlCol="0" anchor="t"/>
          <a:lstStyle/>
          <a:p>
            <a:pPr marL="0" indent="0">
              <a:lnSpc>
                <a:spcPct val="100000"/>
              </a:lnSpc>
              <a:spcAft>
                <a:spcPts val="200"/>
              </a:spcAft>
              <a:buNone/>
            </a:pPr>
            <a:r>
              <a:rPr lang="en-US" sz="900" b="1">
                <a:solidFill>
                  <a:srgbClr val="0062B8"/>
                </a:solidFill>
                <a:latin typeface="Calibri"/>
                <a:ea typeface="Calibri"/>
                <a:cs typeface="Calibri"/>
              </a:rPr>
              <a:t>uplift-backend</a:t>
            </a:r>
            <a:endParaRPr lang="en-US" sz="900" b="1" dirty="0">
              <a:solidFill>
                <a:srgbClr val="0062B8"/>
              </a:solidFill>
              <a:latin typeface="Calibri"/>
              <a:ea typeface="Calibri"/>
              <a:cs typeface="Calibri"/>
            </a:endParaRPr>
          </a:p>
          <a:p>
            <a:pPr marL="0" indent="0">
              <a:lnSpc>
                <a:spcPct val="100000"/>
              </a:lnSpc>
              <a:buNone/>
            </a:pPr>
            <a:r>
              <a:rPr lang="en-US" sz="850" dirty="0">
                <a:solidFill>
                  <a:srgbClr val="0B2A55"/>
                </a:solidFill>
                <a:latin typeface="Consolas"/>
                <a:ea typeface="Consolas"/>
                <a:cs typeface="Consolas"/>
              </a:rPr>
              <a:t>Request</a:t>
            </a:r>
            <a:r>
              <a:rPr lang="en-US" sz="850" b="1" dirty="0">
                <a:solidFill>
                  <a:srgbClr val="0062B8"/>
                </a:solidFill>
                <a:latin typeface="Consolas"/>
                <a:ea typeface="Consolas"/>
                <a:cs typeface="Consolas"/>
              </a:rPr>
              <a:t>Adc</a:t>
            </a:r>
            <a:r>
              <a:rPr lang="en-US" sz="850" dirty="0">
                <a:solidFill>
                  <a:srgbClr val="0B2A55"/>
                </a:solidFill>
                <a:latin typeface="Consolas"/>
                <a:ea typeface="Consolas"/>
                <a:cs typeface="Consolas"/>
              </a:rPr>
              <a:t>CalculateCommission</a:t>
            </a:r>
          </a:p>
          <a:p>
            <a:pPr marL="0" indent="0">
              <a:lnSpc>
                <a:spcPct val="100000"/>
              </a:lnSpc>
              <a:buNone/>
            </a:pPr>
            <a:r>
              <a:rPr lang="en-US" sz="850" dirty="0">
                <a:solidFill>
                  <a:srgbClr val="0B2A55"/>
                </a:solidFill>
                <a:latin typeface="Consolas"/>
                <a:ea typeface="Consolas"/>
                <a:cs typeface="Consolas"/>
              </a:rPr>
              <a:t>Response</a:t>
            </a:r>
            <a:r>
              <a:rPr lang="en-US" sz="850" b="1" dirty="0">
                <a:solidFill>
                  <a:srgbClr val="0062B8"/>
                </a:solidFill>
                <a:latin typeface="Consolas"/>
                <a:ea typeface="Consolas"/>
                <a:cs typeface="Consolas"/>
              </a:rPr>
              <a:t>Adc</a:t>
            </a:r>
            <a:r>
              <a:rPr lang="en-US" sz="850" dirty="0">
                <a:solidFill>
                  <a:srgbClr val="0B2A55"/>
                </a:solidFill>
                <a:latin typeface="Consolas"/>
                <a:ea typeface="Consolas"/>
                <a:cs typeface="Consolas"/>
              </a:rPr>
              <a:t>CalculateCommission</a:t>
            </a:r>
          </a:p>
          <a:p>
            <a:pPr marL="0" indent="0">
              <a:lnSpc>
                <a:spcPct val="100000"/>
              </a:lnSpc>
              <a:buNone/>
            </a:pPr>
            <a:r>
              <a:rPr lang="en-US" sz="850" dirty="0">
                <a:solidFill>
                  <a:srgbClr val="0B2A55"/>
                </a:solidFill>
                <a:latin typeface="Consolas"/>
                <a:ea typeface="Consolas"/>
                <a:cs typeface="Consolas"/>
              </a:rPr>
              <a:t>MonetaryValue</a:t>
            </a:r>
            <a:r>
              <a:rPr lang="en-US" sz="850" b="1" dirty="0">
                <a:solidFill>
                  <a:srgbClr val="0062B8"/>
                </a:solidFill>
                <a:latin typeface="Consolas"/>
                <a:ea typeface="Consolas"/>
                <a:cs typeface="Consolas"/>
              </a:rPr>
              <a:t>Adc</a:t>
            </a:r>
            <a:r>
              <a:rPr lang="en-US" sz="850" dirty="0">
                <a:solidFill>
                  <a:srgbClr val="0B2A55"/>
                </a:solidFill>
                <a:latin typeface="Consolas"/>
                <a:ea typeface="Consolas"/>
                <a:cs typeface="Consolas"/>
              </a:rPr>
              <a:t>Dto</a:t>
            </a:r>
          </a:p>
        </p:txBody>
      </p:sp>
      <p:sp>
        <p:nvSpPr>
          <p:cNvPr id="805" name="Code Example"/>
          <p:cNvSpPr/>
          <p:nvPr/>
        </p:nvSpPr>
        <p:spPr>
          <a:xfrm>
            <a:off x="6501384" y="3072384"/>
            <a:ext cx="4608576" cy="1033272"/>
          </a:xfrm>
          <a:prstGeom prst="roundRect">
            <a:avLst>
              <a:gd name="adj" fmla="val 6000"/>
            </a:avLst>
          </a:prstGeom>
          <a:solidFill>
            <a:srgbClr val="13233F"/>
          </a:solidFill>
          <a:ln>
            <a:noFill/>
          </a:ln>
        </p:spPr>
        <p:txBody>
          <a:bodyPr wrap="square" lIns="137160" tIns="109728" rIns="137160" bIns="109728" rtlCol="0" anchor="t"/>
          <a:lstStyle/>
          <a:p>
            <a:pPr marL="0" indent="0">
              <a:lnSpc>
                <a:spcPct val="100000"/>
              </a:lnSpc>
              <a:spcAft>
                <a:spcPts val="150"/>
              </a:spcAft>
              <a:buNone/>
            </a:pPr>
            <a:r>
              <a:rPr lang="en-US" sz="900" dirty="0">
                <a:solidFill>
                  <a:srgbClr val="93C5FD"/>
                </a:solidFill>
                <a:latin typeface="Consolas"/>
                <a:ea typeface="Consolas"/>
                <a:cs typeface="Consolas"/>
              </a:rPr>
              <a:t>class </a:t>
            </a:r>
            <a:r>
              <a:rPr lang="en-US" sz="900" dirty="0">
                <a:solidFill>
                  <a:srgbClr val="FFFFFF"/>
                </a:solidFill>
                <a:latin typeface="Consolas"/>
                <a:ea typeface="Consolas"/>
                <a:cs typeface="Consolas"/>
              </a:rPr>
              <a:t>RequestAdcCalculateCommission</a:t>
            </a:r>
            <a:r>
              <a:rPr lang="en-US" sz="900" dirty="0">
                <a:solidFill>
                  <a:srgbClr val="93C5FD"/>
                </a:solidFill>
                <a:latin typeface="Consolas"/>
                <a:ea typeface="Consolas"/>
                <a:cs typeface="Consolas"/>
              </a:rPr>
              <a:t> extends </a:t>
            </a:r>
            <a:r>
              <a:rPr lang="en-US" sz="900" b="1" dirty="0">
                <a:solidFill>
                  <a:srgbClr val="FCD34D"/>
                </a:solidFill>
                <a:latin typeface="Consolas"/>
                <a:ea typeface="Consolas"/>
                <a:cs typeface="Consolas"/>
              </a:rPr>
              <a:t>BaseRequest</a:t>
            </a:r>
          </a:p>
          <a:p>
            <a:pPr marL="0" indent="0">
              <a:lnSpc>
                <a:spcPct val="100000"/>
              </a:lnSpc>
              <a:spcAft>
                <a:spcPts val="150"/>
              </a:spcAft>
              <a:buNone/>
            </a:pPr>
            <a:r>
              <a:rPr lang="en-US" sz="900" dirty="0">
                <a:solidFill>
                  <a:srgbClr val="93C5FD"/>
                </a:solidFill>
                <a:latin typeface="Consolas"/>
                <a:ea typeface="Consolas"/>
                <a:cs typeface="Consolas"/>
              </a:rPr>
              <a:t>class </a:t>
            </a:r>
            <a:r>
              <a:rPr lang="en-US" sz="900" dirty="0">
                <a:solidFill>
                  <a:srgbClr val="FFFFFF"/>
                </a:solidFill>
                <a:latin typeface="Consolas"/>
                <a:ea typeface="Consolas"/>
                <a:cs typeface="Consolas"/>
              </a:rPr>
              <a:t>ResponseAdcCalculateCommission</a:t>
            </a:r>
            <a:r>
              <a:rPr lang="en-US" sz="900" dirty="0">
                <a:solidFill>
                  <a:srgbClr val="93C5FD"/>
                </a:solidFill>
                <a:latin typeface="Consolas"/>
                <a:ea typeface="Consolas"/>
                <a:cs typeface="Consolas"/>
              </a:rPr>
              <a:t> extends </a:t>
            </a:r>
            <a:r>
              <a:rPr lang="en-US" sz="900" b="1" dirty="0">
                <a:solidFill>
                  <a:srgbClr val="FCD34D"/>
                </a:solidFill>
                <a:latin typeface="Consolas"/>
                <a:ea typeface="Consolas"/>
                <a:cs typeface="Consolas"/>
              </a:rPr>
              <a:t>BaseResponse</a:t>
            </a:r>
          </a:p>
          <a:p>
            <a:pPr marL="0" indent="0">
              <a:lnSpc>
                <a:spcPct val="100000"/>
              </a:lnSpc>
              <a:spcAft>
                <a:spcPts val="150"/>
              </a:spcAft>
              <a:buNone/>
            </a:pPr>
            <a:r>
              <a:rPr lang="en-US" sz="900" dirty="0">
                <a:solidFill>
                  <a:srgbClr val="93C5FD"/>
                </a:solidFill>
                <a:latin typeface="Consolas"/>
                <a:ea typeface="Consolas"/>
                <a:cs typeface="Consolas"/>
              </a:rPr>
              <a:t>class </a:t>
            </a:r>
            <a:r>
              <a:rPr lang="en-US" sz="900" dirty="0">
                <a:solidFill>
                  <a:srgbClr val="FFFFFF"/>
                </a:solidFill>
                <a:latin typeface="Consolas"/>
                <a:ea typeface="Consolas"/>
                <a:cs typeface="Consolas"/>
              </a:rPr>
              <a:t>MonetaryValueAdcDto</a:t>
            </a:r>
            <a:r>
              <a:rPr lang="en-US" sz="900" dirty="0">
                <a:solidFill>
                  <a:srgbClr val="93C5FD"/>
                </a:solidFill>
                <a:latin typeface="Consolas"/>
                <a:ea typeface="Consolas"/>
                <a:cs typeface="Consolas"/>
              </a:rPr>
              <a:t> extends </a:t>
            </a:r>
            <a:r>
              <a:rPr lang="en-US" sz="900" b="1" dirty="0">
                <a:solidFill>
                  <a:srgbClr val="FCD34D"/>
                </a:solidFill>
                <a:latin typeface="Consolas"/>
                <a:ea typeface="Consolas"/>
                <a:cs typeface="Consolas"/>
              </a:rPr>
              <a:t>BaseRestDTO</a:t>
            </a:r>
          </a:p>
          <a:p>
            <a:pPr marL="0" indent="0">
              <a:lnSpc>
                <a:spcPct val="100000"/>
              </a:lnSpc>
              <a:buNone/>
            </a:pPr>
            <a:r>
              <a:rPr lang="en-US" sz="900" dirty="0">
                <a:solidFill>
                  <a:srgbClr val="93C5FD"/>
                </a:solidFill>
                <a:latin typeface="Consolas"/>
                <a:ea typeface="Consolas"/>
                <a:cs typeface="Consolas"/>
              </a:rPr>
              <a:t>    private </a:t>
            </a:r>
            <a:r>
              <a:rPr lang="en-US" sz="900" b="1" dirty="0">
                <a:solidFill>
                  <a:srgbClr val="FCD34D"/>
                </a:solidFill>
                <a:latin typeface="Consolas"/>
                <a:ea typeface="Consolas"/>
                <a:cs typeface="Consolas"/>
              </a:rPr>
              <a:t>BigDecimal</a:t>
            </a:r>
            <a:r>
              <a:rPr lang="en-US" sz="900" dirty="0">
                <a:solidFill>
                  <a:srgbClr val="FFFFFF"/>
                </a:solidFill>
                <a:latin typeface="Consolas"/>
                <a:ea typeface="Consolas"/>
                <a:cs typeface="Consolas"/>
              </a:rPr>
              <a:t> amount;</a:t>
            </a:r>
            <a:r>
              <a:rPr lang="en-US" sz="900" dirty="0">
                <a:solidFill>
                  <a:srgbClr val="94A3B8"/>
                </a:solidFill>
                <a:latin typeface="Consolas"/>
                <a:ea typeface="Consolas"/>
                <a:cs typeface="Consolas"/>
              </a:rPr>
              <a:t>   // Swagger: number</a:t>
            </a:r>
          </a:p>
        </p:txBody>
      </p:sp>
    </p:spTree>
    <p:extLst>
      <p:ext uri="{BB962C8B-B14F-4D97-AF65-F5344CB8AC3E}">
        <p14:creationId xmlns:p14="http://schemas.microsoft.com/office/powerpoint/2010/main" val="16060689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8FC"/>
        </a:solidFill>
        <a:effectLst/>
      </p:bgPr>
    </p:bg>
    <p:spTree>
      <p:nvGrpSpPr>
        <p:cNvPr id="1" name=""/>
        <p:cNvGrpSpPr/>
        <p:nvPr/>
      </p:nvGrpSpPr>
      <p:grpSpPr>
        <a:xfrm>
          <a:off x="0" y="0"/>
          <a:ext cx="0" cy="0"/>
          <a:chOff x="0" y="0"/>
          <a:chExt cx="0" cy="0"/>
        </a:xfrm>
      </p:grpSpPr>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10</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8" name="Text 5"/>
          <p:cNvSpPr/>
          <p:nvPr/>
        </p:nvSpPr>
        <p:spPr>
          <a:xfrm>
            <a:off x="813816" y="5623560"/>
            <a:ext cx="5120640" cy="274320"/>
          </a:xfrm>
          <a:prstGeom prst="rect">
            <a:avLst/>
          </a:prstGeom>
          <a:noFill/>
          <a:ln/>
        </p:spPr>
        <p:txBody>
          <a:bodyPr wrap="square" lIns="0" tIns="0" rIns="0" bIns="0" rtlCol="0" anchor="ctr"/>
          <a:lstStyle/>
          <a:p>
            <a:pPr marL="0" indent="0">
              <a:buNone/>
            </a:pPr>
            <a:r>
              <a:rPr lang="en-US" sz="1350" b="1" dirty="0">
                <a:solidFill>
                  <a:srgbClr val="0B2A55"/>
                </a:solidFill>
                <a:latin typeface="Calibri"/>
                <a:ea typeface="Calibri"/>
                <a:cs typeface="Calibri"/>
              </a:rPr>
              <a:t>01 - Tools Menüsünden Tek Tıkla Başlatma</a:t>
            </a:r>
            <a:endParaRPr lang="en-US" sz="1350" dirty="0"/>
          </a:p>
        </p:txBody>
      </p:sp>
      <p:sp>
        <p:nvSpPr>
          <p:cNvPr id="11" name="Text 7"/>
          <p:cNvSpPr/>
          <p:nvPr/>
        </p:nvSpPr>
        <p:spPr>
          <a:xfrm>
            <a:off x="6254496" y="5623560"/>
            <a:ext cx="5120640" cy="274320"/>
          </a:xfrm>
          <a:prstGeom prst="rect">
            <a:avLst/>
          </a:prstGeom>
          <a:noFill/>
          <a:ln/>
        </p:spPr>
        <p:txBody>
          <a:bodyPr wrap="square" lIns="0" tIns="0" rIns="0" bIns="0" rtlCol="0" anchor="ctr"/>
          <a:lstStyle/>
          <a:p>
            <a:pPr marL="0" indent="0">
              <a:buNone/>
            </a:pPr>
            <a:r>
              <a:rPr lang="en-US" sz="1350" b="1" dirty="0">
                <a:solidFill>
                  <a:srgbClr val="0B2A55"/>
                </a:solidFill>
                <a:latin typeface="Calibri"/>
                <a:ea typeface="Calibri"/>
                <a:cs typeface="Calibri"/>
              </a:rPr>
              <a:t>02 - Ağaç </a:t>
            </a:r>
            <a:r>
              <a:rPr lang="en-US" sz="1350" b="1" dirty="0" err="1">
                <a:solidFill>
                  <a:srgbClr val="0B2A55"/>
                </a:solidFill>
                <a:latin typeface="Calibri"/>
                <a:ea typeface="Calibri"/>
                <a:cs typeface="Calibri"/>
              </a:rPr>
              <a:t>Listesinden</a:t>
            </a:r>
            <a:r>
              <a:rPr lang="en-US" sz="1350" b="1" dirty="0">
                <a:solidFill>
                  <a:srgbClr val="0B2A55"/>
                </a:solidFill>
                <a:latin typeface="Calibri"/>
                <a:ea typeface="Calibri"/>
                <a:cs typeface="Calibri"/>
              </a:rPr>
              <a:t> </a:t>
            </a:r>
            <a:r>
              <a:rPr lang="tr-TR" sz="1350" b="1" dirty="0">
                <a:solidFill>
                  <a:srgbClr val="0B2A55"/>
                </a:solidFill>
                <a:latin typeface="Calibri"/>
                <a:ea typeface="Calibri"/>
                <a:cs typeface="Calibri"/>
              </a:rPr>
              <a:t>Servis</a:t>
            </a:r>
            <a:r>
              <a:rPr lang="en-US" sz="1350" b="1" dirty="0">
                <a:solidFill>
                  <a:srgbClr val="0B2A55"/>
                </a:solidFill>
                <a:latin typeface="Calibri"/>
                <a:ea typeface="Calibri"/>
                <a:cs typeface="Calibri"/>
              </a:rPr>
              <a:t> ve Hedef Paket Seçimi</a:t>
            </a:r>
            <a:endParaRPr lang="en-US" sz="1350" dirty="0"/>
          </a:p>
        </p:txBody>
      </p:sp>
      <p:sp>
        <p:nvSpPr>
          <p:cNvPr id="14" name="Shape 27">
            <a:extLst>
              <a:ext uri="{FF2B5EF4-FFF2-40B4-BE49-F238E27FC236}">
                <a16:creationId xmlns:a16="http://schemas.microsoft.com/office/drawing/2014/main" id="{2D60FFE1-2C9A-EE49-8659-77AEAFC1D2E4}"/>
              </a:ext>
            </a:extLst>
          </p:cNvPr>
          <p:cNvSpPr/>
          <p:nvPr/>
        </p:nvSpPr>
        <p:spPr>
          <a:xfrm>
            <a:off x="548640" y="1730905"/>
            <a:ext cx="5468112" cy="3621024"/>
          </a:xfrm>
          <a:prstGeom prst="roundRect">
            <a:avLst>
              <a:gd name="adj" fmla="val 2020"/>
            </a:avLst>
          </a:prstGeom>
          <a:solidFill>
            <a:srgbClr val="0A192F"/>
          </a:solidFill>
          <a:ln w="15240">
            <a:solidFill>
              <a:srgbClr val="004B93"/>
            </a:solidFill>
            <a:prstDash val="solid"/>
          </a:ln>
        </p:spPr>
        <p:txBody>
          <a:bodyPr/>
          <a:lstStyle/>
          <a:p>
            <a:endParaRPr lang="tr-TR"/>
          </a:p>
        </p:txBody>
      </p:sp>
      <p:pic>
        <p:nvPicPr>
          <p:cNvPr id="16" name="Image 1" descr="c:\Users\edalk\OneDrive\Masaüstü\sunum\görsel\chat_2_rag_kb.png">
            <a:extLst>
              <a:ext uri="{FF2B5EF4-FFF2-40B4-BE49-F238E27FC236}">
                <a16:creationId xmlns:a16="http://schemas.microsoft.com/office/drawing/2014/main" id="{291BDFC8-1F0C-5CA6-FB91-3C051C7E159C}"/>
              </a:ext>
            </a:extLst>
          </p:cNvPr>
          <p:cNvPicPr>
            <a:picLocks noChangeAspect="1"/>
          </p:cNvPicPr>
          <p:nvPr/>
        </p:nvPicPr>
        <p:blipFill>
          <a:blip r:embed="rId3"/>
          <a:stretch>
            <a:fillRect/>
          </a:stretch>
        </p:blipFill>
        <p:spPr>
          <a:xfrm>
            <a:off x="630936" y="1979676"/>
            <a:ext cx="5303520" cy="3119051"/>
          </a:xfrm>
          <a:prstGeom prst="rect">
            <a:avLst/>
          </a:prstGeom>
        </p:spPr>
      </p:pic>
      <p:sp>
        <p:nvSpPr>
          <p:cNvPr id="17" name="Shape 30">
            <a:extLst>
              <a:ext uri="{FF2B5EF4-FFF2-40B4-BE49-F238E27FC236}">
                <a16:creationId xmlns:a16="http://schemas.microsoft.com/office/drawing/2014/main" id="{AB9683A0-60C7-C3A9-DBCF-6B8532535227}"/>
              </a:ext>
            </a:extLst>
          </p:cNvPr>
          <p:cNvSpPr/>
          <p:nvPr/>
        </p:nvSpPr>
        <p:spPr>
          <a:xfrm>
            <a:off x="6254496" y="1730905"/>
            <a:ext cx="5468112" cy="3621024"/>
          </a:xfrm>
          <a:prstGeom prst="roundRect">
            <a:avLst>
              <a:gd name="adj" fmla="val 2020"/>
            </a:avLst>
          </a:prstGeom>
          <a:solidFill>
            <a:srgbClr val="0A192F"/>
          </a:solidFill>
          <a:ln w="15240">
            <a:solidFill>
              <a:srgbClr val="6D28D9"/>
            </a:solidFill>
            <a:prstDash val="solid"/>
          </a:ln>
        </p:spPr>
        <p:txBody>
          <a:bodyPr/>
          <a:lstStyle/>
          <a:p>
            <a:endParaRPr lang="tr-TR"/>
          </a:p>
        </p:txBody>
      </p:sp>
      <p:pic>
        <p:nvPicPr>
          <p:cNvPr id="19" name="Image 2" descr="c:\Users\edalk\OneDrive\Masaüstü\sunum\görsel\chat_3_templates_slash.png">
            <a:extLst>
              <a:ext uri="{FF2B5EF4-FFF2-40B4-BE49-F238E27FC236}">
                <a16:creationId xmlns:a16="http://schemas.microsoft.com/office/drawing/2014/main" id="{1E889970-0326-EE89-E041-0E1B03E75B6F}"/>
              </a:ext>
            </a:extLst>
          </p:cNvPr>
          <p:cNvPicPr>
            <a:picLocks noChangeAspect="1"/>
          </p:cNvPicPr>
          <p:nvPr/>
        </p:nvPicPr>
        <p:blipFill>
          <a:blip r:embed="rId4"/>
          <a:stretch>
            <a:fillRect/>
          </a:stretch>
        </p:blipFill>
        <p:spPr>
          <a:xfrm>
            <a:off x="6336792" y="1979676"/>
            <a:ext cx="5303520" cy="3119052"/>
          </a:xfrm>
          <a:prstGeom prst="rect">
            <a:avLst/>
          </a:prstGeom>
        </p:spPr>
      </p:pic>
      <p:sp>
        <p:nvSpPr>
          <p:cNvPr id="34" name="Shape 0">
            <a:extLst>
              <a:ext uri="{FF2B5EF4-FFF2-40B4-BE49-F238E27FC236}">
                <a16:creationId xmlns:a16="http://schemas.microsoft.com/office/drawing/2014/main" id="{6850B767-259A-3F47-D923-FEB60330DB6A}"/>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35" name="Shape 1">
            <a:extLst>
              <a:ext uri="{FF2B5EF4-FFF2-40B4-BE49-F238E27FC236}">
                <a16:creationId xmlns:a16="http://schemas.microsoft.com/office/drawing/2014/main" id="{E44881B0-C49B-8C9B-9A6E-C856961145C3}"/>
              </a:ext>
            </a:extLst>
          </p:cNvPr>
          <p:cNvSpPr/>
          <p:nvPr/>
        </p:nvSpPr>
        <p:spPr>
          <a:xfrm>
            <a:off x="-18745"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36" name="Image 0" descr="c:\Users\edalk\OneDrive\Masaüstü\sunum\görsel\ykb_teknoloji_logo.png">
            <a:extLst>
              <a:ext uri="{FF2B5EF4-FFF2-40B4-BE49-F238E27FC236}">
                <a16:creationId xmlns:a16="http://schemas.microsoft.com/office/drawing/2014/main" id="{522BFFDC-EA95-44C5-2665-31F877729360}"/>
              </a:ext>
            </a:extLst>
          </p:cNvPr>
          <p:cNvPicPr>
            <a:picLocks noChangeAspect="1"/>
          </p:cNvPicPr>
          <p:nvPr/>
        </p:nvPicPr>
        <p:blipFill>
          <a:blip r:embed="rId5"/>
          <a:stretch>
            <a:fillRect/>
          </a:stretch>
        </p:blipFill>
        <p:spPr>
          <a:xfrm>
            <a:off x="10232136" y="233172"/>
            <a:ext cx="1755648" cy="704088"/>
          </a:xfrm>
          <a:prstGeom prst="rect">
            <a:avLst/>
          </a:prstGeom>
        </p:spPr>
      </p:pic>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Eklenti başlatma </a:t>
            </a:r>
            <a:r>
              <a:rPr lang="en-US" sz="2800" b="1" dirty="0" err="1">
                <a:solidFill>
                  <a:srgbClr val="0B2A55"/>
                </a:solidFill>
                <a:latin typeface="Calibri"/>
                <a:ea typeface="Calibri"/>
                <a:cs typeface="Calibri"/>
              </a:rPr>
              <a:t>ve</a:t>
            </a:r>
            <a:r>
              <a:rPr lang="en-US" sz="2800" b="1" dirty="0">
                <a:solidFill>
                  <a:srgbClr val="0B2A55"/>
                </a:solidFill>
                <a:latin typeface="Calibri"/>
                <a:ea typeface="Calibri"/>
                <a:cs typeface="Calibri"/>
              </a:rPr>
              <a:t> </a:t>
            </a:r>
            <a:r>
              <a:rPr lang="tr-TR" sz="2800" b="1" dirty="0">
                <a:solidFill>
                  <a:srgbClr val="0B2A55"/>
                </a:solidFill>
                <a:latin typeface="Calibri"/>
                <a:ea typeface="Calibri"/>
                <a:cs typeface="Calibri"/>
              </a:rPr>
              <a:t>servis </a:t>
            </a:r>
            <a:r>
              <a:rPr lang="en-US" sz="2800" b="1" dirty="0" err="1">
                <a:solidFill>
                  <a:srgbClr val="0B2A55"/>
                </a:solidFill>
                <a:latin typeface="Calibri"/>
                <a:ea typeface="Calibri"/>
                <a:cs typeface="Calibri"/>
              </a:rPr>
              <a:t>seçimi</a:t>
            </a:r>
            <a:endParaRPr lang="en-US" sz="2800" dirty="0"/>
          </a:p>
        </p:txBody>
      </p:sp>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2 - EKRANLAR</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a:effectLst/>
      </p:bgPr>
    </p:bg>
    <p:spTree>
      <p:nvGrpSpPr>
        <p:cNvPr id="1" name=""/>
        <p:cNvGrpSpPr/>
        <p:nvPr/>
      </p:nvGrpSpPr>
      <p:grpSpPr>
        <a:xfrm>
          <a:off x="0" y="0"/>
          <a:ext cx="0" cy="0"/>
          <a:chOff x="0" y="0"/>
          <a:chExt cx="0" cy="0"/>
        </a:xfrm>
      </p:grpSpPr>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11</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813816" y="1737360"/>
            <a:ext cx="3291840" cy="4160520"/>
          </a:xfrm>
          <a:prstGeom prst="roundRect">
            <a:avLst>
              <a:gd name="adj" fmla="val 2222"/>
            </a:avLst>
          </a:prstGeom>
          <a:solidFill>
            <a:srgbClr val="FFFFFF"/>
          </a:solidFill>
          <a:ln w="9525">
            <a:solidFill>
              <a:srgbClr val="0B2955"/>
            </a:solidFill>
            <a:prstDash val="solid"/>
          </a:ln>
        </p:spPr>
        <p:txBody>
          <a:bodyPr/>
          <a:lstStyle/>
          <a:p>
            <a:endParaRPr lang="tr-TR"/>
          </a:p>
        </p:txBody>
      </p:sp>
      <p:sp>
        <p:nvSpPr>
          <p:cNvPr id="7" name="Text 5"/>
          <p:cNvSpPr/>
          <p:nvPr/>
        </p:nvSpPr>
        <p:spPr>
          <a:xfrm>
            <a:off x="1069848" y="1965960"/>
            <a:ext cx="2779776" cy="384048"/>
          </a:xfrm>
          <a:prstGeom prst="rect">
            <a:avLst/>
          </a:prstGeom>
          <a:noFill/>
          <a:ln/>
        </p:spPr>
        <p:txBody>
          <a:bodyPr wrap="square" lIns="0" tIns="0" rIns="0" bIns="0" rtlCol="0" anchor="ctr"/>
          <a:lstStyle/>
          <a:p>
            <a:pPr marL="0" indent="0">
              <a:buNone/>
            </a:pPr>
            <a:r>
              <a:rPr lang="en-US" sz="2400" b="1" dirty="0">
                <a:solidFill>
                  <a:srgbClr val="0062B8"/>
                </a:solidFill>
                <a:latin typeface="Calibri"/>
                <a:ea typeface="Calibri"/>
                <a:cs typeface="Calibri"/>
              </a:rPr>
              <a:t>03</a:t>
            </a:r>
            <a:endParaRPr lang="en-US" sz="2400" dirty="0"/>
          </a:p>
        </p:txBody>
      </p:sp>
      <p:sp>
        <p:nvSpPr>
          <p:cNvPr id="8" name="Text 6"/>
          <p:cNvSpPr/>
          <p:nvPr/>
        </p:nvSpPr>
        <p:spPr>
          <a:xfrm>
            <a:off x="1069848" y="2441448"/>
            <a:ext cx="2779776"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OTOMATİK KOD VE SQL</a:t>
            </a:r>
            <a:endParaRPr lang="en-US" sz="1100" dirty="0"/>
          </a:p>
        </p:txBody>
      </p:sp>
      <p:sp>
        <p:nvSpPr>
          <p:cNvPr id="9" name="Text 7"/>
          <p:cNvSpPr/>
          <p:nvPr/>
        </p:nvSpPr>
        <p:spPr>
          <a:xfrm>
            <a:off x="1069848" y="2715768"/>
            <a:ext cx="2779776" cy="685800"/>
          </a:xfrm>
          <a:prstGeom prst="rect">
            <a:avLst/>
          </a:prstGeom>
          <a:noFill/>
          <a:ln/>
        </p:spPr>
        <p:txBody>
          <a:bodyPr wrap="square" lIns="0" tIns="0" rIns="0" bIns="0" rtlCol="0" anchor="t"/>
          <a:lstStyle/>
          <a:p>
            <a:pPr marL="0" indent="0">
              <a:buNone/>
            </a:pPr>
            <a:r>
              <a:rPr lang="en-US" sz="1700" b="1" dirty="0">
                <a:solidFill>
                  <a:srgbClr val="0B2A55"/>
                </a:solidFill>
                <a:latin typeface="Calibri"/>
                <a:ea typeface="Calibri"/>
                <a:cs typeface="Calibri"/>
              </a:rPr>
              <a:t>Saniyeler İçinde Hazır Entegrasyon</a:t>
            </a:r>
            <a:endParaRPr lang="en-US" sz="1700" dirty="0"/>
          </a:p>
        </p:txBody>
      </p:sp>
      <p:sp>
        <p:nvSpPr>
          <p:cNvPr id="10" name="Text 8"/>
          <p:cNvSpPr/>
          <p:nvPr/>
        </p:nvSpPr>
        <p:spPr>
          <a:xfrm>
            <a:off x="1069848" y="3493008"/>
            <a:ext cx="2779776" cy="2221992"/>
          </a:xfrm>
          <a:prstGeom prst="rect">
            <a:avLst/>
          </a:prstGeom>
          <a:noFill/>
          <a:ln/>
        </p:spPr>
        <p:txBody>
          <a:bodyPr wrap="square" lIns="0" tIns="0" rIns="0" bIns="0" rtlCol="0" anchor="t"/>
          <a:lstStyle/>
          <a:p>
            <a:pPr marL="0" indent="0">
              <a:lnSpc>
                <a:spcPct val="115000"/>
              </a:lnSpc>
              <a:buNone/>
            </a:pPr>
            <a:r>
              <a:rPr lang="en-US" sz="1350" dirty="0">
                <a:solidFill>
                  <a:srgbClr val="3C4B63"/>
                </a:solidFill>
                <a:latin typeface="Calibri"/>
                <a:ea typeface="Calibri"/>
                <a:cs typeface="Calibri"/>
              </a:rPr>
              <a:t>• uplift-backend (Adc) ve uplift-remote DTO sınıfları</a:t>
            </a:r>
            <a:endParaRPr lang="en-US" sz="1350" dirty="0"/>
          </a:p>
          <a:p>
            <a:pPr marL="0" indent="0">
              <a:lnSpc>
                <a:spcPct val="115000"/>
              </a:lnSpc>
              <a:buNone/>
            </a:pPr>
            <a:endParaRPr lang="en-US" sz="1350" dirty="0"/>
          </a:p>
          <a:p>
            <a:pPr marL="0" indent="0">
              <a:lnSpc>
                <a:spcPct val="115000"/>
              </a:lnSpc>
              <a:buNone/>
            </a:pPr>
            <a:r>
              <a:rPr lang="en-US" sz="1350" dirty="0">
                <a:solidFill>
                  <a:srgbClr val="3C4B63"/>
                </a:solidFill>
                <a:latin typeface="Calibri"/>
                <a:ea typeface="Calibri"/>
                <a:cs typeface="Calibri"/>
              </a:rPr>
              <a:t>• IBankoService ve BankoMapper metot güncellemeleri</a:t>
            </a:r>
            <a:endParaRPr lang="en-US" sz="1350" dirty="0"/>
          </a:p>
          <a:p>
            <a:pPr marL="0" indent="0">
              <a:lnSpc>
                <a:spcPct val="115000"/>
              </a:lnSpc>
              <a:buNone/>
            </a:pPr>
            <a:endParaRPr lang="en-US" sz="1350" dirty="0"/>
          </a:p>
          <a:p>
            <a:pPr marL="0" indent="0">
              <a:lnSpc>
                <a:spcPct val="115000"/>
              </a:lnSpc>
              <a:buNone/>
            </a:pPr>
            <a:r>
              <a:rPr lang="en-US" sz="1350" dirty="0">
                <a:solidFill>
                  <a:srgbClr val="3C4B63"/>
                </a:solidFill>
                <a:latin typeface="Calibri"/>
                <a:ea typeface="Calibri"/>
                <a:cs typeface="Calibri"/>
              </a:rPr>
              <a:t>• NGI_REST_REMOTE_REGISTRIES ortam SQL scripti</a:t>
            </a:r>
            <a:endParaRPr lang="en-US" sz="1350" dirty="0"/>
          </a:p>
        </p:txBody>
      </p:sp>
      <p:sp>
        <p:nvSpPr>
          <p:cNvPr id="11" name="Shape 9"/>
          <p:cNvSpPr/>
          <p:nvPr/>
        </p:nvSpPr>
        <p:spPr>
          <a:xfrm>
            <a:off x="4343400" y="1737360"/>
            <a:ext cx="7031736" cy="4160520"/>
          </a:xfrm>
          <a:prstGeom prst="roundRect">
            <a:avLst>
              <a:gd name="adj" fmla="val 1758"/>
            </a:avLst>
          </a:prstGeom>
          <a:solidFill>
            <a:srgbClr val="FFFFFF"/>
          </a:solidFill>
          <a:ln w="9525">
            <a:solidFill>
              <a:srgbClr val="0B2955"/>
            </a:solidFill>
            <a:prstDash val="solid"/>
          </a:ln>
        </p:spPr>
        <p:txBody>
          <a:bodyPr/>
          <a:lstStyle/>
          <a:p>
            <a:endParaRPr lang="tr-TR"/>
          </a:p>
        </p:txBody>
      </p:sp>
      <p:pic>
        <p:nvPicPr>
          <p:cNvPr id="12" name="Image 0" descr="c:\Users\edalk\OneDrive\Masaüstü\sunum\görsel\resim.png"/>
          <p:cNvPicPr>
            <a:picLocks noChangeAspect="1"/>
          </p:cNvPicPr>
          <p:nvPr/>
        </p:nvPicPr>
        <p:blipFill>
          <a:blip r:embed="rId3"/>
          <a:stretch>
            <a:fillRect/>
          </a:stretch>
        </p:blipFill>
        <p:spPr>
          <a:xfrm>
            <a:off x="4704210" y="1828800"/>
            <a:ext cx="6310116" cy="3977640"/>
          </a:xfrm>
          <a:prstGeom prst="rect">
            <a:avLst/>
          </a:prstGeom>
        </p:spPr>
      </p:pic>
      <p:sp>
        <p:nvSpPr>
          <p:cNvPr id="14" name="Shape 0">
            <a:extLst>
              <a:ext uri="{FF2B5EF4-FFF2-40B4-BE49-F238E27FC236}">
                <a16:creationId xmlns:a16="http://schemas.microsoft.com/office/drawing/2014/main" id="{3B0590AC-E1CF-540A-A169-DD431B14C324}"/>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15" name="Shape 1">
            <a:extLst>
              <a:ext uri="{FF2B5EF4-FFF2-40B4-BE49-F238E27FC236}">
                <a16:creationId xmlns:a16="http://schemas.microsoft.com/office/drawing/2014/main" id="{9D632564-D936-F48E-F353-D795A787A925}"/>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16" name="Image 0" descr="c:\Users\edalk\OneDrive\Masaüstü\sunum\görsel\ykb_teknoloji_logo.png">
            <a:extLst>
              <a:ext uri="{FF2B5EF4-FFF2-40B4-BE49-F238E27FC236}">
                <a16:creationId xmlns:a16="http://schemas.microsoft.com/office/drawing/2014/main" id="{0E38986B-651B-F079-DD1C-FA45AEBDDB38}"/>
              </a:ext>
            </a:extLst>
          </p:cNvPr>
          <p:cNvPicPr>
            <a:picLocks noChangeAspect="1"/>
          </p:cNvPicPr>
          <p:nvPr/>
        </p:nvPicPr>
        <p:blipFill>
          <a:blip r:embed="rId4"/>
          <a:stretch>
            <a:fillRect/>
          </a:stretch>
        </p:blipFill>
        <p:spPr>
          <a:xfrm>
            <a:off x="10232136" y="233172"/>
            <a:ext cx="1755648" cy="704088"/>
          </a:xfrm>
          <a:prstGeom prst="rect">
            <a:avLst/>
          </a:prstGeom>
        </p:spPr>
      </p:pic>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Otomatik üretilen DTO sınıfları, Mapper ve hazır SQL kaydı</a:t>
            </a:r>
            <a:endParaRPr lang="en-US" sz="2800" dirty="0"/>
          </a:p>
        </p:txBody>
      </p:sp>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2 - ÜRETİLEN ÇIKTILAR</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5F8FC"/>
        </a:solidFill>
        <a:effectLst/>
      </p:bgPr>
    </p:bg>
    <p:spTree>
      <p:nvGrpSpPr>
        <p:cNvPr id="1" name=""/>
        <p:cNvGrpSpPr/>
        <p:nvPr/>
      </p:nvGrpSpPr>
      <p:grpSpPr>
        <a:xfrm>
          <a:off x="0" y="0"/>
          <a:ext cx="0" cy="0"/>
          <a:chOff x="0" y="0"/>
          <a:chExt cx="0" cy="0"/>
        </a:xfrm>
      </p:grpSpPr>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12</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813816" y="1737360"/>
            <a:ext cx="3291840" cy="4160520"/>
          </a:xfrm>
          <a:prstGeom prst="roundRect">
            <a:avLst>
              <a:gd name="adj" fmla="val 2222"/>
            </a:avLst>
          </a:prstGeom>
          <a:solidFill>
            <a:srgbClr val="FFFFFF"/>
          </a:solidFill>
          <a:ln w="9525">
            <a:solidFill>
              <a:srgbClr val="0B2955"/>
            </a:solidFill>
            <a:prstDash val="solid"/>
          </a:ln>
        </p:spPr>
        <p:txBody>
          <a:bodyPr/>
          <a:lstStyle/>
          <a:p>
            <a:endParaRPr lang="tr-TR"/>
          </a:p>
        </p:txBody>
      </p:sp>
      <p:sp>
        <p:nvSpPr>
          <p:cNvPr id="7" name="Text 5"/>
          <p:cNvSpPr/>
          <p:nvPr/>
        </p:nvSpPr>
        <p:spPr>
          <a:xfrm>
            <a:off x="1069848" y="1965960"/>
            <a:ext cx="2779776" cy="384048"/>
          </a:xfrm>
          <a:prstGeom prst="rect">
            <a:avLst/>
          </a:prstGeom>
          <a:noFill/>
          <a:ln/>
        </p:spPr>
        <p:txBody>
          <a:bodyPr wrap="square" lIns="0" tIns="0" rIns="0" bIns="0" rtlCol="0" anchor="ctr"/>
          <a:lstStyle/>
          <a:p>
            <a:pPr marL="0" indent="0">
              <a:buNone/>
            </a:pPr>
            <a:r>
              <a:rPr lang="en-US" sz="2400" b="1" dirty="0">
                <a:solidFill>
                  <a:srgbClr val="0062B8"/>
                </a:solidFill>
                <a:latin typeface="Calibri"/>
                <a:ea typeface="Calibri"/>
                <a:cs typeface="Calibri"/>
              </a:rPr>
              <a:t>04</a:t>
            </a:r>
            <a:endParaRPr lang="en-US" sz="2400" dirty="0"/>
          </a:p>
        </p:txBody>
      </p:sp>
      <p:sp>
        <p:nvSpPr>
          <p:cNvPr id="8" name="Text 6"/>
          <p:cNvSpPr/>
          <p:nvPr/>
        </p:nvSpPr>
        <p:spPr>
          <a:xfrm>
            <a:off x="1069848" y="2441448"/>
            <a:ext cx="2779776"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KOD ÜRETİMİ</a:t>
            </a:r>
            <a:endParaRPr lang="en-US" sz="1100" dirty="0"/>
          </a:p>
        </p:txBody>
      </p:sp>
      <p:sp>
        <p:nvSpPr>
          <p:cNvPr id="9" name="Text 7"/>
          <p:cNvSpPr/>
          <p:nvPr/>
        </p:nvSpPr>
        <p:spPr>
          <a:xfrm>
            <a:off x="1069848" y="2715768"/>
            <a:ext cx="2779776" cy="685800"/>
          </a:xfrm>
          <a:prstGeom prst="rect">
            <a:avLst/>
          </a:prstGeom>
          <a:noFill/>
          <a:ln/>
        </p:spPr>
        <p:txBody>
          <a:bodyPr wrap="square" lIns="0" tIns="0" rIns="0" bIns="0" rtlCol="0" anchor="t"/>
          <a:lstStyle/>
          <a:p>
            <a:pPr marL="0" indent="0">
              <a:buNone/>
            </a:pPr>
            <a:r>
              <a:rPr lang="en-US" sz="1700" b="1" dirty="0">
                <a:solidFill>
                  <a:srgbClr val="0B2A55"/>
                </a:solidFill>
                <a:latin typeface="Calibri"/>
                <a:ea typeface="Calibri"/>
                <a:cs typeface="Calibri"/>
              </a:rPr>
              <a:t>Mevcut Koda Güvenli Ekleme</a:t>
            </a:r>
            <a:endParaRPr lang="en-US" sz="1700" dirty="0"/>
          </a:p>
        </p:txBody>
      </p:sp>
      <p:sp>
        <p:nvSpPr>
          <p:cNvPr id="10" name="Text 8"/>
          <p:cNvSpPr/>
          <p:nvPr/>
        </p:nvSpPr>
        <p:spPr>
          <a:xfrm>
            <a:off x="1069848" y="3493008"/>
            <a:ext cx="2779776" cy="2221992"/>
          </a:xfrm>
          <a:prstGeom prst="rect">
            <a:avLst/>
          </a:prstGeom>
          <a:noFill/>
          <a:ln/>
        </p:spPr>
        <p:txBody>
          <a:bodyPr wrap="square" lIns="0" tIns="0" rIns="0" bIns="0" rtlCol="0" anchor="t"/>
          <a:lstStyle/>
          <a:p>
            <a:pPr marL="0" indent="0">
              <a:lnSpc>
                <a:spcPct val="115000"/>
              </a:lnSpc>
              <a:buNone/>
            </a:pPr>
            <a:r>
              <a:rPr lang="en-US" sz="1350" dirty="0">
                <a:solidFill>
                  <a:srgbClr val="3C4B63"/>
                </a:solidFill>
                <a:latin typeface="Calibri"/>
                <a:ea typeface="Calibri"/>
                <a:cs typeface="Calibri"/>
              </a:rPr>
              <a:t>• IBankoService arayüzüne yeni servis metotları</a:t>
            </a:r>
            <a:endParaRPr lang="en-US" sz="1350" dirty="0"/>
          </a:p>
          <a:p>
            <a:pPr marL="0" indent="0">
              <a:lnSpc>
                <a:spcPct val="115000"/>
              </a:lnSpc>
              <a:buNone/>
            </a:pPr>
            <a:endParaRPr lang="en-US" sz="1350" dirty="0"/>
          </a:p>
          <a:p>
            <a:pPr marL="0" indent="0">
              <a:lnSpc>
                <a:spcPct val="115000"/>
              </a:lnSpc>
              <a:buNone/>
            </a:pPr>
            <a:r>
              <a:rPr lang="en-US" sz="1350" dirty="0">
                <a:solidFill>
                  <a:srgbClr val="3C4B63"/>
                </a:solidFill>
                <a:latin typeface="Calibri"/>
                <a:ea typeface="Calibri"/>
                <a:cs typeface="Calibri"/>
              </a:rPr>
              <a:t>• BankoMapper içinde katmanlar arası dönüştürücü metotlar</a:t>
            </a:r>
            <a:endParaRPr lang="en-US" sz="1350" dirty="0"/>
          </a:p>
          <a:p>
            <a:pPr marL="0" indent="0">
              <a:lnSpc>
                <a:spcPct val="115000"/>
              </a:lnSpc>
              <a:buNone/>
            </a:pPr>
            <a:endParaRPr lang="en-US" sz="1350" dirty="0"/>
          </a:p>
          <a:p>
            <a:pPr marL="0" indent="0">
              <a:lnSpc>
                <a:spcPct val="115000"/>
              </a:lnSpc>
              <a:buNone/>
            </a:pPr>
            <a:r>
              <a:rPr lang="en-US" sz="1350" dirty="0">
                <a:solidFill>
                  <a:srgbClr val="3C4B63"/>
                </a:solidFill>
                <a:latin typeface="Calibri"/>
                <a:ea typeface="Calibri"/>
                <a:cs typeface="Calibri"/>
              </a:rPr>
              <a:t>• RequestAssignTransferOrder gibi DTO sınıfları, Swagger alan tipleriyle</a:t>
            </a:r>
            <a:endParaRPr lang="en-US" sz="1350" dirty="0"/>
          </a:p>
        </p:txBody>
      </p:sp>
      <p:sp>
        <p:nvSpPr>
          <p:cNvPr id="11" name="Shape 9"/>
          <p:cNvSpPr/>
          <p:nvPr/>
        </p:nvSpPr>
        <p:spPr>
          <a:xfrm>
            <a:off x="4343400" y="1737360"/>
            <a:ext cx="7031736" cy="4160520"/>
          </a:xfrm>
          <a:prstGeom prst="roundRect">
            <a:avLst>
              <a:gd name="adj" fmla="val 1758"/>
            </a:avLst>
          </a:prstGeom>
          <a:solidFill>
            <a:srgbClr val="FFFFFF"/>
          </a:solidFill>
          <a:ln w="9525">
            <a:solidFill>
              <a:srgbClr val="0B2955"/>
            </a:solidFill>
            <a:prstDash val="solid"/>
          </a:ln>
        </p:spPr>
        <p:txBody>
          <a:bodyPr/>
          <a:lstStyle/>
          <a:p>
            <a:endParaRPr lang="tr-TR"/>
          </a:p>
        </p:txBody>
      </p:sp>
      <p:pic>
        <p:nvPicPr>
          <p:cNvPr id="12" name="Image 0" descr="c:\Users\edalk\OneDrive\Masaüstü\sunum\görsel\resim.png"/>
          <p:cNvPicPr>
            <a:picLocks noChangeAspect="1"/>
          </p:cNvPicPr>
          <p:nvPr/>
        </p:nvPicPr>
        <p:blipFill>
          <a:blip r:embed="rId3"/>
          <a:stretch>
            <a:fillRect/>
          </a:stretch>
        </p:blipFill>
        <p:spPr>
          <a:xfrm>
            <a:off x="4704210" y="1828800"/>
            <a:ext cx="6310116" cy="3977640"/>
          </a:xfrm>
          <a:prstGeom prst="rect">
            <a:avLst/>
          </a:prstGeom>
        </p:spPr>
      </p:pic>
      <p:sp>
        <p:nvSpPr>
          <p:cNvPr id="14" name="Shape 0">
            <a:extLst>
              <a:ext uri="{FF2B5EF4-FFF2-40B4-BE49-F238E27FC236}">
                <a16:creationId xmlns:a16="http://schemas.microsoft.com/office/drawing/2014/main" id="{3B0590AC-E1CF-540A-A169-DD431B14C324}"/>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15" name="Shape 1">
            <a:extLst>
              <a:ext uri="{FF2B5EF4-FFF2-40B4-BE49-F238E27FC236}">
                <a16:creationId xmlns:a16="http://schemas.microsoft.com/office/drawing/2014/main" id="{9D632564-D936-F48E-F353-D795A787A925}"/>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16" name="Image 0" descr="c:\Users\edalk\OneDrive\Masaüstü\sunum\görsel\ykb_teknoloji_logo.png">
            <a:extLst>
              <a:ext uri="{FF2B5EF4-FFF2-40B4-BE49-F238E27FC236}">
                <a16:creationId xmlns:a16="http://schemas.microsoft.com/office/drawing/2014/main" id="{0E38986B-651B-F079-DD1C-FA45AEBDDB38}"/>
              </a:ext>
            </a:extLst>
          </p:cNvPr>
          <p:cNvPicPr>
            <a:picLocks noChangeAspect="1"/>
          </p:cNvPicPr>
          <p:nvPr/>
        </p:nvPicPr>
        <p:blipFill>
          <a:blip r:embed="rId4"/>
          <a:stretch>
            <a:fillRect/>
          </a:stretch>
        </p:blipFill>
        <p:spPr>
          <a:xfrm>
            <a:off x="10232136" y="233172"/>
            <a:ext cx="1755648" cy="704088"/>
          </a:xfrm>
          <a:prstGeom prst="rect">
            <a:avLst/>
          </a:prstGeom>
        </p:spPr>
      </p:pic>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Servis arayüzü, Mapper ve DTO sınıflarına eklenen kod</a:t>
            </a:r>
            <a:endParaRPr lang="en-US" sz="2800" dirty="0"/>
          </a:p>
        </p:txBody>
      </p:sp>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2 - ÜRETİLEN KOD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5F8FC"/>
        </a:solidFill>
        <a:effectLst/>
      </p:bgPr>
    </p:bg>
    <p:spTree>
      <p:nvGrpSpPr>
        <p:cNvPr id="1" name=""/>
        <p:cNvGrpSpPr/>
        <p:nvPr/>
      </p:nvGrpSpPr>
      <p:grpSpPr>
        <a:xfrm>
          <a:off x="0" y="0"/>
          <a:ext cx="0" cy="0"/>
          <a:chOff x="0" y="0"/>
          <a:chExt cx="0" cy="0"/>
        </a:xfrm>
      </p:grpSpPr>
      <p:sp>
        <p:nvSpPr>
          <p:cNvPr id="23" name="Shape 4">
            <a:extLst>
              <a:ext uri="{FF2B5EF4-FFF2-40B4-BE49-F238E27FC236}">
                <a16:creationId xmlns:a16="http://schemas.microsoft.com/office/drawing/2014/main" id="{DB089C82-A77F-15B6-47A5-6EAF9304EC2A}"/>
              </a:ext>
            </a:extLst>
          </p:cNvPr>
          <p:cNvSpPr/>
          <p:nvPr/>
        </p:nvSpPr>
        <p:spPr>
          <a:xfrm>
            <a:off x="7735824" y="1682496"/>
            <a:ext cx="3730752" cy="1709928"/>
          </a:xfrm>
          <a:prstGeom prst="roundRect">
            <a:avLst>
              <a:gd name="adj" fmla="val 2105"/>
            </a:avLst>
          </a:prstGeom>
          <a:solidFill>
            <a:srgbClr val="0B2A55"/>
          </a:solidFill>
          <a:ln w="12700">
            <a:solidFill>
              <a:srgbClr val="0B2A55"/>
            </a:solidFill>
            <a:prstDash val="solid"/>
          </a:ln>
        </p:spPr>
        <p:txBody>
          <a:bodyPr/>
          <a:lstStyle/>
          <a:p>
            <a:endParaRPr lang="tr-TR"/>
          </a:p>
        </p:txBody>
      </p:sp>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13</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813816" y="1737360"/>
            <a:ext cx="2971800" cy="4160520"/>
          </a:xfrm>
          <a:prstGeom prst="roundRect">
            <a:avLst>
              <a:gd name="adj" fmla="val 2105"/>
            </a:avLst>
          </a:prstGeom>
          <a:solidFill>
            <a:srgbClr val="0B2A55"/>
          </a:solidFill>
          <a:ln w="12700">
            <a:solidFill>
              <a:srgbClr val="0B2A55"/>
            </a:solidFill>
            <a:prstDash val="solid"/>
          </a:ln>
        </p:spPr>
        <p:txBody>
          <a:bodyPr/>
          <a:lstStyle/>
          <a:p>
            <a:endParaRPr lang="tr-TR"/>
          </a:p>
        </p:txBody>
      </p:sp>
      <p:sp>
        <p:nvSpPr>
          <p:cNvPr id="7" name="Text 5"/>
          <p:cNvSpPr/>
          <p:nvPr/>
        </p:nvSpPr>
        <p:spPr>
          <a:xfrm>
            <a:off x="1069848" y="1965960"/>
            <a:ext cx="2459736" cy="384048"/>
          </a:xfrm>
          <a:prstGeom prst="rect">
            <a:avLst/>
          </a:prstGeom>
          <a:noFill/>
          <a:ln/>
        </p:spPr>
        <p:txBody>
          <a:bodyPr wrap="square" lIns="0" tIns="0" rIns="0" bIns="0" rtlCol="0" anchor="ctr"/>
          <a:lstStyle/>
          <a:p>
            <a:pPr marL="0" indent="0">
              <a:buNone/>
            </a:pPr>
            <a:r>
              <a:rPr lang="en-US" sz="2400" b="1" dirty="0">
                <a:solidFill>
                  <a:srgbClr val="8CC4F2"/>
                </a:solidFill>
                <a:latin typeface="Calibri"/>
                <a:ea typeface="Calibri"/>
                <a:cs typeface="Calibri"/>
              </a:rPr>
              <a:t>01</a:t>
            </a:r>
            <a:endParaRPr lang="en-US" sz="2400" dirty="0"/>
          </a:p>
        </p:txBody>
      </p:sp>
      <p:sp>
        <p:nvSpPr>
          <p:cNvPr id="8" name="Text 6"/>
          <p:cNvSpPr/>
          <p:nvPr/>
        </p:nvSpPr>
        <p:spPr>
          <a:xfrm>
            <a:off x="1069848" y="2441448"/>
            <a:ext cx="2459736" cy="219456"/>
          </a:xfrm>
          <a:prstGeom prst="rect">
            <a:avLst/>
          </a:prstGeom>
          <a:noFill/>
          <a:ln/>
        </p:spPr>
        <p:txBody>
          <a:bodyPr wrap="square" lIns="0" tIns="0" rIns="0" bIns="0" rtlCol="0" anchor="ctr"/>
          <a:lstStyle/>
          <a:p>
            <a:pPr marL="0" indent="0">
              <a:buNone/>
            </a:pPr>
            <a:r>
              <a:rPr lang="en-US" sz="1100" b="1" dirty="0">
                <a:solidFill>
                  <a:srgbClr val="8CC4F2"/>
                </a:solidFill>
                <a:latin typeface="Calibri"/>
                <a:ea typeface="Calibri"/>
                <a:cs typeface="Calibri"/>
              </a:rPr>
              <a:t>ERKEN HATA TESPİTİ</a:t>
            </a:r>
            <a:endParaRPr lang="en-US" sz="1100" dirty="0"/>
          </a:p>
        </p:txBody>
      </p:sp>
      <p:sp>
        <p:nvSpPr>
          <p:cNvPr id="9" name="Text 7"/>
          <p:cNvSpPr/>
          <p:nvPr/>
        </p:nvSpPr>
        <p:spPr>
          <a:xfrm>
            <a:off x="1069848" y="2715768"/>
            <a:ext cx="2459736" cy="411480"/>
          </a:xfrm>
          <a:prstGeom prst="rect">
            <a:avLst/>
          </a:prstGeom>
          <a:noFill/>
          <a:ln/>
        </p:spPr>
        <p:txBody>
          <a:bodyPr wrap="square" lIns="0" tIns="0" rIns="0" bIns="0" rtlCol="0" anchor="t"/>
          <a:lstStyle/>
          <a:p>
            <a:pPr marL="0" indent="0">
              <a:buNone/>
            </a:pPr>
            <a:r>
              <a:rPr lang="en-US" sz="1700" b="1" dirty="0">
                <a:solidFill>
                  <a:srgbClr val="FFFFFF"/>
                </a:solidFill>
                <a:latin typeface="Calibri"/>
                <a:ea typeface="Calibri"/>
                <a:cs typeface="Calibri"/>
              </a:rPr>
              <a:t>Commit Öncesi İnceleme</a:t>
            </a:r>
            <a:endParaRPr lang="en-US" sz="1700" dirty="0"/>
          </a:p>
        </p:txBody>
      </p:sp>
      <p:sp>
        <p:nvSpPr>
          <p:cNvPr id="10" name="Text 8"/>
          <p:cNvSpPr/>
          <p:nvPr/>
        </p:nvSpPr>
        <p:spPr>
          <a:xfrm>
            <a:off x="1069848" y="3218688"/>
            <a:ext cx="2459736" cy="2496312"/>
          </a:xfrm>
          <a:prstGeom prst="rect">
            <a:avLst/>
          </a:prstGeom>
          <a:noFill/>
          <a:ln/>
        </p:spPr>
        <p:txBody>
          <a:bodyPr wrap="square" lIns="0" tIns="0" rIns="0" bIns="0" rtlCol="0" anchor="t"/>
          <a:lstStyle/>
          <a:p>
            <a:pPr marL="0" indent="0">
              <a:lnSpc>
                <a:spcPct val="115000"/>
              </a:lnSpc>
              <a:buNone/>
            </a:pPr>
            <a:r>
              <a:rPr lang="en-US" sz="1350" dirty="0">
                <a:solidFill>
                  <a:srgbClr val="E3EEF9"/>
                </a:solidFill>
                <a:latin typeface="Calibri"/>
                <a:ea typeface="Calibri"/>
                <a:cs typeface="Calibri"/>
              </a:rPr>
              <a:t>Geliştirici kodu sunucuya göndermeden önce kendi bilgisayarında tek tıkla analiz başlatır.</a:t>
            </a:r>
            <a:endParaRPr lang="en-US" sz="1350" dirty="0"/>
          </a:p>
          <a:p>
            <a:pPr marL="0" indent="0">
              <a:lnSpc>
                <a:spcPct val="115000"/>
              </a:lnSpc>
              <a:buNone/>
            </a:pPr>
            <a:endParaRPr lang="en-US" sz="1350" dirty="0"/>
          </a:p>
          <a:p>
            <a:pPr marL="0" indent="0">
              <a:lnSpc>
                <a:spcPct val="115000"/>
              </a:lnSpc>
              <a:buNone/>
            </a:pPr>
            <a:r>
              <a:rPr lang="en-US" sz="1350" dirty="0">
                <a:solidFill>
                  <a:srgbClr val="E3EEF9"/>
                </a:solidFill>
                <a:latin typeface="Calibri"/>
                <a:ea typeface="Calibri"/>
                <a:cs typeface="Calibri"/>
              </a:rPr>
              <a:t>• Olası hata ve güvenlik riskleri</a:t>
            </a:r>
            <a:endParaRPr lang="en-US" sz="1350" dirty="0"/>
          </a:p>
          <a:p>
            <a:pPr marL="0" indent="0">
              <a:lnSpc>
                <a:spcPct val="115000"/>
              </a:lnSpc>
              <a:buNone/>
            </a:pPr>
            <a:endParaRPr lang="en-US" sz="1350" dirty="0"/>
          </a:p>
          <a:p>
            <a:pPr marL="0" indent="0">
              <a:lnSpc>
                <a:spcPct val="115000"/>
              </a:lnSpc>
              <a:buNone/>
            </a:pPr>
            <a:r>
              <a:rPr lang="en-US" sz="1350" dirty="0">
                <a:solidFill>
                  <a:srgbClr val="E3EEF9"/>
                </a:solidFill>
                <a:latin typeface="Calibri"/>
                <a:ea typeface="Calibri"/>
                <a:cs typeface="Calibri"/>
              </a:rPr>
              <a:t>• Eksik test senaryosu önerileri</a:t>
            </a:r>
            <a:endParaRPr lang="en-US" sz="1350" dirty="0"/>
          </a:p>
          <a:p>
            <a:pPr marL="0" indent="0">
              <a:lnSpc>
                <a:spcPct val="115000"/>
              </a:lnSpc>
              <a:buNone/>
            </a:pPr>
            <a:endParaRPr lang="en-US" sz="1350" dirty="0"/>
          </a:p>
          <a:p>
            <a:pPr marL="0" indent="0">
              <a:lnSpc>
                <a:spcPct val="115000"/>
              </a:lnSpc>
              <a:buNone/>
            </a:pPr>
            <a:r>
              <a:rPr lang="en-US" sz="1350" dirty="0">
                <a:solidFill>
                  <a:srgbClr val="E3EEF9"/>
                </a:solidFill>
                <a:latin typeface="Calibri"/>
                <a:ea typeface="Calibri"/>
                <a:cs typeface="Calibri"/>
              </a:rPr>
              <a:t>• Kod kalitesi uyarıları</a:t>
            </a:r>
            <a:endParaRPr lang="en-US" sz="1350" dirty="0"/>
          </a:p>
        </p:txBody>
      </p:sp>
      <p:sp>
        <p:nvSpPr>
          <p:cNvPr id="11" name="Shape 9"/>
          <p:cNvSpPr/>
          <p:nvPr/>
        </p:nvSpPr>
        <p:spPr>
          <a:xfrm>
            <a:off x="3986784" y="1737360"/>
            <a:ext cx="3657600" cy="1600200"/>
          </a:xfrm>
          <a:prstGeom prst="roundRect">
            <a:avLst>
              <a:gd name="adj" fmla="val 2254"/>
            </a:avLst>
          </a:prstGeom>
          <a:ln>
            <a:solidFill>
              <a:srgbClr val="0B2955"/>
            </a:solidFill>
          </a:ln>
        </p:spPr>
        <p:style>
          <a:lnRef idx="2">
            <a:schemeClr val="accent1"/>
          </a:lnRef>
          <a:fillRef idx="1">
            <a:schemeClr val="lt1"/>
          </a:fillRef>
          <a:effectRef idx="0">
            <a:schemeClr val="accent1"/>
          </a:effectRef>
          <a:fontRef idx="minor">
            <a:schemeClr val="dk1"/>
          </a:fontRef>
        </p:style>
        <p:txBody>
          <a:bodyPr/>
          <a:lstStyle/>
          <a:p>
            <a:endParaRPr lang="tr-TR" dirty="0"/>
          </a:p>
        </p:txBody>
      </p:sp>
      <p:pic>
        <p:nvPicPr>
          <p:cNvPr id="12" name="Image 0" descr="c:\Users\edalk\OneDrive\Masaüstü\sunum\görsel\resim (1).png"/>
          <p:cNvPicPr>
            <a:picLocks noChangeAspect="1"/>
          </p:cNvPicPr>
          <p:nvPr/>
        </p:nvPicPr>
        <p:blipFill>
          <a:blip r:embed="rId3"/>
          <a:srcRect t="4000" b="60000"/>
          <a:stretch>
            <a:fillRect/>
          </a:stretch>
        </p:blipFill>
        <p:spPr>
          <a:xfrm>
            <a:off x="4059936" y="1895140"/>
            <a:ext cx="3511296" cy="1284641"/>
          </a:xfrm>
          <a:prstGeom prst="rect">
            <a:avLst/>
          </a:prstGeom>
        </p:spPr>
      </p:pic>
      <p:sp>
        <p:nvSpPr>
          <p:cNvPr id="13" name="Shape 10"/>
          <p:cNvSpPr/>
          <p:nvPr/>
        </p:nvSpPr>
        <p:spPr>
          <a:xfrm>
            <a:off x="3986784" y="3520440"/>
            <a:ext cx="7388352" cy="2377440"/>
          </a:xfrm>
          <a:prstGeom prst="roundRect">
            <a:avLst>
              <a:gd name="adj" fmla="val 2909"/>
            </a:avLst>
          </a:prstGeom>
          <a:ln>
            <a:solidFill>
              <a:srgbClr val="0B2955"/>
            </a:solidFill>
          </a:ln>
        </p:spPr>
        <p:style>
          <a:lnRef idx="2">
            <a:schemeClr val="accent1"/>
          </a:lnRef>
          <a:fillRef idx="1">
            <a:schemeClr val="lt1"/>
          </a:fillRef>
          <a:effectRef idx="0">
            <a:schemeClr val="accent1"/>
          </a:effectRef>
          <a:fontRef idx="minor">
            <a:schemeClr val="dk1"/>
          </a:fontRef>
        </p:style>
        <p:txBody>
          <a:bodyPr/>
          <a:lstStyle/>
          <a:p>
            <a:endParaRPr lang="tr-TR"/>
          </a:p>
        </p:txBody>
      </p:sp>
      <p:pic>
        <p:nvPicPr>
          <p:cNvPr id="14" name="Image 1" descr="c:\Users\edalk\OneDrive\Masaüstü\sunum\görsel\resim (4).png"/>
          <p:cNvPicPr>
            <a:picLocks noChangeAspect="1"/>
          </p:cNvPicPr>
          <p:nvPr/>
        </p:nvPicPr>
        <p:blipFill>
          <a:blip r:embed="rId4"/>
          <a:srcRect b="40000"/>
          <a:stretch>
            <a:fillRect/>
          </a:stretch>
        </p:blipFill>
        <p:spPr>
          <a:xfrm>
            <a:off x="4673042" y="3611880"/>
            <a:ext cx="6015837" cy="2194560"/>
          </a:xfrm>
          <a:prstGeom prst="rect">
            <a:avLst/>
          </a:prstGeom>
        </p:spPr>
      </p:pic>
      <p:sp>
        <p:nvSpPr>
          <p:cNvPr id="15" name="Shape 11"/>
          <p:cNvSpPr/>
          <p:nvPr/>
        </p:nvSpPr>
        <p:spPr>
          <a:xfrm>
            <a:off x="7827264" y="1737360"/>
            <a:ext cx="3547872" cy="1600200"/>
          </a:xfrm>
          <a:prstGeom prst="roundRect">
            <a:avLst>
              <a:gd name="adj" fmla="val 5000"/>
            </a:avLst>
          </a:prstGeom>
          <a:solidFill>
            <a:srgbClr val="FFFFFF"/>
          </a:solidFill>
          <a:ln w="9525">
            <a:solidFill>
              <a:srgbClr val="D5E2F1"/>
            </a:solidFill>
            <a:prstDash val="solid"/>
          </a:ln>
        </p:spPr>
        <p:txBody>
          <a:bodyPr/>
          <a:lstStyle/>
          <a:p>
            <a:endParaRPr lang="tr-TR"/>
          </a:p>
        </p:txBody>
      </p:sp>
      <p:sp>
        <p:nvSpPr>
          <p:cNvPr id="16" name="Text 12"/>
          <p:cNvSpPr/>
          <p:nvPr/>
        </p:nvSpPr>
        <p:spPr>
          <a:xfrm>
            <a:off x="8055864" y="1938528"/>
            <a:ext cx="3090672"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KAZANIM</a:t>
            </a:r>
            <a:endParaRPr lang="en-US" sz="1100" dirty="0"/>
          </a:p>
        </p:txBody>
      </p:sp>
      <p:sp>
        <p:nvSpPr>
          <p:cNvPr id="17" name="Text 13"/>
          <p:cNvSpPr/>
          <p:nvPr/>
        </p:nvSpPr>
        <p:spPr>
          <a:xfrm>
            <a:off x="8055864" y="2194560"/>
            <a:ext cx="3090672" cy="320040"/>
          </a:xfrm>
          <a:prstGeom prst="rect">
            <a:avLst/>
          </a:prstGeom>
          <a:noFill/>
          <a:ln/>
        </p:spPr>
        <p:txBody>
          <a:bodyPr wrap="square" lIns="0" tIns="0" rIns="0" bIns="0" rtlCol="0" anchor="t"/>
          <a:lstStyle/>
          <a:p>
            <a:pPr marL="0" indent="0">
              <a:buNone/>
            </a:pPr>
            <a:r>
              <a:rPr lang="en-US" sz="1700" b="1" dirty="0">
                <a:solidFill>
                  <a:srgbClr val="0B2A55"/>
                </a:solidFill>
                <a:latin typeface="Calibri"/>
                <a:ea typeface="Calibri"/>
                <a:cs typeface="Calibri"/>
              </a:rPr>
              <a:t>Temiz Kod Gönderimi</a:t>
            </a:r>
            <a:endParaRPr lang="en-US" sz="1700" dirty="0"/>
          </a:p>
        </p:txBody>
      </p:sp>
      <p:sp>
        <p:nvSpPr>
          <p:cNvPr id="18" name="Text 14"/>
          <p:cNvSpPr/>
          <p:nvPr/>
        </p:nvSpPr>
        <p:spPr>
          <a:xfrm>
            <a:off x="8055864" y="2606040"/>
            <a:ext cx="3090672" cy="548640"/>
          </a:xfrm>
          <a:prstGeom prst="rect">
            <a:avLst/>
          </a:prstGeom>
          <a:noFill/>
          <a:ln/>
        </p:spPr>
        <p:txBody>
          <a:bodyPr wrap="square" lIns="0" tIns="0" rIns="0" bIns="0" rtlCol="0" anchor="t"/>
          <a:lstStyle/>
          <a:p>
            <a:pPr marL="0" indent="0">
              <a:lnSpc>
                <a:spcPct val="115000"/>
              </a:lnSpc>
              <a:buNone/>
            </a:pPr>
            <a:r>
              <a:rPr lang="en-US" sz="1250" dirty="0">
                <a:solidFill>
                  <a:srgbClr val="3C4B63"/>
                </a:solidFill>
                <a:latin typeface="Calibri"/>
                <a:ea typeface="Calibri"/>
                <a:cs typeface="Calibri"/>
              </a:rPr>
              <a:t>Hatalar henüz PR açılmadan geliştiricinin kendi ekranında yakalanır.</a:t>
            </a:r>
            <a:endParaRPr lang="en-US" sz="1250" dirty="0"/>
          </a:p>
        </p:txBody>
      </p:sp>
      <p:sp>
        <p:nvSpPr>
          <p:cNvPr id="20" name="Shape 0">
            <a:extLst>
              <a:ext uri="{FF2B5EF4-FFF2-40B4-BE49-F238E27FC236}">
                <a16:creationId xmlns:a16="http://schemas.microsoft.com/office/drawing/2014/main" id="{04BBE52F-4591-2841-6340-70731BD174DA}"/>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21" name="Shape 1">
            <a:extLst>
              <a:ext uri="{FF2B5EF4-FFF2-40B4-BE49-F238E27FC236}">
                <a16:creationId xmlns:a16="http://schemas.microsoft.com/office/drawing/2014/main" id="{532929EB-DDD0-8A79-C3DA-59D16A40BD79}"/>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22" name="Image 0" descr="c:\Users\edalk\OneDrive\Masaüstü\sunum\görsel\ykb_teknoloji_logo.png">
            <a:extLst>
              <a:ext uri="{FF2B5EF4-FFF2-40B4-BE49-F238E27FC236}">
                <a16:creationId xmlns:a16="http://schemas.microsoft.com/office/drawing/2014/main" id="{B98DBA3D-8D79-C9AD-E677-C73276A8AD2F}"/>
              </a:ext>
            </a:extLst>
          </p:cNvPr>
          <p:cNvPicPr>
            <a:picLocks noChangeAspect="1"/>
          </p:cNvPicPr>
          <p:nvPr/>
        </p:nvPicPr>
        <p:blipFill>
          <a:blip r:embed="rId5"/>
          <a:stretch>
            <a:fillRect/>
          </a:stretch>
        </p:blipFill>
        <p:spPr>
          <a:xfrm>
            <a:off x="10232136" y="233172"/>
            <a:ext cx="1755648" cy="704088"/>
          </a:xfrm>
          <a:prstGeom prst="rect">
            <a:avLst/>
          </a:prstGeom>
        </p:spPr>
      </p:pic>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Kodu göndermeden önce yerel değişiklik kontrolü</a:t>
            </a:r>
            <a:endParaRPr lang="en-US" sz="2800" dirty="0"/>
          </a:p>
        </p:txBody>
      </p:sp>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3 - YKB AI REVIEW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a:effectLst/>
      </p:bgPr>
    </p:bg>
    <p:spTree>
      <p:nvGrpSpPr>
        <p:cNvPr id="1" name=""/>
        <p:cNvGrpSpPr/>
        <p:nvPr/>
      </p:nvGrpSpPr>
      <p:grpSpPr>
        <a:xfrm>
          <a:off x="0" y="0"/>
          <a:ext cx="0" cy="0"/>
          <a:chOff x="0" y="0"/>
          <a:chExt cx="0" cy="0"/>
        </a:xfrm>
      </p:grpSpPr>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14</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813816" y="1737360"/>
            <a:ext cx="3291840" cy="4160520"/>
          </a:xfrm>
          <a:prstGeom prst="roundRect">
            <a:avLst>
              <a:gd name="adj" fmla="val 2222"/>
            </a:avLst>
          </a:prstGeom>
          <a:solidFill>
            <a:srgbClr val="FFFFFF"/>
          </a:solidFill>
          <a:ln w="9525">
            <a:solidFill>
              <a:srgbClr val="0B2955"/>
            </a:solidFill>
            <a:prstDash val="solid"/>
          </a:ln>
        </p:spPr>
        <p:txBody>
          <a:bodyPr/>
          <a:lstStyle/>
          <a:p>
            <a:endParaRPr lang="tr-TR"/>
          </a:p>
        </p:txBody>
      </p:sp>
      <p:sp>
        <p:nvSpPr>
          <p:cNvPr id="7" name="Text 5"/>
          <p:cNvSpPr/>
          <p:nvPr/>
        </p:nvSpPr>
        <p:spPr>
          <a:xfrm>
            <a:off x="1069848" y="1965960"/>
            <a:ext cx="2779776" cy="384048"/>
          </a:xfrm>
          <a:prstGeom prst="rect">
            <a:avLst/>
          </a:prstGeom>
          <a:noFill/>
          <a:ln/>
        </p:spPr>
        <p:txBody>
          <a:bodyPr wrap="square" lIns="0" tIns="0" rIns="0" bIns="0" rtlCol="0" anchor="ctr"/>
          <a:lstStyle/>
          <a:p>
            <a:pPr marL="0" indent="0">
              <a:buNone/>
            </a:pPr>
            <a:r>
              <a:rPr lang="en-US" sz="2400" b="1" dirty="0">
                <a:solidFill>
                  <a:srgbClr val="0062B8"/>
                </a:solidFill>
                <a:latin typeface="Calibri"/>
                <a:ea typeface="Calibri"/>
                <a:cs typeface="Calibri"/>
              </a:rPr>
              <a:t>02</a:t>
            </a:r>
            <a:endParaRPr lang="en-US" sz="2400" dirty="0"/>
          </a:p>
        </p:txBody>
      </p:sp>
      <p:sp>
        <p:nvSpPr>
          <p:cNvPr id="8" name="Text 6"/>
          <p:cNvSpPr/>
          <p:nvPr/>
        </p:nvSpPr>
        <p:spPr>
          <a:xfrm>
            <a:off x="1069848" y="2441448"/>
            <a:ext cx="2779776"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TEK EKRANDA KONTROL</a:t>
            </a:r>
            <a:endParaRPr lang="en-US" sz="1100" dirty="0"/>
          </a:p>
        </p:txBody>
      </p:sp>
      <p:sp>
        <p:nvSpPr>
          <p:cNvPr id="9" name="Text 7"/>
          <p:cNvSpPr/>
          <p:nvPr/>
        </p:nvSpPr>
        <p:spPr>
          <a:xfrm>
            <a:off x="1069848" y="2715768"/>
            <a:ext cx="2779776" cy="685800"/>
          </a:xfrm>
          <a:prstGeom prst="rect">
            <a:avLst/>
          </a:prstGeom>
          <a:noFill/>
          <a:ln/>
        </p:spPr>
        <p:txBody>
          <a:bodyPr wrap="square" lIns="0" tIns="0" rIns="0" bIns="0" rtlCol="0" anchor="t"/>
          <a:lstStyle/>
          <a:p>
            <a:pPr marL="0" indent="0">
              <a:buNone/>
            </a:pPr>
            <a:r>
              <a:rPr lang="en-US" sz="1700" b="1" dirty="0">
                <a:solidFill>
                  <a:srgbClr val="0B2A55"/>
                </a:solidFill>
                <a:latin typeface="Calibri"/>
                <a:ea typeface="Calibri"/>
                <a:cs typeface="Calibri"/>
              </a:rPr>
              <a:t>Tarayıcıya Gerek Kalmadan İnceleme</a:t>
            </a:r>
            <a:endParaRPr lang="en-US" sz="1700" dirty="0"/>
          </a:p>
        </p:txBody>
      </p:sp>
      <p:sp>
        <p:nvSpPr>
          <p:cNvPr id="10" name="Text 8"/>
          <p:cNvSpPr/>
          <p:nvPr/>
        </p:nvSpPr>
        <p:spPr>
          <a:xfrm>
            <a:off x="1069848" y="3493008"/>
            <a:ext cx="2779776" cy="2221992"/>
          </a:xfrm>
          <a:prstGeom prst="rect">
            <a:avLst/>
          </a:prstGeom>
          <a:noFill/>
          <a:ln/>
        </p:spPr>
        <p:txBody>
          <a:bodyPr wrap="square" lIns="0" tIns="0" rIns="0" bIns="0" rtlCol="0" anchor="t"/>
          <a:lstStyle/>
          <a:p>
            <a:pPr marL="0" indent="0">
              <a:lnSpc>
                <a:spcPct val="115000"/>
              </a:lnSpc>
              <a:buNone/>
            </a:pPr>
            <a:r>
              <a:rPr lang="en-US" sz="1350" dirty="0">
                <a:solidFill>
                  <a:srgbClr val="3C4B63"/>
                </a:solidFill>
                <a:latin typeface="Calibri"/>
                <a:ea typeface="Calibri"/>
                <a:cs typeface="Calibri"/>
              </a:rPr>
              <a:t>• Açık PR listesini filtreleme</a:t>
            </a:r>
            <a:endParaRPr lang="en-US" sz="1350" dirty="0"/>
          </a:p>
          <a:p>
            <a:pPr marL="0" indent="0">
              <a:lnSpc>
                <a:spcPct val="115000"/>
              </a:lnSpc>
              <a:buNone/>
            </a:pPr>
            <a:endParaRPr lang="en-US" sz="1350" dirty="0"/>
          </a:p>
          <a:p>
            <a:pPr marL="0" indent="0">
              <a:lnSpc>
                <a:spcPct val="115000"/>
              </a:lnSpc>
              <a:buNone/>
            </a:pPr>
            <a:r>
              <a:rPr lang="en-US" sz="1350" dirty="0">
                <a:solidFill>
                  <a:srgbClr val="3C4B63"/>
                </a:solidFill>
                <a:latin typeface="Calibri"/>
                <a:ea typeface="Calibri"/>
                <a:cs typeface="Calibri"/>
              </a:rPr>
              <a:t>• Değişen dosyaları ve kod farklarını yan yana görme</a:t>
            </a:r>
            <a:endParaRPr lang="en-US" sz="1350" dirty="0"/>
          </a:p>
          <a:p>
            <a:pPr marL="0" indent="0">
              <a:lnSpc>
                <a:spcPct val="115000"/>
              </a:lnSpc>
              <a:buNone/>
            </a:pPr>
            <a:endParaRPr lang="en-US" sz="1350" dirty="0"/>
          </a:p>
          <a:p>
            <a:pPr marL="0" indent="0">
              <a:lnSpc>
                <a:spcPct val="115000"/>
              </a:lnSpc>
              <a:buNone/>
            </a:pPr>
            <a:r>
              <a:rPr lang="en-US" sz="1350" dirty="0">
                <a:solidFill>
                  <a:srgbClr val="3C4B63"/>
                </a:solidFill>
                <a:latin typeface="Calibri"/>
                <a:ea typeface="Calibri"/>
                <a:cs typeface="Calibri"/>
              </a:rPr>
              <a:t>• Seçilen bulguyu tek tıkla Bitbucket'a yorum olarak gönderme</a:t>
            </a:r>
            <a:endParaRPr lang="en-US" sz="1350" dirty="0"/>
          </a:p>
        </p:txBody>
      </p:sp>
      <p:sp>
        <p:nvSpPr>
          <p:cNvPr id="11" name="Shape 9"/>
          <p:cNvSpPr/>
          <p:nvPr/>
        </p:nvSpPr>
        <p:spPr>
          <a:xfrm>
            <a:off x="4343400" y="1737360"/>
            <a:ext cx="7031736" cy="4160520"/>
          </a:xfrm>
          <a:prstGeom prst="roundRect">
            <a:avLst>
              <a:gd name="adj" fmla="val 1758"/>
            </a:avLst>
          </a:prstGeom>
          <a:solidFill>
            <a:srgbClr val="FFFFFF"/>
          </a:solidFill>
          <a:ln w="9525">
            <a:solidFill>
              <a:srgbClr val="0B2955"/>
            </a:solidFill>
            <a:prstDash val="solid"/>
          </a:ln>
        </p:spPr>
        <p:txBody>
          <a:bodyPr/>
          <a:lstStyle/>
          <a:p>
            <a:endParaRPr lang="tr-TR"/>
          </a:p>
        </p:txBody>
      </p:sp>
      <p:pic>
        <p:nvPicPr>
          <p:cNvPr id="12" name="Image 0" descr="c:\Users\edalk\OneDrive\Masaüstü\sunum\görsel\resim.png"/>
          <p:cNvPicPr>
            <a:picLocks noChangeAspect="1"/>
          </p:cNvPicPr>
          <p:nvPr/>
        </p:nvPicPr>
        <p:blipFill>
          <a:blip r:embed="rId3"/>
          <a:stretch>
            <a:fillRect/>
          </a:stretch>
        </p:blipFill>
        <p:spPr>
          <a:xfrm>
            <a:off x="4704210" y="1828800"/>
            <a:ext cx="6310116" cy="3977640"/>
          </a:xfrm>
          <a:prstGeom prst="rect">
            <a:avLst/>
          </a:prstGeom>
        </p:spPr>
      </p:pic>
      <p:sp>
        <p:nvSpPr>
          <p:cNvPr id="14" name="Shape 0">
            <a:extLst>
              <a:ext uri="{FF2B5EF4-FFF2-40B4-BE49-F238E27FC236}">
                <a16:creationId xmlns:a16="http://schemas.microsoft.com/office/drawing/2014/main" id="{3B0590AC-E1CF-540A-A169-DD431B14C324}"/>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15" name="Shape 1">
            <a:extLst>
              <a:ext uri="{FF2B5EF4-FFF2-40B4-BE49-F238E27FC236}">
                <a16:creationId xmlns:a16="http://schemas.microsoft.com/office/drawing/2014/main" id="{9D632564-D936-F48E-F353-D795A787A925}"/>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16" name="Image 0" descr="c:\Users\edalk\OneDrive\Masaüstü\sunum\görsel\ykb_teknoloji_logo.png">
            <a:extLst>
              <a:ext uri="{FF2B5EF4-FFF2-40B4-BE49-F238E27FC236}">
                <a16:creationId xmlns:a16="http://schemas.microsoft.com/office/drawing/2014/main" id="{0E38986B-651B-F079-DD1C-FA45AEBDDB38}"/>
              </a:ext>
            </a:extLst>
          </p:cNvPr>
          <p:cNvPicPr>
            <a:picLocks noChangeAspect="1"/>
          </p:cNvPicPr>
          <p:nvPr/>
        </p:nvPicPr>
        <p:blipFill>
          <a:blip r:embed="rId4"/>
          <a:stretch>
            <a:fillRect/>
          </a:stretch>
        </p:blipFill>
        <p:spPr>
          <a:xfrm>
            <a:off x="10232136" y="233172"/>
            <a:ext cx="1755648" cy="704088"/>
          </a:xfrm>
          <a:prstGeom prst="rect">
            <a:avLst/>
          </a:prstGeom>
        </p:spPr>
      </p:pic>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Uygulama içinden açık PR'ları listeleme ve inceleme</a:t>
            </a:r>
            <a:endParaRPr lang="en-US" sz="2800" dirty="0"/>
          </a:p>
        </p:txBody>
      </p:sp>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3 - PR YÖNETİMİ</a:t>
            </a:r>
            <a:endParaRPr lang="en-US" sz="1200" dirty="0"/>
          </a:p>
        </p:txBody>
      </p:sp>
    </p:spTree>
    <p:extLst>
      <p:ext uri="{BB962C8B-B14F-4D97-AF65-F5344CB8AC3E}">
        <p14:creationId xmlns:p14="http://schemas.microsoft.com/office/powerpoint/2010/main" val="1100056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5F8FC"/>
        </a:solidFill>
        <a:effectLst/>
      </p:bgPr>
    </p:bg>
    <p:spTree>
      <p:nvGrpSpPr>
        <p:cNvPr id="1" name=""/>
        <p:cNvGrpSpPr/>
        <p:nvPr/>
      </p:nvGrpSpPr>
      <p:grpSpPr>
        <a:xfrm>
          <a:off x="0" y="0"/>
          <a:ext cx="0" cy="0"/>
          <a:chOff x="0" y="0"/>
          <a:chExt cx="0" cy="0"/>
        </a:xfrm>
      </p:grpSpPr>
      <p:sp>
        <p:nvSpPr>
          <p:cNvPr id="22" name="Shape 9">
            <a:extLst>
              <a:ext uri="{FF2B5EF4-FFF2-40B4-BE49-F238E27FC236}">
                <a16:creationId xmlns:a16="http://schemas.microsoft.com/office/drawing/2014/main" id="{1D45D8EC-EA0B-6DC8-482F-A08407EB01C0}"/>
              </a:ext>
            </a:extLst>
          </p:cNvPr>
          <p:cNvSpPr/>
          <p:nvPr/>
        </p:nvSpPr>
        <p:spPr>
          <a:xfrm>
            <a:off x="731520" y="1655064"/>
            <a:ext cx="3090672" cy="2176272"/>
          </a:xfrm>
          <a:prstGeom prst="roundRect">
            <a:avLst>
              <a:gd name="adj" fmla="val 3721"/>
            </a:avLst>
          </a:prstGeom>
          <a:solidFill>
            <a:srgbClr val="0B2A55"/>
          </a:solidFill>
          <a:ln w="12700">
            <a:solidFill>
              <a:srgbClr val="0B2A55"/>
            </a:solidFill>
            <a:prstDash val="solid"/>
          </a:ln>
        </p:spPr>
        <p:txBody>
          <a:bodyPr/>
          <a:lstStyle/>
          <a:p>
            <a:endParaRPr lang="tr-TR"/>
          </a:p>
        </p:txBody>
      </p:sp>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15</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813816" y="1737360"/>
            <a:ext cx="2926080" cy="2011680"/>
          </a:xfrm>
          <a:prstGeom prst="roundRect">
            <a:avLst>
              <a:gd name="adj" fmla="val 3721"/>
            </a:avLst>
          </a:prstGeom>
          <a:solidFill>
            <a:srgbClr val="FFFFFF"/>
          </a:solidFill>
          <a:ln w="9525">
            <a:solidFill>
              <a:srgbClr val="D5E2F1"/>
            </a:solidFill>
            <a:prstDash val="solid"/>
          </a:ln>
        </p:spPr>
        <p:txBody>
          <a:bodyPr/>
          <a:lstStyle/>
          <a:p>
            <a:endParaRPr lang="tr-TR"/>
          </a:p>
        </p:txBody>
      </p:sp>
      <p:sp>
        <p:nvSpPr>
          <p:cNvPr id="7" name="Text 5"/>
          <p:cNvSpPr/>
          <p:nvPr/>
        </p:nvSpPr>
        <p:spPr>
          <a:xfrm>
            <a:off x="1069848" y="1965960"/>
            <a:ext cx="2414016"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1. KATMAN - GENEL ÖZET</a:t>
            </a:r>
            <a:endParaRPr lang="en-US" sz="1100" dirty="0"/>
          </a:p>
        </p:txBody>
      </p:sp>
      <p:sp>
        <p:nvSpPr>
          <p:cNvPr id="8" name="Text 6"/>
          <p:cNvSpPr/>
          <p:nvPr/>
        </p:nvSpPr>
        <p:spPr>
          <a:xfrm>
            <a:off x="1069848" y="2240280"/>
            <a:ext cx="2414016" cy="365760"/>
          </a:xfrm>
          <a:prstGeom prst="rect">
            <a:avLst/>
          </a:prstGeom>
          <a:noFill/>
          <a:ln/>
        </p:spPr>
        <p:txBody>
          <a:bodyPr wrap="square" lIns="0" tIns="0" rIns="0" bIns="0" rtlCol="0" anchor="t"/>
          <a:lstStyle/>
          <a:p>
            <a:pPr marL="0" indent="0">
              <a:buNone/>
            </a:pPr>
            <a:r>
              <a:rPr lang="tr-TR" sz="1700" b="1" dirty="0">
                <a:solidFill>
                  <a:srgbClr val="0B2A55"/>
                </a:solidFill>
                <a:latin typeface="Calibri"/>
                <a:ea typeface="Calibri"/>
                <a:cs typeface="Calibri"/>
              </a:rPr>
              <a:t>PR</a:t>
            </a:r>
            <a:r>
              <a:rPr lang="en-US" sz="1700" b="1" dirty="0">
                <a:solidFill>
                  <a:srgbClr val="0B2A55"/>
                </a:solidFill>
                <a:latin typeface="Calibri"/>
                <a:ea typeface="Calibri"/>
                <a:cs typeface="Calibri"/>
              </a:rPr>
              <a:t> Özeti ve Test Önerisi</a:t>
            </a:r>
            <a:endParaRPr lang="en-US" sz="1700" dirty="0"/>
          </a:p>
        </p:txBody>
      </p:sp>
      <p:sp>
        <p:nvSpPr>
          <p:cNvPr id="9" name="Text 7"/>
          <p:cNvSpPr/>
          <p:nvPr/>
        </p:nvSpPr>
        <p:spPr>
          <a:xfrm>
            <a:off x="1069848" y="2999232"/>
            <a:ext cx="2414016" cy="822960"/>
          </a:xfrm>
          <a:prstGeom prst="rect">
            <a:avLst/>
          </a:prstGeom>
          <a:noFill/>
          <a:ln/>
        </p:spPr>
        <p:txBody>
          <a:bodyPr wrap="square" lIns="0" tIns="0" rIns="0" bIns="0" rtlCol="0" anchor="t"/>
          <a:lstStyle/>
          <a:p>
            <a:pPr marL="0" indent="0">
              <a:lnSpc>
                <a:spcPct val="115000"/>
              </a:lnSpc>
              <a:buNone/>
            </a:pPr>
            <a:r>
              <a:rPr lang="en-US" sz="1350" dirty="0">
                <a:solidFill>
                  <a:srgbClr val="3C4B63"/>
                </a:solidFill>
                <a:latin typeface="Calibri"/>
                <a:ea typeface="Calibri"/>
                <a:cs typeface="Calibri"/>
              </a:rPr>
              <a:t>PR sayfasına yapılan işin özetini ve kontrol edilmesi gereken test adımlarını otomatik yazar.</a:t>
            </a:r>
            <a:endParaRPr lang="en-US" sz="1350" dirty="0"/>
          </a:p>
        </p:txBody>
      </p:sp>
      <p:sp>
        <p:nvSpPr>
          <p:cNvPr id="10" name="Shape 8"/>
          <p:cNvSpPr/>
          <p:nvPr/>
        </p:nvSpPr>
        <p:spPr>
          <a:xfrm>
            <a:off x="3922776" y="1737360"/>
            <a:ext cx="7452360" cy="2011680"/>
          </a:xfrm>
          <a:prstGeom prst="roundRect">
            <a:avLst>
              <a:gd name="adj" fmla="val 3721"/>
            </a:avLst>
          </a:prstGeom>
          <a:solidFill>
            <a:srgbClr val="FFFFFF"/>
          </a:solidFill>
          <a:ln w="9525">
            <a:solidFill>
              <a:srgbClr val="0B2955"/>
            </a:solidFill>
            <a:prstDash val="solid"/>
          </a:ln>
        </p:spPr>
        <p:txBody>
          <a:bodyPr/>
          <a:lstStyle/>
          <a:p>
            <a:endParaRPr lang="tr-TR" dirty="0"/>
          </a:p>
        </p:txBody>
      </p:sp>
      <p:pic>
        <p:nvPicPr>
          <p:cNvPr id="11" name="Image 0" descr="c:\Users\edalk\OneDrive\Masaüstü\sunum\görsel\resim (2).png"/>
          <p:cNvPicPr>
            <a:picLocks noChangeAspect="1"/>
          </p:cNvPicPr>
          <p:nvPr/>
        </p:nvPicPr>
        <p:blipFill>
          <a:blip r:embed="rId3"/>
          <a:srcRect b="20000"/>
          <a:stretch>
            <a:fillRect/>
          </a:stretch>
        </p:blipFill>
        <p:spPr>
          <a:xfrm>
            <a:off x="4261632" y="1810512"/>
            <a:ext cx="6774647" cy="1865376"/>
          </a:xfrm>
          <a:prstGeom prst="rect">
            <a:avLst/>
          </a:prstGeom>
        </p:spPr>
      </p:pic>
      <p:sp>
        <p:nvSpPr>
          <p:cNvPr id="12" name="Shape 9"/>
          <p:cNvSpPr/>
          <p:nvPr/>
        </p:nvSpPr>
        <p:spPr>
          <a:xfrm>
            <a:off x="813816" y="3886200"/>
            <a:ext cx="2926080" cy="2011680"/>
          </a:xfrm>
          <a:prstGeom prst="roundRect">
            <a:avLst>
              <a:gd name="adj" fmla="val 3721"/>
            </a:avLst>
          </a:prstGeom>
          <a:solidFill>
            <a:srgbClr val="0B2A55"/>
          </a:solidFill>
          <a:ln w="12700">
            <a:solidFill>
              <a:srgbClr val="0B2A55"/>
            </a:solidFill>
            <a:prstDash val="solid"/>
          </a:ln>
        </p:spPr>
        <p:txBody>
          <a:bodyPr/>
          <a:lstStyle/>
          <a:p>
            <a:endParaRPr lang="tr-TR"/>
          </a:p>
        </p:txBody>
      </p:sp>
      <p:sp>
        <p:nvSpPr>
          <p:cNvPr id="13" name="Text 10"/>
          <p:cNvSpPr/>
          <p:nvPr/>
        </p:nvSpPr>
        <p:spPr>
          <a:xfrm>
            <a:off x="1069848" y="4114800"/>
            <a:ext cx="2414016" cy="219456"/>
          </a:xfrm>
          <a:prstGeom prst="rect">
            <a:avLst/>
          </a:prstGeom>
          <a:noFill/>
          <a:ln/>
        </p:spPr>
        <p:txBody>
          <a:bodyPr wrap="square" lIns="0" tIns="0" rIns="0" bIns="0" rtlCol="0" anchor="ctr"/>
          <a:lstStyle/>
          <a:p>
            <a:pPr marL="0" indent="0">
              <a:buNone/>
            </a:pPr>
            <a:r>
              <a:rPr lang="en-US" sz="1100" b="1" dirty="0">
                <a:solidFill>
                  <a:srgbClr val="8CC4F2"/>
                </a:solidFill>
                <a:latin typeface="Calibri"/>
                <a:ea typeface="Calibri"/>
                <a:cs typeface="Calibri"/>
              </a:rPr>
              <a:t>2. KATMAN - SATIR İÇİ UYARI</a:t>
            </a:r>
            <a:endParaRPr lang="en-US" sz="1100" dirty="0"/>
          </a:p>
        </p:txBody>
      </p:sp>
      <p:sp>
        <p:nvSpPr>
          <p:cNvPr id="14" name="Text 11"/>
          <p:cNvSpPr/>
          <p:nvPr/>
        </p:nvSpPr>
        <p:spPr>
          <a:xfrm>
            <a:off x="1069848" y="4389120"/>
            <a:ext cx="2414016"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a:ea typeface="Calibri"/>
                <a:cs typeface="Calibri"/>
              </a:rPr>
              <a:t>Doğrudan İlgili Satıra Yorum</a:t>
            </a:r>
            <a:endParaRPr lang="en-US" sz="1700" dirty="0"/>
          </a:p>
        </p:txBody>
      </p:sp>
      <p:sp>
        <p:nvSpPr>
          <p:cNvPr id="15" name="Text 12"/>
          <p:cNvSpPr/>
          <p:nvPr/>
        </p:nvSpPr>
        <p:spPr>
          <a:xfrm>
            <a:off x="1069848" y="5148072"/>
            <a:ext cx="2414016" cy="822960"/>
          </a:xfrm>
          <a:prstGeom prst="rect">
            <a:avLst/>
          </a:prstGeom>
          <a:noFill/>
          <a:ln/>
        </p:spPr>
        <p:txBody>
          <a:bodyPr wrap="square" lIns="0" tIns="0" rIns="0" bIns="0" rtlCol="0" anchor="t"/>
          <a:lstStyle/>
          <a:p>
            <a:pPr marL="0" indent="0">
              <a:lnSpc>
                <a:spcPct val="115000"/>
              </a:lnSpc>
              <a:buNone/>
            </a:pPr>
            <a:r>
              <a:rPr lang="en-US" sz="1350" dirty="0">
                <a:solidFill>
                  <a:srgbClr val="E3EEF9"/>
                </a:solidFill>
                <a:latin typeface="Calibri"/>
                <a:ea typeface="Calibri"/>
                <a:cs typeface="Calibri"/>
              </a:rPr>
              <a:t>Riskli kod satırının tam altına hatanın nedenini ve çözüm önerisini nokta atışı ekler.</a:t>
            </a:r>
            <a:endParaRPr lang="en-US" sz="1350" dirty="0"/>
          </a:p>
        </p:txBody>
      </p:sp>
      <p:sp>
        <p:nvSpPr>
          <p:cNvPr id="16" name="Shape 13"/>
          <p:cNvSpPr/>
          <p:nvPr/>
        </p:nvSpPr>
        <p:spPr>
          <a:xfrm>
            <a:off x="3922776" y="3886200"/>
            <a:ext cx="7452360" cy="2011680"/>
          </a:xfrm>
          <a:prstGeom prst="roundRect">
            <a:avLst>
              <a:gd name="adj" fmla="val 3721"/>
            </a:avLst>
          </a:prstGeom>
          <a:solidFill>
            <a:srgbClr val="FFFFFF"/>
          </a:solidFill>
          <a:ln w="9525">
            <a:solidFill>
              <a:srgbClr val="0B2955"/>
            </a:solidFill>
            <a:prstDash val="solid"/>
          </a:ln>
        </p:spPr>
        <p:txBody>
          <a:bodyPr/>
          <a:lstStyle/>
          <a:p>
            <a:endParaRPr lang="tr-TR"/>
          </a:p>
        </p:txBody>
      </p:sp>
      <p:pic>
        <p:nvPicPr>
          <p:cNvPr id="17" name="Image 1" descr="c:\Users\edalk\OneDrive\Masaüstü\sunum\görsel\resim (3).png"/>
          <p:cNvPicPr>
            <a:picLocks noChangeAspect="1"/>
          </p:cNvPicPr>
          <p:nvPr/>
        </p:nvPicPr>
        <p:blipFill>
          <a:blip r:embed="rId4"/>
          <a:srcRect r="10000" b="40000"/>
          <a:stretch>
            <a:fillRect/>
          </a:stretch>
        </p:blipFill>
        <p:spPr>
          <a:xfrm>
            <a:off x="5161288" y="3959352"/>
            <a:ext cx="4975336" cy="1865376"/>
          </a:xfrm>
          <a:prstGeom prst="rect">
            <a:avLst/>
          </a:prstGeom>
        </p:spPr>
      </p:pic>
      <p:sp>
        <p:nvSpPr>
          <p:cNvPr id="19" name="Shape 0">
            <a:extLst>
              <a:ext uri="{FF2B5EF4-FFF2-40B4-BE49-F238E27FC236}">
                <a16:creationId xmlns:a16="http://schemas.microsoft.com/office/drawing/2014/main" id="{E365275A-56CA-147B-B25A-F064A8E689E3}"/>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20" name="Shape 1">
            <a:extLst>
              <a:ext uri="{FF2B5EF4-FFF2-40B4-BE49-F238E27FC236}">
                <a16:creationId xmlns:a16="http://schemas.microsoft.com/office/drawing/2014/main" id="{7AE6B0D0-61B9-59EA-AFAF-AD1A1053E3FF}"/>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21" name="Image 0" descr="c:\Users\edalk\OneDrive\Masaüstü\sunum\görsel\ykb_teknoloji_logo.png">
            <a:extLst>
              <a:ext uri="{FF2B5EF4-FFF2-40B4-BE49-F238E27FC236}">
                <a16:creationId xmlns:a16="http://schemas.microsoft.com/office/drawing/2014/main" id="{53E16D07-97E7-2E7B-2DD6-8492458BE496}"/>
              </a:ext>
            </a:extLst>
          </p:cNvPr>
          <p:cNvPicPr>
            <a:picLocks noChangeAspect="1"/>
          </p:cNvPicPr>
          <p:nvPr/>
        </p:nvPicPr>
        <p:blipFill>
          <a:blip r:embed="rId5"/>
          <a:stretch>
            <a:fillRect/>
          </a:stretch>
        </p:blipFill>
        <p:spPr>
          <a:xfrm>
            <a:off x="10232136" y="233172"/>
            <a:ext cx="1755648" cy="704088"/>
          </a:xfrm>
          <a:prstGeom prst="rect">
            <a:avLst/>
          </a:prstGeom>
        </p:spPr>
      </p:pic>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Bitbucket üzerinde özet ve satır içi yorumlama</a:t>
            </a:r>
            <a:endParaRPr lang="en-US" sz="2800" dirty="0"/>
          </a:p>
        </p:txBody>
      </p:sp>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3 - OTOMATİK YORUM</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F5F8FC"/>
        </a:solidFill>
        <a:effectLst/>
      </p:bgPr>
    </p:bg>
    <p:spTree>
      <p:nvGrpSpPr>
        <p:cNvPr id="1" name=""/>
        <p:cNvGrpSpPr/>
        <p:nvPr/>
      </p:nvGrpSpPr>
      <p:grpSpPr>
        <a:xfrm>
          <a:off x="0" y="0"/>
          <a:ext cx="0" cy="0"/>
          <a:chOff x="0" y="0"/>
          <a:chExt cx="0" cy="0"/>
        </a:xfrm>
      </p:grpSpPr>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16</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813816" y="1737360"/>
            <a:ext cx="3291840" cy="4160520"/>
          </a:xfrm>
          <a:prstGeom prst="roundRect">
            <a:avLst>
              <a:gd name="adj" fmla="val 2222"/>
            </a:avLst>
          </a:prstGeom>
          <a:solidFill>
            <a:srgbClr val="FFFFFF"/>
          </a:solidFill>
          <a:ln w="9525">
            <a:solidFill>
              <a:srgbClr val="0B2955"/>
            </a:solidFill>
            <a:prstDash val="solid"/>
          </a:ln>
        </p:spPr>
        <p:txBody>
          <a:bodyPr/>
          <a:lstStyle/>
          <a:p>
            <a:endParaRPr lang="tr-TR"/>
          </a:p>
        </p:txBody>
      </p:sp>
      <p:sp>
        <p:nvSpPr>
          <p:cNvPr id="7" name="Text 5"/>
          <p:cNvSpPr/>
          <p:nvPr/>
        </p:nvSpPr>
        <p:spPr>
          <a:xfrm>
            <a:off x="1069848" y="1965960"/>
            <a:ext cx="2779776" cy="384048"/>
          </a:xfrm>
          <a:prstGeom prst="rect">
            <a:avLst/>
          </a:prstGeom>
          <a:noFill/>
          <a:ln/>
        </p:spPr>
        <p:txBody>
          <a:bodyPr wrap="square" lIns="0" tIns="0" rIns="0" bIns="0" rtlCol="0" anchor="ctr"/>
          <a:lstStyle/>
          <a:p>
            <a:pPr marL="0" indent="0">
              <a:buNone/>
            </a:pPr>
            <a:r>
              <a:rPr lang="en-US" sz="2400" b="1" dirty="0">
                <a:solidFill>
                  <a:srgbClr val="0062B8"/>
                </a:solidFill>
                <a:latin typeface="Calibri"/>
                <a:ea typeface="Calibri"/>
                <a:cs typeface="Calibri"/>
              </a:rPr>
              <a:t>03</a:t>
            </a:r>
            <a:endParaRPr lang="en-US" sz="2400" dirty="0"/>
          </a:p>
        </p:txBody>
      </p:sp>
      <p:sp>
        <p:nvSpPr>
          <p:cNvPr id="8" name="Text 6"/>
          <p:cNvSpPr/>
          <p:nvPr/>
        </p:nvSpPr>
        <p:spPr>
          <a:xfrm>
            <a:off x="1069848" y="2441448"/>
            <a:ext cx="2779776"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KURALLARI EKİBE GÖRE AYARLAMA</a:t>
            </a:r>
            <a:endParaRPr lang="en-US" sz="1100" dirty="0"/>
          </a:p>
        </p:txBody>
      </p:sp>
      <p:sp>
        <p:nvSpPr>
          <p:cNvPr id="9" name="Text 7"/>
          <p:cNvSpPr/>
          <p:nvPr/>
        </p:nvSpPr>
        <p:spPr>
          <a:xfrm>
            <a:off x="1069848" y="2715768"/>
            <a:ext cx="2779776" cy="685800"/>
          </a:xfrm>
          <a:prstGeom prst="rect">
            <a:avLst/>
          </a:prstGeom>
          <a:noFill/>
          <a:ln/>
        </p:spPr>
        <p:txBody>
          <a:bodyPr wrap="square" lIns="0" tIns="0" rIns="0" bIns="0" rtlCol="0" anchor="t"/>
          <a:lstStyle/>
          <a:p>
            <a:pPr marL="0" indent="0">
              <a:buNone/>
            </a:pPr>
            <a:r>
              <a:rPr lang="en-US" sz="1700" b="1" dirty="0">
                <a:solidFill>
                  <a:srgbClr val="0B2A55"/>
                </a:solidFill>
                <a:latin typeface="Calibri"/>
                <a:ea typeface="Calibri"/>
                <a:cs typeface="Calibri"/>
              </a:rPr>
              <a:t>Ekibe ve Repoya Özel Kurallar</a:t>
            </a:r>
            <a:endParaRPr lang="en-US" sz="1700" dirty="0"/>
          </a:p>
        </p:txBody>
      </p:sp>
      <p:sp>
        <p:nvSpPr>
          <p:cNvPr id="10" name="Text 8"/>
          <p:cNvSpPr/>
          <p:nvPr/>
        </p:nvSpPr>
        <p:spPr>
          <a:xfrm>
            <a:off x="1069848" y="3493008"/>
            <a:ext cx="2779776" cy="2221992"/>
          </a:xfrm>
          <a:prstGeom prst="rect">
            <a:avLst/>
          </a:prstGeom>
          <a:noFill/>
          <a:ln/>
        </p:spPr>
        <p:txBody>
          <a:bodyPr wrap="square" lIns="0" tIns="0" rIns="0" bIns="0" rtlCol="0" anchor="t"/>
          <a:lstStyle/>
          <a:p>
            <a:pPr marL="0" indent="0">
              <a:lnSpc>
                <a:spcPct val="115000"/>
              </a:lnSpc>
              <a:buNone/>
            </a:pPr>
            <a:r>
              <a:rPr lang="en-US" sz="1350" dirty="0">
                <a:solidFill>
                  <a:srgbClr val="3C4B63"/>
                </a:solidFill>
                <a:latin typeface="Calibri"/>
                <a:ea typeface="Calibri"/>
                <a:cs typeface="Calibri"/>
              </a:rPr>
              <a:t>• Tüm repolar için genel inceleme kuralları</a:t>
            </a:r>
            <a:endParaRPr lang="en-US" sz="1350" dirty="0"/>
          </a:p>
          <a:p>
            <a:pPr marL="0" indent="0">
              <a:lnSpc>
                <a:spcPct val="115000"/>
              </a:lnSpc>
              <a:buNone/>
            </a:pPr>
            <a:endParaRPr lang="en-US" sz="1350" dirty="0"/>
          </a:p>
          <a:p>
            <a:pPr marL="0" indent="0">
              <a:lnSpc>
                <a:spcPct val="115000"/>
              </a:lnSpc>
              <a:buNone/>
            </a:pPr>
            <a:r>
              <a:rPr lang="en-US" sz="1350" dirty="0">
                <a:solidFill>
                  <a:srgbClr val="3C4B63"/>
                </a:solidFill>
                <a:latin typeface="Calibri"/>
                <a:ea typeface="Calibri"/>
                <a:cs typeface="Calibri"/>
              </a:rPr>
              <a:t>• Repo bazında ek talimat tanımlama</a:t>
            </a:r>
            <a:endParaRPr lang="en-US" sz="1350" dirty="0"/>
          </a:p>
          <a:p>
            <a:pPr marL="0" indent="0">
              <a:lnSpc>
                <a:spcPct val="115000"/>
              </a:lnSpc>
              <a:buNone/>
            </a:pPr>
            <a:endParaRPr lang="en-US" sz="1350" dirty="0"/>
          </a:p>
          <a:p>
            <a:pPr marL="0" indent="0">
              <a:lnSpc>
                <a:spcPct val="115000"/>
              </a:lnSpc>
              <a:buNone/>
            </a:pPr>
            <a:r>
              <a:rPr lang="en-US" sz="1350" dirty="0">
                <a:solidFill>
                  <a:srgbClr val="3C4B63"/>
                </a:solidFill>
                <a:latin typeface="Calibri"/>
                <a:ea typeface="Calibri"/>
                <a:cs typeface="Calibri"/>
              </a:rPr>
              <a:t>• Şifre ve token değerlerini modele göndermeden maskeleme</a:t>
            </a:r>
            <a:endParaRPr lang="en-US" sz="1350" dirty="0"/>
          </a:p>
        </p:txBody>
      </p:sp>
      <p:sp>
        <p:nvSpPr>
          <p:cNvPr id="11" name="Shape 9"/>
          <p:cNvSpPr/>
          <p:nvPr/>
        </p:nvSpPr>
        <p:spPr>
          <a:xfrm>
            <a:off x="4343400" y="1737360"/>
            <a:ext cx="7031736" cy="4160520"/>
          </a:xfrm>
          <a:prstGeom prst="roundRect">
            <a:avLst>
              <a:gd name="adj" fmla="val 1758"/>
            </a:avLst>
          </a:prstGeom>
          <a:solidFill>
            <a:srgbClr val="FFFFFF"/>
          </a:solidFill>
          <a:ln w="9525">
            <a:solidFill>
              <a:srgbClr val="0B2955"/>
            </a:solidFill>
            <a:prstDash val="solid"/>
          </a:ln>
        </p:spPr>
        <p:txBody>
          <a:bodyPr/>
          <a:lstStyle/>
          <a:p>
            <a:endParaRPr lang="tr-TR"/>
          </a:p>
        </p:txBody>
      </p:sp>
      <p:pic>
        <p:nvPicPr>
          <p:cNvPr id="12" name="Image 0" descr="YKB AI Code Review ayarları: genel ve repo bazlı talimatlar"/>
          <p:cNvPicPr>
            <a:picLocks noChangeAspect="1"/>
          </p:cNvPicPr>
          <p:nvPr/>
        </p:nvPicPr>
        <p:blipFill>
          <a:blip r:embed="rId3"/>
          <a:stretch>
            <a:fillRect/>
          </a:stretch>
        </p:blipFill>
        <p:spPr>
          <a:xfrm>
            <a:off x="5173490" y="1828800"/>
            <a:ext cx="5371555" cy="3977640"/>
          </a:xfrm>
          <a:prstGeom prst="rect">
            <a:avLst/>
          </a:prstGeom>
        </p:spPr>
      </p:pic>
      <p:sp>
        <p:nvSpPr>
          <p:cNvPr id="14" name="Shape 0">
            <a:extLst>
              <a:ext uri="{FF2B5EF4-FFF2-40B4-BE49-F238E27FC236}">
                <a16:creationId xmlns:a16="http://schemas.microsoft.com/office/drawing/2014/main" id="{3B0590AC-E1CF-540A-A169-DD431B14C324}"/>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15" name="Shape 1">
            <a:extLst>
              <a:ext uri="{FF2B5EF4-FFF2-40B4-BE49-F238E27FC236}">
                <a16:creationId xmlns:a16="http://schemas.microsoft.com/office/drawing/2014/main" id="{9D632564-D936-F48E-F353-D795A787A925}"/>
              </a:ext>
            </a:extLst>
          </p:cNvPr>
          <p:cNvSpPr/>
          <p:nvPr/>
        </p:nvSpPr>
        <p:spPr>
          <a:xfrm>
            <a:off x="-5944" y="73152"/>
            <a:ext cx="12191695" cy="1192589"/>
          </a:xfrm>
          <a:prstGeom prst="rect">
            <a:avLst/>
          </a:prstGeom>
          <a:solidFill>
            <a:srgbClr val="FFFFFF"/>
          </a:solidFill>
          <a:ln w="6350">
            <a:solidFill>
              <a:srgbClr val="D8E2EF"/>
            </a:solidFill>
            <a:prstDash val="solid"/>
          </a:ln>
        </p:spPr>
        <p:txBody>
          <a:bodyPr/>
          <a:lstStyle/>
          <a:p>
            <a:endParaRPr lang="tr-TR"/>
          </a:p>
        </p:txBody>
      </p:sp>
      <p:pic>
        <p:nvPicPr>
          <p:cNvPr id="16" name="Image 0" descr="c:\Users\edalk\OneDrive\Masaüstü\sunum\görsel\ykb_teknoloji_logo.png">
            <a:extLst>
              <a:ext uri="{FF2B5EF4-FFF2-40B4-BE49-F238E27FC236}">
                <a16:creationId xmlns:a16="http://schemas.microsoft.com/office/drawing/2014/main" id="{0E38986B-651B-F079-DD1C-FA45AEBDDB38}"/>
              </a:ext>
            </a:extLst>
          </p:cNvPr>
          <p:cNvPicPr>
            <a:picLocks noChangeAspect="1"/>
          </p:cNvPicPr>
          <p:nvPr/>
        </p:nvPicPr>
        <p:blipFill>
          <a:blip r:embed="rId4"/>
          <a:stretch>
            <a:fillRect/>
          </a:stretch>
        </p:blipFill>
        <p:spPr>
          <a:xfrm>
            <a:off x="10232136" y="233172"/>
            <a:ext cx="1755648" cy="704088"/>
          </a:xfrm>
          <a:prstGeom prst="rect">
            <a:avLst/>
          </a:prstGeom>
        </p:spPr>
      </p:pic>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Genel ve repo bazlı inceleme talimatları</a:t>
            </a:r>
            <a:endParaRPr lang="en-US" sz="2800" dirty="0"/>
          </a:p>
        </p:txBody>
      </p:sp>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PROJE 3 - ÖZELLEŞTİRME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
    <p:bg>
      <p:bgPr>
        <a:solidFill>
          <a:srgbClr val="F5F8FC"/>
        </a:solidFill>
        <a:effectLst/>
      </p:bgPr>
    </p:bg>
    <p:spTree>
      <p:nvGrpSpPr>
        <p:cNvPr id="1" name=""/>
        <p:cNvGrpSpPr/>
        <p:nvPr/>
      </p:nvGrpSpPr>
      <p:grpSpPr>
        <a:xfrm>
          <a:off x="0" y="0"/>
          <a:ext cx="0" cy="0"/>
          <a:chOff x="0" y="0"/>
          <a:chExt cx="0" cy="0"/>
        </a:xfrm>
      </p:grpSpPr>
      <p:sp>
        <p:nvSpPr>
          <p:cNvPr id="30" name="Shape 9">
            <a:extLst>
              <a:ext uri="{FF2B5EF4-FFF2-40B4-BE49-F238E27FC236}">
                <a16:creationId xmlns:a16="http://schemas.microsoft.com/office/drawing/2014/main" id="{2149E2E4-0727-C290-7695-A5042BE3D36D}"/>
              </a:ext>
            </a:extLst>
          </p:cNvPr>
          <p:cNvSpPr/>
          <p:nvPr/>
        </p:nvSpPr>
        <p:spPr>
          <a:xfrm>
            <a:off x="8001000" y="1720427"/>
            <a:ext cx="3457194" cy="3645746"/>
          </a:xfrm>
          <a:prstGeom prst="roundRect">
            <a:avLst>
              <a:gd name="adj" fmla="val 2210"/>
            </a:avLst>
          </a:prstGeom>
          <a:solidFill>
            <a:srgbClr val="0B2A55"/>
          </a:solidFill>
          <a:ln w="12700">
            <a:solidFill>
              <a:srgbClr val="0B2A55"/>
            </a:solidFill>
            <a:prstDash val="solid"/>
          </a:ln>
        </p:spPr>
        <p:txBody>
          <a:bodyPr/>
          <a:lstStyle/>
          <a:p>
            <a:endParaRPr lang="tr-TR"/>
          </a:p>
        </p:txBody>
      </p:sp>
      <p:sp>
        <p:nvSpPr>
          <p:cNvPr id="29" name="Shape 9">
            <a:extLst>
              <a:ext uri="{FF2B5EF4-FFF2-40B4-BE49-F238E27FC236}">
                <a16:creationId xmlns:a16="http://schemas.microsoft.com/office/drawing/2014/main" id="{E5615442-EC4A-BAB2-9A7B-AF597E5D2662}"/>
              </a:ext>
            </a:extLst>
          </p:cNvPr>
          <p:cNvSpPr/>
          <p:nvPr/>
        </p:nvSpPr>
        <p:spPr>
          <a:xfrm>
            <a:off x="740664" y="1749214"/>
            <a:ext cx="3457194" cy="3645746"/>
          </a:xfrm>
          <a:prstGeom prst="roundRect">
            <a:avLst>
              <a:gd name="adj" fmla="val 2210"/>
            </a:avLst>
          </a:prstGeom>
          <a:solidFill>
            <a:srgbClr val="0B2A55"/>
          </a:solidFill>
          <a:ln w="12700">
            <a:solidFill>
              <a:srgbClr val="0B2A55"/>
            </a:solidFill>
            <a:prstDash val="solid"/>
          </a:ln>
        </p:spPr>
        <p:txBody>
          <a:bodyPr/>
          <a:lstStyle/>
          <a:p>
            <a:endParaRPr lang="tr-TR"/>
          </a:p>
        </p:txBody>
      </p:sp>
      <p:sp>
        <p:nvSpPr>
          <p:cNvPr id="4" name="Text 2"/>
          <p:cNvSpPr/>
          <p:nvPr/>
        </p:nvSpPr>
        <p:spPr>
          <a:xfrm>
            <a:off x="813816" y="6263640"/>
            <a:ext cx="7772400" cy="237744"/>
          </a:xfrm>
          <a:prstGeom prst="rect">
            <a:avLst/>
          </a:prstGeom>
          <a:noFill/>
          <a:ln/>
        </p:spPr>
        <p:txBody>
          <a:bodyPr wrap="square" lIns="0" tIns="0" rIns="0" bIns="0" rtlCol="0" anchor="ctr"/>
          <a:lstStyle/>
          <a:p>
            <a:pPr marL="0" indent="0">
              <a:buNone/>
            </a:pPr>
            <a:r>
              <a:rPr lang="en-US" sz="1100" dirty="0">
                <a:solidFill>
                  <a:srgbClr val="56657C"/>
                </a:solidFill>
                <a:latin typeface="Calibri"/>
                <a:ea typeface="Calibri"/>
                <a:cs typeface="Calibri"/>
              </a:rPr>
              <a:t>Yapay Zeka ve Otomasyon Projeleri  |  Eren Dalkürek  |  17</a:t>
            </a:r>
            <a:endParaRPr lang="en-US" sz="1100" dirty="0"/>
          </a:p>
        </p:txBody>
      </p:sp>
      <p:sp>
        <p:nvSpPr>
          <p:cNvPr id="5" name="Text 3"/>
          <p:cNvSpPr/>
          <p:nvPr/>
        </p:nvSpPr>
        <p:spPr>
          <a:xfrm>
            <a:off x="9418320" y="6263640"/>
            <a:ext cx="1956816" cy="237744"/>
          </a:xfrm>
          <a:prstGeom prst="rect">
            <a:avLst/>
          </a:prstGeom>
          <a:noFill/>
          <a:ln/>
        </p:spPr>
        <p:txBody>
          <a:bodyPr wrap="square" lIns="0" tIns="0" rIns="0" bIns="0" rtlCol="0" anchor="ctr"/>
          <a:lstStyle/>
          <a:p>
            <a:pPr marL="0" indent="0" algn="r">
              <a:buNone/>
            </a:pPr>
            <a:r>
              <a:rPr lang="en-US" sz="1100" b="1" dirty="0">
                <a:solidFill>
                  <a:srgbClr val="004990"/>
                </a:solidFill>
                <a:latin typeface="Calibri"/>
                <a:ea typeface="Calibri"/>
                <a:cs typeface="Calibri"/>
              </a:rPr>
              <a:t>Yapı Kredi Teknoloji</a:t>
            </a:r>
            <a:endParaRPr lang="en-US" sz="1100" dirty="0"/>
          </a:p>
        </p:txBody>
      </p:sp>
      <p:sp>
        <p:nvSpPr>
          <p:cNvPr id="6" name="Shape 4"/>
          <p:cNvSpPr/>
          <p:nvPr/>
        </p:nvSpPr>
        <p:spPr>
          <a:xfrm>
            <a:off x="813816" y="1816946"/>
            <a:ext cx="3310128" cy="3520440"/>
          </a:xfrm>
          <a:prstGeom prst="roundRect">
            <a:avLst>
              <a:gd name="adj" fmla="val 2210"/>
            </a:avLst>
          </a:prstGeom>
          <a:solidFill>
            <a:srgbClr val="FFFFFF"/>
          </a:solidFill>
          <a:ln w="9525">
            <a:solidFill>
              <a:srgbClr val="D5E2F1"/>
            </a:solidFill>
            <a:prstDash val="solid"/>
          </a:ln>
        </p:spPr>
        <p:txBody>
          <a:bodyPr/>
          <a:lstStyle/>
          <a:p>
            <a:endParaRPr lang="tr-TR"/>
          </a:p>
        </p:txBody>
      </p:sp>
      <p:sp>
        <p:nvSpPr>
          <p:cNvPr id="7" name="Text 5"/>
          <p:cNvSpPr/>
          <p:nvPr/>
        </p:nvSpPr>
        <p:spPr>
          <a:xfrm>
            <a:off x="1069848" y="2011680"/>
            <a:ext cx="2798064" cy="384048"/>
          </a:xfrm>
          <a:prstGeom prst="rect">
            <a:avLst/>
          </a:prstGeom>
          <a:noFill/>
          <a:ln/>
        </p:spPr>
        <p:txBody>
          <a:bodyPr wrap="square" lIns="0" tIns="0" rIns="0" bIns="0" rtlCol="0" anchor="ctr"/>
          <a:lstStyle/>
          <a:p>
            <a:pPr marL="0" indent="0">
              <a:buNone/>
            </a:pPr>
            <a:r>
              <a:rPr lang="en-US" sz="2400" b="1" dirty="0">
                <a:solidFill>
                  <a:srgbClr val="0062B8"/>
                </a:solidFill>
                <a:latin typeface="Calibri"/>
                <a:ea typeface="Calibri"/>
                <a:cs typeface="Calibri"/>
              </a:rPr>
              <a:t>01</a:t>
            </a:r>
            <a:endParaRPr lang="en-US" sz="2400" dirty="0"/>
          </a:p>
        </p:txBody>
      </p:sp>
      <p:sp>
        <p:nvSpPr>
          <p:cNvPr id="8" name="Text 6"/>
          <p:cNvSpPr/>
          <p:nvPr/>
        </p:nvSpPr>
        <p:spPr>
          <a:xfrm>
            <a:off x="1069848" y="2487168"/>
            <a:ext cx="2798064"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AI SOHBET PANELİ</a:t>
            </a:r>
            <a:endParaRPr lang="en-US" sz="1100" dirty="0"/>
          </a:p>
        </p:txBody>
      </p:sp>
      <p:sp>
        <p:nvSpPr>
          <p:cNvPr id="9" name="Text 7"/>
          <p:cNvSpPr/>
          <p:nvPr/>
        </p:nvSpPr>
        <p:spPr>
          <a:xfrm>
            <a:off x="1069848" y="2761488"/>
            <a:ext cx="2798064" cy="411480"/>
          </a:xfrm>
          <a:prstGeom prst="rect">
            <a:avLst/>
          </a:prstGeom>
          <a:noFill/>
          <a:ln/>
        </p:spPr>
        <p:txBody>
          <a:bodyPr wrap="square" lIns="0" tIns="0" rIns="0" bIns="0" rtlCol="0" anchor="t"/>
          <a:lstStyle/>
          <a:p>
            <a:pPr marL="0" indent="0">
              <a:buNone/>
            </a:pPr>
            <a:r>
              <a:rPr lang="tr-TR" sz="1700" b="1" dirty="0">
                <a:solidFill>
                  <a:srgbClr val="0B2A55"/>
                </a:solidFill>
                <a:latin typeface="Calibri"/>
                <a:ea typeface="Calibri"/>
                <a:cs typeface="Calibri"/>
              </a:rPr>
              <a:t>Herkese yapay zeka erişimi</a:t>
            </a:r>
            <a:endParaRPr lang="en-US" sz="1700" dirty="0"/>
          </a:p>
        </p:txBody>
      </p:sp>
      <p:sp>
        <p:nvSpPr>
          <p:cNvPr id="10" name="Text 8"/>
          <p:cNvSpPr/>
          <p:nvPr/>
        </p:nvSpPr>
        <p:spPr>
          <a:xfrm>
            <a:off x="1069848" y="3264408"/>
            <a:ext cx="2798064" cy="1856232"/>
          </a:xfrm>
          <a:prstGeom prst="rect">
            <a:avLst/>
          </a:prstGeom>
          <a:noFill/>
          <a:ln/>
        </p:spPr>
        <p:txBody>
          <a:bodyPr wrap="square" lIns="0" tIns="0" rIns="0" bIns="0" rtlCol="0" anchor="t"/>
          <a:lstStyle/>
          <a:p>
            <a:pPr marL="0" indent="0">
              <a:lnSpc>
                <a:spcPct val="115000"/>
              </a:lnSpc>
              <a:buNone/>
            </a:pPr>
            <a:r>
              <a:rPr lang="tr-TR" sz="1350" dirty="0">
                <a:solidFill>
                  <a:srgbClr val="3C4B63"/>
                </a:solidFill>
                <a:latin typeface="Calibri"/>
                <a:ea typeface="Calibri"/>
                <a:cs typeface="Calibri"/>
              </a:rPr>
              <a:t>Copilot lisansı olmayan çalışanlar da kurulum gerektirmeden yapay zekayı kullanır; belgeler sunucuya gönderilmeden tarayıcıda işlenir.</a:t>
            </a:r>
            <a:endParaRPr lang="en-US" sz="1350" dirty="0"/>
          </a:p>
        </p:txBody>
      </p:sp>
      <p:sp>
        <p:nvSpPr>
          <p:cNvPr id="11" name="Shape 9"/>
          <p:cNvSpPr/>
          <p:nvPr/>
        </p:nvSpPr>
        <p:spPr>
          <a:xfrm>
            <a:off x="4434840" y="1749215"/>
            <a:ext cx="3310128" cy="3616958"/>
          </a:xfrm>
          <a:prstGeom prst="roundRect">
            <a:avLst>
              <a:gd name="adj" fmla="val 2210"/>
            </a:avLst>
          </a:prstGeom>
          <a:solidFill>
            <a:srgbClr val="0B2A55"/>
          </a:solidFill>
          <a:ln w="12700">
            <a:solidFill>
              <a:srgbClr val="0B2A55"/>
            </a:solidFill>
            <a:prstDash val="solid"/>
          </a:ln>
        </p:spPr>
        <p:txBody>
          <a:bodyPr/>
          <a:lstStyle/>
          <a:p>
            <a:endParaRPr lang="tr-TR"/>
          </a:p>
        </p:txBody>
      </p:sp>
      <p:sp>
        <p:nvSpPr>
          <p:cNvPr id="12" name="Text 10"/>
          <p:cNvSpPr/>
          <p:nvPr/>
        </p:nvSpPr>
        <p:spPr>
          <a:xfrm>
            <a:off x="4690872" y="2011680"/>
            <a:ext cx="2798064" cy="384048"/>
          </a:xfrm>
          <a:prstGeom prst="rect">
            <a:avLst/>
          </a:prstGeom>
          <a:noFill/>
          <a:ln/>
        </p:spPr>
        <p:txBody>
          <a:bodyPr wrap="square" lIns="0" tIns="0" rIns="0" bIns="0" rtlCol="0" anchor="ctr"/>
          <a:lstStyle/>
          <a:p>
            <a:pPr marL="0" indent="0">
              <a:buNone/>
            </a:pPr>
            <a:r>
              <a:rPr lang="en-US" sz="2400" b="1" dirty="0">
                <a:solidFill>
                  <a:srgbClr val="8CC4F2"/>
                </a:solidFill>
                <a:latin typeface="Calibri"/>
                <a:ea typeface="Calibri"/>
                <a:cs typeface="Calibri"/>
              </a:rPr>
              <a:t>02</a:t>
            </a:r>
            <a:endParaRPr lang="en-US" sz="2400" dirty="0"/>
          </a:p>
        </p:txBody>
      </p:sp>
      <p:sp>
        <p:nvSpPr>
          <p:cNvPr id="13" name="Text 11"/>
          <p:cNvSpPr/>
          <p:nvPr/>
        </p:nvSpPr>
        <p:spPr>
          <a:xfrm>
            <a:off x="4690872" y="2487168"/>
            <a:ext cx="2798064" cy="219456"/>
          </a:xfrm>
          <a:prstGeom prst="rect">
            <a:avLst/>
          </a:prstGeom>
          <a:noFill/>
          <a:ln/>
        </p:spPr>
        <p:txBody>
          <a:bodyPr wrap="square" lIns="0" tIns="0" rIns="0" bIns="0" rtlCol="0" anchor="ctr"/>
          <a:lstStyle/>
          <a:p>
            <a:pPr marL="0" indent="0">
              <a:buNone/>
            </a:pPr>
            <a:r>
              <a:rPr lang="en-US" sz="1100" b="1" dirty="0">
                <a:solidFill>
                  <a:srgbClr val="8CC4F2"/>
                </a:solidFill>
                <a:latin typeface="Calibri"/>
                <a:ea typeface="Calibri"/>
                <a:cs typeface="Calibri"/>
              </a:rPr>
              <a:t>YKB SWAGGER GENERATOR</a:t>
            </a:r>
            <a:endParaRPr lang="en-US" sz="1100" dirty="0"/>
          </a:p>
        </p:txBody>
      </p:sp>
      <p:sp>
        <p:nvSpPr>
          <p:cNvPr id="14" name="Text 12"/>
          <p:cNvSpPr/>
          <p:nvPr/>
        </p:nvSpPr>
        <p:spPr>
          <a:xfrm>
            <a:off x="4690872" y="2761488"/>
            <a:ext cx="2798064" cy="411480"/>
          </a:xfrm>
          <a:prstGeom prst="rect">
            <a:avLst/>
          </a:prstGeom>
          <a:noFill/>
          <a:ln/>
        </p:spPr>
        <p:txBody>
          <a:bodyPr wrap="square" lIns="0" tIns="0" rIns="0" bIns="0" rtlCol="0" anchor="t"/>
          <a:lstStyle/>
          <a:p>
            <a:pPr marL="0" indent="0">
              <a:buNone/>
            </a:pPr>
            <a:r>
              <a:rPr lang="en-US" sz="1700" b="1" dirty="0">
                <a:solidFill>
                  <a:srgbClr val="FFFFFF"/>
                </a:solidFill>
                <a:latin typeface="Calibri"/>
                <a:ea typeface="Calibri"/>
                <a:cs typeface="Calibri"/>
              </a:rPr>
              <a:t>1,5 </a:t>
            </a:r>
            <a:r>
              <a:rPr lang="en-US" sz="1700" b="1" dirty="0" err="1">
                <a:solidFill>
                  <a:srgbClr val="FFFFFF"/>
                </a:solidFill>
                <a:latin typeface="Calibri"/>
                <a:ea typeface="Calibri"/>
                <a:cs typeface="Calibri"/>
              </a:rPr>
              <a:t>gün</a:t>
            </a:r>
            <a:r>
              <a:rPr lang="tr-TR" sz="1700" b="1" dirty="0">
                <a:solidFill>
                  <a:srgbClr val="FFFFFF"/>
                </a:solidFill>
                <a:latin typeface="Calibri"/>
                <a:ea typeface="Calibri"/>
                <a:cs typeface="Calibri"/>
              </a:rPr>
              <a:t>+</a:t>
            </a:r>
            <a:r>
              <a:rPr lang="en-US" sz="1700" b="1" dirty="0">
                <a:solidFill>
                  <a:srgbClr val="FFFFFF"/>
                </a:solidFill>
                <a:latin typeface="Calibri"/>
                <a:ea typeface="Calibri"/>
                <a:cs typeface="Calibri"/>
              </a:rPr>
              <a:t> → </a:t>
            </a:r>
            <a:r>
              <a:rPr lang="tr-TR" sz="1700" b="1" dirty="0">
                <a:solidFill>
                  <a:srgbClr val="FFFFFF"/>
                </a:solidFill>
                <a:latin typeface="Calibri"/>
                <a:ea typeface="Calibri"/>
                <a:cs typeface="Calibri"/>
              </a:rPr>
              <a:t>5</a:t>
            </a:r>
            <a:r>
              <a:rPr lang="en-US" sz="1700" b="1" dirty="0">
                <a:solidFill>
                  <a:srgbClr val="FFFFFF"/>
                </a:solidFill>
                <a:latin typeface="Calibri"/>
                <a:ea typeface="Calibri"/>
                <a:cs typeface="Calibri"/>
              </a:rPr>
              <a:t> dakika</a:t>
            </a:r>
            <a:endParaRPr lang="en-US" sz="1700" dirty="0"/>
          </a:p>
        </p:txBody>
      </p:sp>
      <p:sp>
        <p:nvSpPr>
          <p:cNvPr id="15" name="Text 13"/>
          <p:cNvSpPr/>
          <p:nvPr/>
        </p:nvSpPr>
        <p:spPr>
          <a:xfrm>
            <a:off x="4690872" y="3264408"/>
            <a:ext cx="2798064" cy="1856232"/>
          </a:xfrm>
          <a:prstGeom prst="rect">
            <a:avLst/>
          </a:prstGeom>
          <a:noFill/>
          <a:ln/>
        </p:spPr>
        <p:txBody>
          <a:bodyPr wrap="square" lIns="0" tIns="0" rIns="0" bIns="0" rtlCol="0" anchor="t"/>
          <a:lstStyle/>
          <a:p>
            <a:pPr marL="0" indent="0">
              <a:lnSpc>
                <a:spcPct val="115000"/>
              </a:lnSpc>
              <a:buNone/>
            </a:pPr>
            <a:r>
              <a:rPr lang="en-US" sz="1350" dirty="0">
                <a:solidFill>
                  <a:srgbClr val="E3EEF9"/>
                </a:solidFill>
                <a:latin typeface="Calibri"/>
                <a:ea typeface="Calibri"/>
                <a:cs typeface="Calibri"/>
              </a:rPr>
              <a:t>Servis entegrasyonu kurum standartlarına uygun şekilde dakikalar içinde tamamlanır; insan kaynaklı hatalar ortadan kalkar.</a:t>
            </a:r>
            <a:endParaRPr lang="en-US" sz="1350" dirty="0"/>
          </a:p>
        </p:txBody>
      </p:sp>
      <p:sp>
        <p:nvSpPr>
          <p:cNvPr id="16" name="Shape 14"/>
          <p:cNvSpPr/>
          <p:nvPr/>
        </p:nvSpPr>
        <p:spPr>
          <a:xfrm>
            <a:off x="8074914" y="1783080"/>
            <a:ext cx="3310128" cy="3520440"/>
          </a:xfrm>
          <a:prstGeom prst="roundRect">
            <a:avLst>
              <a:gd name="adj" fmla="val 2210"/>
            </a:avLst>
          </a:prstGeom>
          <a:solidFill>
            <a:srgbClr val="FFFFFF"/>
          </a:solidFill>
          <a:ln w="9525">
            <a:solidFill>
              <a:srgbClr val="D5E2F1"/>
            </a:solidFill>
            <a:prstDash val="solid"/>
          </a:ln>
        </p:spPr>
        <p:txBody>
          <a:bodyPr/>
          <a:lstStyle/>
          <a:p>
            <a:endParaRPr lang="tr-TR"/>
          </a:p>
        </p:txBody>
      </p:sp>
      <p:sp>
        <p:nvSpPr>
          <p:cNvPr id="17" name="Text 15"/>
          <p:cNvSpPr/>
          <p:nvPr/>
        </p:nvSpPr>
        <p:spPr>
          <a:xfrm>
            <a:off x="8311896" y="2011680"/>
            <a:ext cx="2798064" cy="384048"/>
          </a:xfrm>
          <a:prstGeom prst="rect">
            <a:avLst/>
          </a:prstGeom>
          <a:noFill/>
          <a:ln/>
        </p:spPr>
        <p:txBody>
          <a:bodyPr wrap="square" lIns="0" tIns="0" rIns="0" bIns="0" rtlCol="0" anchor="ctr"/>
          <a:lstStyle/>
          <a:p>
            <a:pPr marL="0" indent="0">
              <a:buNone/>
            </a:pPr>
            <a:r>
              <a:rPr lang="en-US" sz="2400" b="1" dirty="0">
                <a:solidFill>
                  <a:srgbClr val="0062B8"/>
                </a:solidFill>
                <a:latin typeface="Calibri"/>
                <a:ea typeface="Calibri"/>
                <a:cs typeface="Calibri"/>
              </a:rPr>
              <a:t>03</a:t>
            </a:r>
            <a:endParaRPr lang="en-US" sz="2400" dirty="0"/>
          </a:p>
        </p:txBody>
      </p:sp>
      <p:sp>
        <p:nvSpPr>
          <p:cNvPr id="18" name="Text 16"/>
          <p:cNvSpPr/>
          <p:nvPr/>
        </p:nvSpPr>
        <p:spPr>
          <a:xfrm>
            <a:off x="8311896" y="2487168"/>
            <a:ext cx="2798064" cy="219456"/>
          </a:xfrm>
          <a:prstGeom prst="rect">
            <a:avLst/>
          </a:prstGeom>
          <a:noFill/>
          <a:ln/>
        </p:spPr>
        <p:txBody>
          <a:bodyPr wrap="square" lIns="0" tIns="0" rIns="0" bIns="0" rtlCol="0" anchor="ctr"/>
          <a:lstStyle/>
          <a:p>
            <a:pPr marL="0" indent="0">
              <a:buNone/>
            </a:pPr>
            <a:r>
              <a:rPr lang="en-US" sz="1100" b="1" dirty="0">
                <a:solidFill>
                  <a:srgbClr val="0062B8"/>
                </a:solidFill>
                <a:latin typeface="Calibri"/>
                <a:ea typeface="Calibri"/>
                <a:cs typeface="Calibri"/>
              </a:rPr>
              <a:t>YKB AI REVIEW</a:t>
            </a:r>
            <a:endParaRPr lang="en-US" sz="1100" dirty="0"/>
          </a:p>
        </p:txBody>
      </p:sp>
      <p:sp>
        <p:nvSpPr>
          <p:cNvPr id="19" name="Text 17"/>
          <p:cNvSpPr/>
          <p:nvPr/>
        </p:nvSpPr>
        <p:spPr>
          <a:xfrm>
            <a:off x="8311896" y="2761488"/>
            <a:ext cx="2798064" cy="411480"/>
          </a:xfrm>
          <a:prstGeom prst="rect">
            <a:avLst/>
          </a:prstGeom>
          <a:noFill/>
          <a:ln/>
        </p:spPr>
        <p:txBody>
          <a:bodyPr wrap="square" lIns="0" tIns="0" rIns="0" bIns="0" rtlCol="0" anchor="t"/>
          <a:lstStyle/>
          <a:p>
            <a:pPr marL="0" indent="0">
              <a:buNone/>
            </a:pPr>
            <a:r>
              <a:rPr lang="en-US" sz="1700" b="1" dirty="0">
                <a:solidFill>
                  <a:srgbClr val="0B2A55"/>
                </a:solidFill>
                <a:latin typeface="Calibri"/>
                <a:ea typeface="Calibri"/>
                <a:cs typeface="Calibri"/>
              </a:rPr>
              <a:t>Hatalar PR öncesi yakalanır</a:t>
            </a:r>
            <a:endParaRPr lang="en-US" sz="1700" dirty="0"/>
          </a:p>
        </p:txBody>
      </p:sp>
      <p:sp>
        <p:nvSpPr>
          <p:cNvPr id="20" name="Text 18"/>
          <p:cNvSpPr/>
          <p:nvPr/>
        </p:nvSpPr>
        <p:spPr>
          <a:xfrm>
            <a:off x="8311896" y="3264408"/>
            <a:ext cx="2798064" cy="1856232"/>
          </a:xfrm>
          <a:prstGeom prst="rect">
            <a:avLst/>
          </a:prstGeom>
          <a:noFill/>
          <a:ln/>
        </p:spPr>
        <p:txBody>
          <a:bodyPr wrap="square" lIns="0" tIns="0" rIns="0" bIns="0" rtlCol="0" anchor="t"/>
          <a:lstStyle/>
          <a:p>
            <a:pPr marL="0" indent="0">
              <a:lnSpc>
                <a:spcPct val="115000"/>
              </a:lnSpc>
              <a:buNone/>
            </a:pPr>
            <a:r>
              <a:rPr lang="en-US" sz="1350" dirty="0">
                <a:solidFill>
                  <a:srgbClr val="3C4B63"/>
                </a:solidFill>
                <a:latin typeface="Calibri"/>
                <a:ea typeface="Calibri"/>
                <a:cs typeface="Calibri"/>
              </a:rPr>
              <a:t>Yerel kontrol ve Bitbucket üzerindeki satır içi yorumlarla inceleme yükü azalır, kod kalitesi standartlaşır.</a:t>
            </a:r>
            <a:endParaRPr lang="en-US" sz="1350" dirty="0"/>
          </a:p>
        </p:txBody>
      </p:sp>
      <p:sp>
        <p:nvSpPr>
          <p:cNvPr id="21" name="Text 19"/>
          <p:cNvSpPr/>
          <p:nvPr/>
        </p:nvSpPr>
        <p:spPr>
          <a:xfrm>
            <a:off x="813816" y="5577840"/>
            <a:ext cx="10515600" cy="320040"/>
          </a:xfrm>
          <a:prstGeom prst="rect">
            <a:avLst/>
          </a:prstGeom>
          <a:noFill/>
          <a:ln/>
        </p:spPr>
        <p:txBody>
          <a:bodyPr wrap="square" lIns="0" tIns="0" rIns="0" bIns="0" rtlCol="0" anchor="ctr"/>
          <a:lstStyle/>
          <a:p>
            <a:pPr marL="0" indent="0">
              <a:buNone/>
            </a:pPr>
            <a:r>
              <a:rPr lang="en-US" sz="1400" b="1" dirty="0">
                <a:solidFill>
                  <a:srgbClr val="0B2A55"/>
                </a:solidFill>
                <a:latin typeface="Calibri"/>
                <a:ea typeface="Calibri"/>
                <a:cs typeface="Calibri"/>
              </a:rPr>
              <a:t>Ortak sonuç: Tekrarlayan manuel iş azalır, kurum standartları korunur, teslimat süresi kısalır.</a:t>
            </a:r>
            <a:endParaRPr lang="en-US" sz="1400" dirty="0"/>
          </a:p>
        </p:txBody>
      </p:sp>
      <p:sp>
        <p:nvSpPr>
          <p:cNvPr id="26" name="Shape 0">
            <a:extLst>
              <a:ext uri="{FF2B5EF4-FFF2-40B4-BE49-F238E27FC236}">
                <a16:creationId xmlns:a16="http://schemas.microsoft.com/office/drawing/2014/main" id="{7BFF703A-6D95-B5E6-D74B-986EA2C58654}"/>
              </a:ext>
            </a:extLst>
          </p:cNvPr>
          <p:cNvSpPr/>
          <p:nvPr/>
        </p:nvSpPr>
        <p:spPr>
          <a:xfrm>
            <a:off x="0" y="0"/>
            <a:ext cx="12191695" cy="73152"/>
          </a:xfrm>
          <a:prstGeom prst="rect">
            <a:avLst/>
          </a:prstGeom>
          <a:solidFill>
            <a:srgbClr val="004B93"/>
          </a:solidFill>
          <a:ln w="12700">
            <a:solidFill>
              <a:srgbClr val="004B93"/>
            </a:solidFill>
            <a:prstDash val="solid"/>
          </a:ln>
        </p:spPr>
        <p:txBody>
          <a:bodyPr/>
          <a:lstStyle/>
          <a:p>
            <a:endParaRPr lang="tr-TR"/>
          </a:p>
        </p:txBody>
      </p:sp>
      <p:sp>
        <p:nvSpPr>
          <p:cNvPr id="27" name="Shape 1">
            <a:extLst>
              <a:ext uri="{FF2B5EF4-FFF2-40B4-BE49-F238E27FC236}">
                <a16:creationId xmlns:a16="http://schemas.microsoft.com/office/drawing/2014/main" id="{2ECCE7A8-31D8-806B-0033-5652A202C1B4}"/>
              </a:ext>
            </a:extLst>
          </p:cNvPr>
          <p:cNvSpPr/>
          <p:nvPr/>
        </p:nvSpPr>
        <p:spPr>
          <a:xfrm>
            <a:off x="305" y="79151"/>
            <a:ext cx="12191695" cy="1192589"/>
          </a:xfrm>
          <a:prstGeom prst="rect">
            <a:avLst/>
          </a:prstGeom>
          <a:solidFill>
            <a:srgbClr val="FFFFFF"/>
          </a:solidFill>
          <a:ln w="6350">
            <a:solidFill>
              <a:srgbClr val="D8E2EF"/>
            </a:solidFill>
            <a:prstDash val="solid"/>
          </a:ln>
        </p:spPr>
        <p:txBody>
          <a:bodyPr/>
          <a:lstStyle/>
          <a:p>
            <a:endParaRPr lang="tr-TR" dirty="0"/>
          </a:p>
        </p:txBody>
      </p:sp>
      <p:pic>
        <p:nvPicPr>
          <p:cNvPr id="28" name="Image 0" descr="c:\Users\edalk\OneDrive\Masaüstü\sunum\görsel\ykb_teknoloji_logo.png">
            <a:extLst>
              <a:ext uri="{FF2B5EF4-FFF2-40B4-BE49-F238E27FC236}">
                <a16:creationId xmlns:a16="http://schemas.microsoft.com/office/drawing/2014/main" id="{F858BE2A-B3D3-DE5E-9DA9-67337A0FD278}"/>
              </a:ext>
            </a:extLst>
          </p:cNvPr>
          <p:cNvPicPr>
            <a:picLocks noChangeAspect="1"/>
          </p:cNvPicPr>
          <p:nvPr/>
        </p:nvPicPr>
        <p:blipFill>
          <a:blip r:embed="rId3"/>
          <a:stretch>
            <a:fillRect/>
          </a:stretch>
        </p:blipFill>
        <p:spPr>
          <a:xfrm>
            <a:off x="10232136" y="233172"/>
            <a:ext cx="1755648" cy="704088"/>
          </a:xfrm>
          <a:prstGeom prst="rect">
            <a:avLst/>
          </a:prstGeom>
        </p:spPr>
      </p:pic>
      <p:sp>
        <p:nvSpPr>
          <p:cNvPr id="2" name="Text 0"/>
          <p:cNvSpPr/>
          <p:nvPr/>
        </p:nvSpPr>
        <p:spPr>
          <a:xfrm>
            <a:off x="365760" y="457200"/>
            <a:ext cx="10515600" cy="256032"/>
          </a:xfrm>
          <a:prstGeom prst="rect">
            <a:avLst/>
          </a:prstGeom>
          <a:noFill/>
          <a:ln/>
        </p:spPr>
        <p:txBody>
          <a:bodyPr wrap="square" lIns="0" tIns="0" rIns="0" bIns="0" rtlCol="0" anchor="ctr"/>
          <a:lstStyle/>
          <a:p>
            <a:pPr marL="0" indent="0">
              <a:buNone/>
            </a:pPr>
            <a:r>
              <a:rPr lang="en-US" sz="1200" b="1" dirty="0">
                <a:solidFill>
                  <a:srgbClr val="0062B8"/>
                </a:solidFill>
                <a:latin typeface="Calibri"/>
                <a:ea typeface="Calibri"/>
                <a:cs typeface="Calibri"/>
              </a:rPr>
              <a:t>ÖZET</a:t>
            </a:r>
            <a:endParaRPr lang="en-US" sz="1200" dirty="0"/>
          </a:p>
        </p:txBody>
      </p:sp>
      <p:sp>
        <p:nvSpPr>
          <p:cNvPr id="3" name="Text 1"/>
          <p:cNvSpPr/>
          <p:nvPr/>
        </p:nvSpPr>
        <p:spPr>
          <a:xfrm>
            <a:off x="365760" y="685800"/>
            <a:ext cx="10515600" cy="502920"/>
          </a:xfrm>
          <a:prstGeom prst="rect">
            <a:avLst/>
          </a:prstGeom>
          <a:noFill/>
          <a:ln/>
        </p:spPr>
        <p:txBody>
          <a:bodyPr wrap="square" lIns="0" tIns="0" rIns="0" bIns="0" rtlCol="0" anchor="ctr"/>
          <a:lstStyle/>
          <a:p>
            <a:pPr marL="0" indent="0">
              <a:buNone/>
            </a:pPr>
            <a:r>
              <a:rPr lang="en-US" sz="2800" b="1" dirty="0">
                <a:solidFill>
                  <a:srgbClr val="0B2A55"/>
                </a:solidFill>
                <a:latin typeface="Calibri"/>
                <a:ea typeface="Calibri"/>
                <a:cs typeface="Calibri"/>
              </a:rPr>
              <a:t>Üç </a:t>
            </a:r>
            <a:r>
              <a:rPr lang="en-US" sz="2800" b="1" dirty="0" err="1">
                <a:solidFill>
                  <a:srgbClr val="0B2A55"/>
                </a:solidFill>
                <a:latin typeface="Calibri"/>
                <a:ea typeface="Calibri"/>
                <a:cs typeface="Calibri"/>
              </a:rPr>
              <a:t>projenin</a:t>
            </a:r>
            <a:r>
              <a:rPr lang="en-US" sz="2800" b="1" dirty="0">
                <a:solidFill>
                  <a:srgbClr val="0B2A55"/>
                </a:solidFill>
                <a:latin typeface="Calibri"/>
                <a:ea typeface="Calibri"/>
                <a:cs typeface="Calibri"/>
              </a:rPr>
              <a:t> </a:t>
            </a:r>
            <a:r>
              <a:rPr lang="tr-TR" sz="2800" b="1" dirty="0">
                <a:solidFill>
                  <a:srgbClr val="0B2A55"/>
                </a:solidFill>
                <a:latin typeface="Calibri"/>
                <a:ea typeface="Calibri"/>
                <a:cs typeface="Calibri"/>
              </a:rPr>
              <a:t>sağladığı kazanımlar</a:t>
            </a:r>
            <a:endParaRPr lang="en-US" sz="2800" dirty="0"/>
          </a:p>
        </p:txBody>
      </p:sp>
    </p:spTree>
    <p:extLst>
      <p:ext uri="{BB962C8B-B14F-4D97-AF65-F5344CB8AC3E}">
        <p14:creationId xmlns:p14="http://schemas.microsoft.com/office/powerpoint/2010/main" val="39487448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0B2A55"/>
        </a:solidFill>
        <a:effectLst/>
      </p:bgPr>
    </p:bg>
    <p:spTree>
      <p:nvGrpSpPr>
        <p:cNvPr id="1" name=""/>
        <p:cNvGrpSpPr/>
        <p:nvPr/>
      </p:nvGrpSpPr>
      <p:grpSpPr>
        <a:xfrm>
          <a:off x="0" y="0"/>
          <a:ext cx="0" cy="0"/>
          <a:chOff x="0" y="0"/>
          <a:chExt cx="0" cy="0"/>
        </a:xfrm>
      </p:grpSpPr>
      <p:pic>
        <p:nvPicPr>
          <p:cNvPr id="2" name="Image 0" descr="c:\Users\edalk\OneDrive\Masaüstü\sunum\görsel\template_bg.png"/>
          <p:cNvPicPr>
            <a:picLocks noChangeAspect="1"/>
          </p:cNvPicPr>
          <p:nvPr/>
        </p:nvPicPr>
        <p:blipFill>
          <a:blip r:embed="rId3"/>
          <a:stretch>
            <a:fillRect/>
          </a:stretch>
        </p:blipFill>
        <p:spPr>
          <a:xfrm>
            <a:off x="0" y="-18288"/>
            <a:ext cx="12191695" cy="6858000"/>
          </a:xfrm>
          <a:prstGeom prst="rect">
            <a:avLst/>
          </a:prstGeom>
        </p:spPr>
      </p:pic>
      <p:sp>
        <p:nvSpPr>
          <p:cNvPr id="3" name="Text 0"/>
          <p:cNvSpPr/>
          <p:nvPr/>
        </p:nvSpPr>
        <p:spPr>
          <a:xfrm>
            <a:off x="1527048" y="1691640"/>
            <a:ext cx="3657600" cy="274320"/>
          </a:xfrm>
          <a:prstGeom prst="rect">
            <a:avLst/>
          </a:prstGeom>
          <a:noFill/>
          <a:ln/>
        </p:spPr>
        <p:txBody>
          <a:bodyPr wrap="square" lIns="0" tIns="0" rIns="0" bIns="0" rtlCol="0" anchor="ctr"/>
          <a:lstStyle/>
          <a:p>
            <a:pPr marL="0" indent="0">
              <a:buNone/>
            </a:pPr>
            <a:r>
              <a:rPr lang="en-US" sz="1300" b="1" dirty="0">
                <a:solidFill>
                  <a:srgbClr val="8CC4F2"/>
                </a:solidFill>
                <a:latin typeface="Calibri"/>
                <a:ea typeface="Calibri"/>
                <a:cs typeface="Calibri"/>
              </a:rPr>
              <a:t>KAPANIŞ</a:t>
            </a:r>
            <a:endParaRPr lang="en-US" sz="1300" dirty="0"/>
          </a:p>
        </p:txBody>
      </p:sp>
      <p:sp>
        <p:nvSpPr>
          <p:cNvPr id="4" name="Text 1"/>
          <p:cNvSpPr/>
          <p:nvPr/>
        </p:nvSpPr>
        <p:spPr>
          <a:xfrm>
            <a:off x="1527048" y="2057400"/>
            <a:ext cx="5943600" cy="868680"/>
          </a:xfrm>
          <a:prstGeom prst="rect">
            <a:avLst/>
          </a:prstGeom>
          <a:noFill/>
          <a:ln/>
        </p:spPr>
        <p:txBody>
          <a:bodyPr wrap="square" lIns="0" tIns="0" rIns="0" bIns="0" rtlCol="0" anchor="ctr"/>
          <a:lstStyle/>
          <a:p>
            <a:pPr marL="0" indent="0">
              <a:buNone/>
            </a:pPr>
            <a:r>
              <a:rPr lang="en-US" sz="4800" b="1" dirty="0">
                <a:solidFill>
                  <a:srgbClr val="F5F8FC"/>
                </a:solidFill>
                <a:latin typeface="Calibri"/>
                <a:ea typeface="Calibri"/>
                <a:cs typeface="Calibri"/>
              </a:rPr>
              <a:t>Teşekkürler</a:t>
            </a:r>
            <a:endParaRPr lang="en-US" sz="4800" dirty="0"/>
          </a:p>
        </p:txBody>
      </p:sp>
      <p:sp>
        <p:nvSpPr>
          <p:cNvPr id="5" name="Text 2"/>
          <p:cNvSpPr/>
          <p:nvPr/>
        </p:nvSpPr>
        <p:spPr>
          <a:xfrm>
            <a:off x="1527048" y="3017520"/>
            <a:ext cx="4572000" cy="731520"/>
          </a:xfrm>
          <a:prstGeom prst="rect">
            <a:avLst/>
          </a:prstGeom>
          <a:noFill/>
          <a:ln/>
        </p:spPr>
        <p:txBody>
          <a:bodyPr wrap="square" lIns="0" tIns="0" rIns="0" bIns="0" rtlCol="0" anchor="ctr"/>
          <a:lstStyle/>
          <a:p>
            <a:pPr marL="0" indent="0">
              <a:buNone/>
            </a:pPr>
            <a:r>
              <a:rPr lang="en-US" sz="1800" dirty="0">
                <a:solidFill>
                  <a:srgbClr val="E3EEF9"/>
                </a:solidFill>
                <a:latin typeface="Calibri"/>
                <a:ea typeface="Calibri"/>
                <a:cs typeface="Calibri"/>
              </a:rPr>
              <a:t>Eren Dalkürek</a:t>
            </a:r>
            <a:endParaRPr lang="en-US" sz="1800" dirty="0"/>
          </a:p>
          <a:p>
            <a:pPr marL="0" indent="0">
              <a:buNone/>
            </a:pPr>
            <a:r>
              <a:rPr lang="en-US" sz="1500" b="1" dirty="0">
                <a:solidFill>
                  <a:srgbClr val="FFFFFF"/>
                </a:solidFill>
                <a:latin typeface="Calibri"/>
                <a:ea typeface="Calibri"/>
                <a:cs typeface="Calibri"/>
              </a:rPr>
              <a:t>DK Maaş ve Nakit Yönetimi</a:t>
            </a:r>
            <a:endParaRPr lang="en-US" sz="1500" dirty="0"/>
          </a:p>
        </p:txBody>
      </p:sp>
      <p:sp>
        <p:nvSpPr>
          <p:cNvPr id="6" name="Text 3"/>
          <p:cNvSpPr/>
          <p:nvPr/>
        </p:nvSpPr>
        <p:spPr>
          <a:xfrm>
            <a:off x="1527048" y="3977640"/>
            <a:ext cx="9966960" cy="365760"/>
          </a:xfrm>
          <a:prstGeom prst="rect">
            <a:avLst/>
          </a:prstGeom>
          <a:noFill/>
          <a:ln/>
        </p:spPr>
        <p:txBody>
          <a:bodyPr wrap="square" lIns="0" tIns="0" rIns="0" bIns="0" rtlCol="0" anchor="ctr"/>
          <a:lstStyle/>
          <a:p>
            <a:pPr marL="0" indent="0">
              <a:buNone/>
            </a:pPr>
            <a:r>
              <a:rPr lang="en-US" sz="1350" dirty="0">
                <a:solidFill>
                  <a:srgbClr val="8CC4F2"/>
                </a:solidFill>
                <a:latin typeface="Calibri"/>
                <a:ea typeface="Calibri"/>
                <a:cs typeface="Calibri"/>
              </a:rPr>
              <a:t>AI Sohbet Paneli (Yerel RAG)   |   YKB Swagger Generator (</a:t>
            </a:r>
            <a:r>
              <a:rPr lang="tr-TR" sz="1350" dirty="0">
                <a:solidFill>
                  <a:srgbClr val="8CC4F2"/>
                </a:solidFill>
                <a:latin typeface="Calibri"/>
                <a:ea typeface="Calibri"/>
                <a:cs typeface="Calibri"/>
              </a:rPr>
              <a:t>5</a:t>
            </a:r>
            <a:r>
              <a:rPr lang="en-US" sz="1350" dirty="0">
                <a:solidFill>
                  <a:srgbClr val="8CC4F2"/>
                </a:solidFill>
                <a:latin typeface="Calibri"/>
                <a:ea typeface="Calibri"/>
                <a:cs typeface="Calibri"/>
              </a:rPr>
              <a:t> dk Entegrasyon)   |   YKB AI Review (Otomatik PR İnceleme)</a:t>
            </a:r>
            <a:endParaRPr lang="en-US" sz="1350" dirty="0"/>
          </a:p>
        </p:txBody>
      </p:sp>
      <p:pic>
        <p:nvPicPr>
          <p:cNvPr id="7" name="Image 1" descr="c:\Users\edalk\OneDrive\Masaüstü\sunum\görsel\template_logo_white_clean.png"/>
          <p:cNvPicPr>
            <a:picLocks noChangeAspect="1"/>
          </p:cNvPicPr>
          <p:nvPr/>
        </p:nvPicPr>
        <p:blipFill>
          <a:blip r:embed="rId4"/>
          <a:stretch>
            <a:fillRect/>
          </a:stretch>
        </p:blipFill>
        <p:spPr>
          <a:xfrm>
            <a:off x="1527048" y="5074920"/>
            <a:ext cx="3291840" cy="167335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EF000B4E-D097-4FB7-94E1-3D24D037F7F5}">
  <we:reference id="WA200010725" version="1.0.0.1" store="Omex" storeType="OMEX"/>
  <we:alternateReferences>
    <we:reference id="WA200010725" version="1.0.0.1" store="WA200010725" storeType="OMEX"/>
  </we:alternateReferences>
  <we:properties>
    <we:property name="claude.fileId" value="&quot;24994ae8-8fbc-4aca-992e-ed1d4bae0499&quot;"/>
  </we:properties>
  <we:bindings/>
  <we:snapshot xmlns:r="http://schemas.openxmlformats.org/officeDocument/2006/relationships"/>
</we:webextension>
</file>

<file path=ppt/webextensions/webextension2.xml><?xml version="1.0" encoding="utf-8"?>
<we:webextension xmlns:we="http://schemas.microsoft.com/office/webextensions/webextension/2010/11" id="{FB9A4886-C767-4D81-8B24-1634884C513D}">
  <we:reference id="wa200010001" version="1.0.0.1" store="tr-TR" storeType="OMEX"/>
  <we:alternateReferences>
    <we:reference id="wa200010001" version="1.0.0.1" store="wa200010001" storeType="OMEX"/>
  </we:alternateReferences>
  <we:properties>
    <we:property name="claude.fileId" value="&quot;ab5106a2-483e-482e-9b76-5d5092cfa6d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560</TotalTime>
  <Words>2858</Words>
  <Application>Microsoft Office PowerPoint</Application>
  <PresentationFormat>Geniş ekran</PresentationFormat>
  <Paragraphs>385</Paragraphs>
  <Slides>18</Slides>
  <Notes>18</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18</vt:i4>
      </vt:variant>
    </vt:vector>
  </HeadingPairs>
  <TitlesOfParts>
    <vt:vector size="22" baseType="lpstr">
      <vt:lpstr>Arial</vt:lpstr>
      <vt:lpstr>Calibri</vt:lpstr>
      <vt:lpstr>Consolas</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Yapı Kredi Teknoloji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Yapay Zeka ve Otomasyon Projeleri Sunumu</dc:title>
  <dc:subject>Yapay Zeka ve Otomasyon Projeleri</dc:subject>
  <dc:creator>Eren Dalkürek</dc:creator>
  <cp:lastModifiedBy>Eren Dalkürek</cp:lastModifiedBy>
  <cp:revision>16</cp:revision>
  <dcterms:created xsi:type="dcterms:W3CDTF">2026-10-16T14:44:35Z</dcterms:created>
  <dcterms:modified xsi:type="dcterms:W3CDTF">2026-10-18T21:20:05Z</dcterms:modified>
</cp:coreProperties>
</file>